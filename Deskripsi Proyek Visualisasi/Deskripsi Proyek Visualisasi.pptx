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0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&#13;&#10;    style={{&#13;&#10;        width: '1280px',&#13;&#10;        height: '720px',&#13;&#10;        background: '#FAF7F2',&#13;&#10;        flexDirection: 'row',&#13;&#10;        padding: 0,&#13;&#10;        position: 'relative',&#13;&#10;        overflow: 'hidden',&#13;&#10;    }}&#13;&#10;&gt;&#13;&#10;    {/* dekorasi latar */}&#13;&#10;    &lt;Box&#13;&#10;        style={{&#13;&#10;            position: 'absolute',&#13;&#10;            top: -140,&#13;&#10;            right: -120,&#13;&#10;            width: 520,&#13;&#10;            height: 520,&#13;&#10;            borderRadius: 260,&#13;&#10;            background: 'linear-gradient(135deg, #51277C 0%, #7A45A8 100%)',&#13;&#10;            opacity: 0.10,&#13;&#10;        }}&#13;&#10;    /&gt;&#13;&#10;    &lt;Box&#13;&#10;        style={{&#13;&#10;            position: 'absolute',&#13;&#10;            bottom: -90,&#13;&#10;            left: -80,&#13;&#10;            width: 360,&#13;&#10;            height: 360,&#13;&#10;            borderRadius: 180,&#13;&#10;            background: 'linear-gradient(135deg, #AFC440 0%, #F3B26C 100%)',&#13;&#10;            opacity: 0.14,&#13;&#10;        }}&#13;&#10;    /&gt;&#13;&#10;&#13;&#10;    {/* ── kolom kiri ── */}&#13;&#10;    &lt;Box&#13;&#10;        style={{&#13;&#10;            position: 'relative',&#13;&#10;            zIndex: 1,&#13;&#10;            width: '58%',&#13;&#10;            paddingTop: 92,&#13;&#10;            paddingBottom: 92,&#13;&#10;            paddingLeft: 64,&#13;&#10;            paddingRight: 28,&#13;&#10;            justifyContent: 'center',&#13;&#10;        }}&#13;&#10;    &gt;&#13;&#10;        &lt;Box&#13;&#10;            style={{&#13;&#10;                flexDirection: 'row',&#13;&#10;                alignItems: 'center',&#13;&#10;                alignSelf: 'flex-start',&#13;&#10;                background: '#51277C',&#13;&#10;                borderRadius: 999,&#13;&#10;                paddingTop: 8,&#13;&#10;                paddingBottom: 8,&#13;&#10;                paddingLeft: 18,&#13;&#10;                paddingRight: 18,&#13;&#10;            }}&#13;&#10;        &gt;&#13;&#10;            &lt;Text style={{ fontSize: 13, fontWeight: 'bold', color: '#FFFFFF', letterSpacing: 1.4 }}&gt;DESKRIPSI PROYEK VISUALISASI&lt;/Text&gt;&#13;&#10;        &lt;/Box&gt;&#13;&#10;&#13;&#10;        &lt;Text&#13;&#10;            style={{&#13;&#10;                fontSize: 66,&#13;&#10;                fontWeight: 'bold',&#13;&#10;                color: '#2A2333',&#13;&#10;                lineHeight: 1.12,&#13;&#10;                marginTop: 30,&#13;&#10;                fontFamily: 'Trebuchet MS',&#13;&#10;            }}&#13;&#10;        &gt;&#13;&#10;            Pizza Snack Play&#13;&#10;        &lt;/Text&gt;&#13;&#10;&#13;&#10;        &lt;Box style={{ width: 72, height: 6, background: '#AFC440', marginTop: 24 }} /&gt;&#13;&#10;&#13;&#10;        &lt;Text&#13;&#10;            style={{&#13;&#10;                fontSize: 20,&#13;&#10;                color: '#6B6478',&#13;&#10;                lineHeight: 1.55,&#13;&#10;                marginTop: 24,&#13;&#10;                fontFamily: 'Verdana',&#13;&#10;            }}&#13;&#10;        &gt;Platform jadwal piket &amp; menu snack sekolah — dihasilkan lewat prompt, diverifikasi oleh uji, dan berjalan di produksi untuk sekolah sungguhan.&lt;/Text&gt;&#13;&#10;&#13;&#10;        &lt;Box style={{ flexDirection: 'row', gap: 44, marginTop: 46 }}&gt;&#13;&#10;            &lt;Box style={{ flexDirection: 'column' }}&gt;&#13;&#10;                &lt;Text&#13;&#10;                    style={{&#13;&#10;                        fontSize: 30,&#13;&#10;                        fontWeight: 'bold',&#13;&#10;                        color: '#51277C',&#13;&#10;                        fontFamily: 'Trebuchet MS',&#13;&#10;                    }}&#13;&#10;                &gt;&#13;&#10;                    113&#13;&#10;                &lt;/Text&gt;&#13;&#10;                &lt;Text style={{ fontSize: 13, color: '#6B6478', marginTop: 4 }}&gt;commit dalam 31 hari&lt;/Text&gt;&#13;&#10;            &lt;/Box&gt;&#13;&#10;            &lt;Box style={{ flexDirection: 'column' }}&gt;&#13;&#10;                &lt;Text&#13;&#10;                    style={{&#13;&#10;                        fontSize: 30,&#13;&#10;                        fontWeight: 'bold',&#13;&#10;                        color: '#51277C',&#13;&#10;                        fontFamily: 'Trebuchet MS',&#13;&#10;                    }}&#13;&#10;                &gt;&#13;&#10;                    65&#13;&#10;                &lt;/Text&gt;&#13;&#10;                &lt;Text style={{ fontSize: 13, color: '#6B6478', marginTop: 4 }}&gt;endpoint API&lt;/Text&gt;&#13;&#10;            &lt;/Box&gt;&#13;&#10;            &lt;Box style={{ flexDirection: 'column' }}&gt;&#13;&#10;                &lt;Text&#13;&#10;                    style={{&#13;&#10;                        fontSize: 30,&#13;&#10;                        fontWeight: 'bold',&#13;&#10;                        color: '#c4762a',&#13;&#10;                        fontFamily: 'Trebuchet MS',&#13;&#10;                    }}&#13;&#10;                &gt;&#13;&#10;                    0&#13;&#10;                &lt;/Text&gt;&#13;&#10;                &lt;Text style={{ fontSize: 13, color: '#6B6478', marginTop: 4 }}&gt;biaya infrastruktur&lt;/Text&gt;&#13;&#10;            &lt;/Box&gt;&#13;&#10;        &lt;/Box&gt;&#13;&#10;    &lt;/Box&gt;&#13;&#10;&#13;&#10;    {/* ── kolom kanan: logo ── */}&#13;&#10;    &lt;Box&#13;&#10;        style={{&#13;&#10;            position: 'relative',&#13;&#10;            zIndex: 1,&#13;&#10;            width: '42%',&#13;&#10;            justifyContent: 'center',&#13;&#10;            alignItems: 'center',&#13;&#10;        }}&#13;&#10;    &gt;&#13;&#10;        &lt;Box&#13;&#10;            style={{&#13;&#10;                position: 'relative',&#13;&#10;                width: 480,&#13;&#10;                height: 480,&#13;&#10;                justifyContent: 'center',&#13;&#10;                alignItems: 'center',&#13;&#10;            }}&#13;&#10;        &gt;&#13;&#10;            &lt;Box style={{ position: 'absolute', top: 0, left: 0, width: 480, height: 480 }}&gt;&#13;&#10;                &lt;svg width={480} height={480} viewBox='0 0 480 480'&gt;&#13;&#10;                    &lt;circle&#13;&#10;                        cx='240'&#13;&#10;                        cy='240'&#13;&#10;                        r='232'&#13;&#10;                        fill='none'&#13;&#10;                        stroke='#51277C'&#13;&#10;                        strokeWidth='1'&#13;&#10;                        opacity='0.16'&#13;&#10;                    /&gt;&#13;&#10;                    &lt;circle&#13;&#10;                        cx='240'&#13;&#10;                        cy='240'&#13;&#10;                        r='188'&#13;&#10;                        fill='none'&#13;&#10;                        stroke='#AFC440'&#13;&#10;                        strokeWidth='1.5'&#13;&#10;                        opacity='0.30'&#13;&#10;                    /&gt;&#13;&#10;                &lt;/svg&gt;&#13;&#10;            &lt;/Box&gt;&#13;&#10;            &lt;Box&#13;&#10;                style={{&#13;&#10;                    width: 380,&#13;&#10;                    height: 380,&#13;&#10;                    borderRadius: 190,&#13;&#10;                    background: 'linear-gradient(135deg, #51277C 0%, #7A45A8 100%)',&#13;&#10;                    justifyContent: 'center',&#13;&#10;                    alignItems: 'center',&#13;&#10;                }}&#13;&#10;            &gt;&#13;&#10;                &lt;Image&#13;&#10;                    src='assets/app_logo.png'&#13;&#10;                    style={{ width: 250, height: 243, objectFit: 'contain' }}&#13;&#10;                /&gt;&#13;&#10;            &lt;/Box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438275"/>
            <a:ext cx="2743200" cy="304800"/>
          </a:xfrm>
          <a:prstGeom prst="roundRect">
            <a:avLst>
              <a:gd name="adj" fmla="val 312187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81050" y="151447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FFFFFF"/>
                </a:solidFill>
                <a:latin typeface="Microsoft YaHei"/>
                <a:ea typeface="Microsoft YaHei"/>
              </a:rPr>
              <a:t>DESKRIPSI PROYEK VISUALISASI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028825"/>
            <a:ext cx="6191250" cy="8477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A2333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10515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390900"/>
            <a:ext cx="61912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6B6478"/>
                </a:solidFill>
                <a:latin typeface="Verdana"/>
                <a:ea typeface="Verdana"/>
              </a:rPr>
              <a:t>Platform jadwal piket &amp; menu snack sekolah — dihasilkan lewat prompt, diverifikasi oleh uji, dan berjalan di produksi untuk sekolah sungguhan.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1304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1277C"/>
                </a:solidFill>
                <a:latin typeface="Trebuchet MS"/>
                <a:ea typeface="Trebuchet MS"/>
              </a:rPr>
              <a:t>113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5276850"/>
            <a:ext cx="1304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commit dalam 31 hari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333625" y="4895850"/>
            <a:ext cx="781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1277C"/>
                </a:solidFill>
                <a:latin typeface="Trebuchet MS"/>
                <a:ea typeface="Trebuchet MS"/>
              </a:rPr>
              <a:t>65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333625" y="52768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endpoint API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533775" y="4895850"/>
            <a:ext cx="1085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4762A"/>
                </a:solidFill>
                <a:latin typeface="Trebuchet MS"/>
                <a:ea typeface="Trebuchet MS"/>
              </a:rPr>
              <a:t>0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533775" y="5276850"/>
            <a:ext cx="1085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biaya infrastruktur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820025" y="1619250"/>
            <a:ext cx="3619500" cy="3619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1"/>
          <a:srcRect l="50" t="0" r="50" b="0"/>
          <a:stretch>
            <a:fillRect/>
          </a:stretch>
        </p:blipFill>
        <p:spPr>
          <a:xfrm rot="0" flipH="0" flipV="0">
            <a:off x="8439150" y="2276475"/>
            <a:ext cx="2381250" cy="2314575"/>
          </a:xfrm>
          <a:prstGeom prst="rect">
            <a:avLst/>
          </a:prstGeom>
          <a:ln/>
        </p:spPr>
      </p:pic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1143000"/>
            <a:ext cx="4572000" cy="4572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· judul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Isi dek ini&lt;/Text&gt;&#13;&#10;        &lt;Box style={{ width: 72, height: 6, background: '#51277C', marginTop: 12 }} /&gt;&#13;&#10;    &lt;/Box&gt;&#13;&#10;&#13;&#10;    {/* ── zona B · isi ── */}&#13;&#10;    &lt;Box style={{ height: 530, flexDirection: 'column', gap: 18 }}&gt;&#13;&#10;        &lt;Box&#13;&#10;            style={{&#13;&#10;                flexDirection: 'row',&#13;&#10;                gap: 24,&#13;&#10;                background: '#FFFFFF',&#13;&#10;                borderRadius: 10,&#13;&#10;                paddingTop: 22,&#13;&#10;                paddingBottom: 22,&#13;&#10;                paddingLeft: 24,&#13;&#10;                paddingRight: 24,&#13;&#10;                boxShadow: '0 4px 20px rgba(0,0,0,0.08)',&#13;&#10;                borderTop: '3px solid #AFC440',&#13;&#10;            }}&#13;&#10;        &gt;&#13;&#10;            &lt;Box&#13;&#10;                style={{&#13;&#10;                    width: 56,&#13;&#10;                    height: 56,&#13;&#10;                    borderRadius: 28,&#13;&#10;                    background: '#51277C',&#13;&#10;                    justifyContent: 'center',&#13;&#10;                    alignItems: 'center',&#13;&#10;                }}&#13;&#10;            &gt;&#13;&#10;                &lt;Text&#13;&#10;                    style={{&#13;&#10;                        fontSize: 22,&#13;&#10;                        fontWeight: 'bold',&#13;&#10;                        color: '#FFFFFF',&#13;&#10;                        fontFamily: 'Trebuchet MS',&#13;&#10;                    }}&#13;&#10;                &gt;&#13;&#10;                    01&#13;&#10;                &lt;/Text&gt;&#13;&#10;            &lt;/Box&gt;&#13;&#10;            &lt;Box style={{ flex: 1, flexDirection: 'column', gap: 6 }}&gt;&#13;&#10;                &lt;Box&#13;&#10;                    style={{&#13;&#10;                        flexDirection: 'row',&#13;&#10;                        justifyContent: 'space-between',&#13;&#10;                        alignItems: 'center',&#13;&#10;                    }}&#13;&#10;                &gt;&#13;&#10;                    &lt;Text&#13;&#10;                        style={{&#13;&#10;                            fontSize: 24,&#13;&#10;                            fontWeight: 'bold',&#13;&#10;                            color: '#2A2333',&#13;&#10;                            fontFamily: 'Trebuchet MS',&#13;&#10;                        }}&#13;&#10;                    &gt;Ringkasan Proyek&lt;/Text&gt;&#13;&#10;                    &lt;Text style={{ fontSize: 14, color: '#6B6478' }}&gt;halaman 03–07&lt;/Text&gt;&#13;&#10;                &lt;/Box&gt;&#13;&#10;                &lt;Text style={{ fontSize: 17, color: '#6B6478', lineHeight: 1.5 }}&gt;Artefak sumber dan masalah yang ditimbulkannya, delapan skenario berulang, tiga peran beserta batas di antaranya, dan satu masalah yang harus dipecahkan sistem.&lt;/Text&gt;&#13;&#10;            &lt;/Box&gt;&#13;&#10;        &lt;/Box&gt;&#13;&#10;&#13;&#10;        &lt;Box&#13;&#10;            style={{&#13;&#10;                flexDirection: 'row',&#13;&#10;                gap: 24,&#13;&#10;                background: '#FFFFFF',&#13;&#10;                borderRadius: 10,&#13;&#10;                paddingTop: 22,&#13;&#10;                paddingBottom: 22,&#13;&#10;                paddingLeft: 24,&#13;&#10;                paddingRight: 24,&#13;&#10;                boxShadow: '0 4px 20px rgba(0,0,0,0.08)',&#13;&#10;                borderTop: '3px solid #AFC440',&#13;&#10;            }}&#13;&#10;        &gt;&#13;&#10;            &lt;Box&#13;&#10;                style={{&#13;&#10;                    width: 56,&#13;&#10;                    height: 56,&#13;&#10;                    borderRadius: 28,&#13;&#10;                    background: '#51277C',&#13;&#10;                    justifyContent: 'center',&#13;&#10;                    alignItems: 'center',&#13;&#10;                }}&#13;&#10;            &gt;&#13;&#10;                &lt;Text&#13;&#10;                    style={{&#13;&#10;                        fontSize: 22,&#13;&#10;                        fontWeight: 'bold',&#13;&#10;                        color: '#FFFFFF',&#13;&#10;                        fontFamily: 'Trebuchet MS',&#13;&#10;                    }}&#13;&#10;                &gt;&#13;&#10;                    02&#13;&#10;                &lt;/Text&gt;&#13;&#10;            &lt;/Box&gt;&#13;&#10;            &lt;Box style={{ flex: 1, flexDirection: 'column', gap: 6 }}&gt;&#13;&#10;                &lt;Box&#13;&#10;                    style={{&#13;&#10;                        flexDirection: 'row',&#13;&#10;                        justifyContent: 'space-between',&#13;&#10;                        alignItems: 'center',&#13;&#10;                    }}&#13;&#10;                &gt;&#13;&#10;                    &lt;Text&#13;&#10;                        style={{&#13;&#10;                            fontSize: 24,&#13;&#10;                            fontWeight: 'bold',&#13;&#10;                            color: '#2A2333',&#13;&#10;                            fontFamily: 'Trebuchet MS',&#13;&#10;                        }}&#13;&#10;                    &gt;Desain Solusi&lt;/Text&gt;&#13;&#10;                    &lt;Text style={{ fontSize: 14, color: '#6B6478' }}&gt;halaman 08–12&lt;/Text&gt;&#13;&#10;                &lt;/Box&gt;&#13;&#10;                &lt;Text style={{ fontSize: 17, color: '#6B6478', lineHeight: 1.5 }}&gt;Mesin jadwal tiga status, model wewenang dua lapis, tumpukan lapisan teknis, dan bagaimana prompt menggerakkan generasi AI di dalam loop yang bisa diverifikasi.&lt;/Text&gt;&#13;&#10;            &lt;/Box&gt;&#13;&#10;        &lt;/Box&gt;&#13;&#10;&#13;&#10;        &lt;Box&#13;&#10;            style={{&#13;&#10;                flexDirection: 'row',&#13;&#10;                gap: 24,&#13;&#10;                background: '#FFFFFF',&#13;&#10;                borderRadius: 10,&#13;&#10;                paddingTop: 22,&#13;&#10;                paddingBottom: 22,&#13;&#10;                paddingLeft: 24,&#13;&#10;                paddingRight: 24,&#13;&#10;                boxShadow: '0 4px 20px rgba(0,0,0,0.08)',&#13;&#10;                borderTop: '3px solid #AFC440',&#13;&#10;            }}&#13;&#10;        &gt;&#13;&#10;            &lt;Box&#13;&#10;                style={{&#13;&#10;                    width: 56,&#13;&#10;                    height: 56,&#13;&#10;                    borderRadius: 28,&#13;&#10;                    background: '#51277C',&#13;&#10;                    justifyContent: 'center',&#13;&#10;                    alignItems: 'center',&#13;&#10;                }}&#13;&#10;            &gt;&#13;&#10;                &lt;Text&#13;&#10;                    style={{&#13;&#10;                        fontSize: 22,&#13;&#10;                        fontWeight: 'bold',&#13;&#10;                        color: '#FFFFFF',&#13;&#10;                        fontFamily: 'Trebuchet MS',&#13;&#10;                    }}&#13;&#10;                &gt;&#13;&#10;                    03&#13;&#10;                &lt;/Text&gt;&#13;&#10;            &lt;/Box&gt;&#13;&#10;            &lt;Box style={{ flex: 1, flexDirection: 'column', gap: 6 }}&gt;&#13;&#10;                &lt;Box&#13;&#10;                    style={{&#13;&#10;                        flexDirection: 'row',&#13;&#10;                        justifyContent: 'space-between',&#13;&#10;                        alignItems: 'center',&#13;&#10;                    }}&#13;&#10;                &gt;&#13;&#10;                    &lt;Text&#13;&#10;                        style={{&#13;&#10;                            fontSize: 24,&#13;&#10;                            fontWeight: 'bold',&#13;&#10;                            color: '#2A2333',&#13;&#10;                            fontFamily: 'Trebuchet MS',&#13;&#10;                        }}&#13;&#10;                    &gt;Nilai Bisnis&lt;/Text&gt;&#13;&#10;                    &lt;Text style={{ fontSize: 14, color: '#6B6478' }}&gt;halaman 13–16&lt;/Text&gt;&#13;&#10;                &lt;/Box&gt;&#13;&#10;                &lt;Text style={{ fontSize: 17, color: '#6B6478', lineHeight: 1.5 }}&gt;Metrik hasil pengukuran, bukan taksiran; sepuluh pasangan dampak sebelum/sesudah yang masing-masing menyebut verifiernya; dan batasan yang ditulis di halaman yang sama dengan klaimnya.&lt;/Text&gt;&#13;&#10;            &lt;/Box&gt;&#13;&#10;        &lt;/Box&gt;&#13;&#10;&#13;&#10;        &lt;Box&#13;&#10;            style={{&#13;&#10;                marginTop: 'auto',&#13;&#10;                flexDirection: 'row',&#13;&#10;                alignItems: 'center',&#13;&#10;                gap: 12,&#13;&#10;                background: 'rgba(81,39,124,0.06)',&#13;&#10;                borderRadius: 8,&#13;&#10;                paddingTop: 14,&#13;&#10;                paddingBottom: 14,&#13;&#10;                paddingLeft: 20,&#13;&#10;                paddingRight: 20,&#13;&#10;            }}&#13;&#10;        &gt;&#13;&#10;            &lt;Box style={{ width: 6, height: 22, background: '#F3B26C' }} /&gt;&#13;&#10;            &lt;Text style={{ fontSize: 16, color: '#51277C' }}&gt;Setiap angka di dek ini diukur dari repositori, bukan ditaksir.&lt;/Text&gt;&#13;&#10;        &lt;/Box&gt;&#13;&#10;    &lt;/Box&gt;&#13;&#10;&#13;&#10;    {/* ── zona C · footer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2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Isi dek ini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09600" y="126682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126682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838200" y="1476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81075" y="161925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600200" y="14763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Ringkasan Proyek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382250" y="153352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halaman 03–07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600200" y="180975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Artefak sumber dan masalah yang ditimbulkannya, delapan skenario berulang, tiga peran beserta batas di antaranya, dan satu masalah yang harus dipecahkan sistem.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280987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09600" y="280987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838200" y="30194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81075" y="3162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600200" y="3019425"/>
            <a:ext cx="1390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Desain Solusi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382250" y="307657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halaman 08–12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600200" y="335280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Mesin jadwal tiga status, model wewenang dua lapis, tumpukan lapisan teknis, dan bagaimana prompt menggerakkan generasi AI di dalam loop yang bisa diverifikasi.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435292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09600" y="435292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38200" y="4562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81075" y="470535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600200" y="4562475"/>
            <a:ext cx="1152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Nilai Bisnis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382250" y="4619625"/>
            <a:ext cx="97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halaman 13–16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600200" y="489585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Metrik hasil pengukuran, bukan taksiran; sepuluh pasangan dampak sebelum/sesudah yang masing-masing menyebut verifiernya; dan batasan yang ditulis di halaman yang sama dengan klaimnya.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58102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00100" y="5943600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1550" y="5953125"/>
            <a:ext cx="4371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1277C"/>
                </a:solidFill>
                <a:latin typeface="Microsoft YaHei"/>
                <a:ea typeface="Microsoft YaHei"/>
              </a:rPr>
              <a:t>Setiap angka di dek ini diukur dari repositori, bukan ditaksir.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&#13;&#10;    style={{&#13;&#10;        width: '1280px',&#13;&#10;        height: '720px',&#13;&#10;        background: 'linear-gradient(135deg, #51277C 0%, #7A45A8 100%)',&#13;&#10;        flexDirection: 'column',&#13;&#10;        paddingTop: 20,&#13;&#10;        paddingBottom: 20,&#13;&#10;        paddingLeft: 64,&#13;&#10;        paddingRight: 64,&#13;&#10;        position: 'relative',&#13;&#10;        overflow: 'hidden',&#13;&#10;    }}&#13;&#10;&gt;&#13;&#10;    {/* dekorasi */}&#13;&#10;    &lt;Box&#13;&#10;        style={{&#13;&#10;            position: 'absolute',&#13;&#10;            top: -150,&#13;&#10;            right: -110,&#13;&#10;            width: 420,&#13;&#10;            height: 420,&#13;&#10;            borderRadius: 210,&#13;&#10;            background: 'linear-gradient(135deg, #AFC440 0%, #F3B26C 100%)',&#13;&#10;            opacity: 0.16,&#13;&#10;        }}&#13;&#10;    /&gt;&#13;&#10;    &lt;Box style={{ position: 'absolute', right: 40, bottom: 60, opacity: 0.10 }}&gt;&#13;&#10;        &lt;Text&#13;&#10;            style={{&#13;&#10;                fontSize: 300,&#13;&#10;                fontWeight: 'bold',&#13;&#10;                color: '#FFFFFF',&#13;&#10;                lineHeight: 1,&#13;&#10;                fontFamily: 'Trebuchet MS',&#13;&#10;            }}&#13;&#10;        &gt;&#13;&#10;            01&#13;&#10;        &lt;/Text&gt;&#13;&#10;    &lt;/Box&gt;&#13;&#10;&#13;&#10;    {/* isi */}&#13;&#10;    &lt;Box&#13;&#10;        style={{&#13;&#10;            position: 'relative',&#13;&#10;            zIndex: 1,&#13;&#10;            flex: 1,&#13;&#10;            justifyContent: 'center',&#13;&#10;            paddingTop: 40,&#13;&#10;        }}&#13;&#10;    &gt;&#13;&#10;        &lt;Text&#13;&#10;            style={{&#13;&#10;                fontSize: 18,&#13;&#10;                fontWeight: 'bold',&#13;&#10;                color: '#AFC440',&#13;&#10;                letterSpacing: 4,&#13;&#10;            }}&#13;&#10;        &gt;BAB 01&lt;/Text&gt;&#13;&#10;&#13;&#10;        &lt;Text&#13;&#10;            style={{&#13;&#10;                fontSize: 60,&#13;&#10;                fontWeight: 'bold',&#13;&#10;                color: '#FFFFFF',&#13;&#10;                lineHeight: 1.15,&#13;&#10;                marginTop: 20,&#13;&#10;                fontFamily: 'Trebuchet MS',&#13;&#10;            }}&#13;&#10;        &gt;Ringkasan Proyek&lt;/Text&gt;&#13;&#10;&#13;&#10;        &lt;Box style={{ width: 72, height: 6, background: '#AFC440', marginTop: 24 }} /&gt;&#13;&#10;&#13;&#10;        &lt;Text&#13;&#10;            style={{&#13;&#10;                fontSize: 20,&#13;&#10;                color: 'rgba(255,255,255,0.84)',&#13;&#10;                lineHeight: 1.6,&#13;&#10;                marginTop: 26,&#13;&#10;                maxWidth: 620,&#13;&#10;                fontFamily: 'Verdana',&#13;&#10;            }}&#13;&#10;        &gt;Dari mana titik nyerinya berasal, siapa penggunanya, dan satu masalah yang harus dipecahkan sistem.&lt;/Text&gt;&#13;&#10;    &lt;/Box&gt;&#13;&#10;&#13;&#10;    {/* footer */}&#13;&#10;    &lt;Box&#13;&#10;        style={{&#13;&#10;            position: 'relative',&#13;&#10;            zIndex: 1,&#13;&#10;            height: 40,&#13;&#10;            flexDirection: 'row',&#13;&#10;            justifyContent: 'space-between',&#13;&#10;            alignItems: 'center',&#13;&#10;        }}&#13;&#10;    &gt;&#13;&#10;        &lt;Text style={{ fontSize: 14, color: 'rgba(255,255,255,0.55)' }}&gt;Pizza Snack Play · Deskripsi Proyek Visualisasi&lt;/Text&gt;&#13;&#10;        &lt;Text style={{ fontSize: 14, color: 'rgba(255,255,255,0.55)' }}&gt;03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9239250" y="-1428750"/>
            <a:ext cx="4000500" cy="4000500"/>
          </a:xfrm>
          <a:custGeom>
            <a:pathLst>
              <a:path w="420" h="420">
                <a:moveTo>
                  <a:pt x="310" y="395"/>
                </a:move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50"/>
                </a:lnTo>
                <a:lnTo>
                  <a:pt x="310" y="150"/>
                </a:lnTo>
                <a:close/>
              </a:path>
            </a:pathLst>
          </a:custGeom>
          <a:gradFill>
            <a:gsLst>
              <a:gs pos="0">
                <a:srgbClr val="AFC440">
                  <a:alpha val="16000"/>
                </a:srgbClr>
              </a:gs>
              <a:gs pos="100000">
                <a:srgbClr val="F3B26C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458200" y="2857500"/>
            <a:ext cx="335280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0000"/>
                  </a:srgbClr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BAB 01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097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Ringkasan Proyek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3800475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99441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Dari mana titik nyerinya berasal, siapa penggunanya, dan satu masalah yang harus dipecahkan sistem.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4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136 baris adalah seluruh sistemnya&lt;/Text&gt;&#13;&#10;        &lt;Box style={{ width: 72, height: 6, background: '#51277C', marginTop: 12 }} /&gt;&#13;&#10;    &lt;/Box&gt;&#13;&#10;&#13;&#10;    {/* ── zona B ── */}&#13;&#10;    &lt;Box style={{ height: 530, flexDirection: 'column', gap: 24 }}&gt;&#13;&#10;        {/* grafik */}&#13;&#10;        &lt;Box style={{ height: 250 }}&gt;&#13;&#10;            &lt;svg width={1150} height={250} viewBox='0 0 1150 250'&gt;&#13;&#10;                &lt;text&#13;&#10;                    x='0'&#13;&#10;                    y='20'&#13;&#10;                    fontFamily='Trebuchet MS'&#13;&#10;                    fontSize='16'&#13;&#10;                    fontWeight='bold'&#13;&#10;                    fill='#2A2333'&#13;&#10;                &gt;Komposisi artefak sumber&lt;/text&gt;&#13;&#10;                &lt;text x='0' y='42' fontFamily='Verdana' fontSize='13' fill='#6B6478'&gt;data/output_jadwal_piket.txt · 136 baris · 5 blok pekanan · kelas 1–5&lt;/text&gt;&#13;&#10;&#13;&#10;                &lt;rect x='0' y='64' width='727' height='68' fill='#51277C' /&gt;&#13;&#10;                &lt;rect x='727' y='64' width='177' height='68' fill='#7A45A8' /&gt;&#13;&#10;                &lt;rect x='904' y='64' width='43' height='68' fill='#F3B26C' /&gt;&#13;&#10;                &lt;rect x='947' y='64' width='203' height='68' fill='#D9D2E3' /&gt;&#13;&#10;&#13;&#10;                &lt;text&#13;&#10;                    x='363'&#13;&#10;                    y='107'&#13;&#10;                    textAnchor='middle'&#13;&#10;                    fontFamily='Verdana'&#13;&#10;                    fontSize='16'&#13;&#10;                    fontWeight='bold'&#13;&#10;                    fill='#FFFFFF'&#13;&#10;                &gt;86 penugasan piket&lt;/text&gt;&#13;&#10;                &lt;text&#13;&#10;                    x='815'&#13;&#10;                    y='107'&#13;&#10;                    textAnchor='middle'&#13;&#10;                    fontFamily='Verdana'&#13;&#10;                    fontSize='14'&#13;&#10;                    fontWeight='bold'&#13;&#10;                    fill='#FFFFFF'&#13;&#10;                &gt;21 menu&lt;/text&gt;&#13;&#10;                &lt;text x='975' y='107' textAnchor='middle' fontFamily='Verdana' fontSize='13' fill='#6B6478'&gt;kosong&lt;/text&gt;&#13;&#10;&#13;&#10;                &lt;rect x='0' y='158' width='13' height='13' fill='#51277C' /&gt;&#13;&#10;                &lt;text x='22' y='169' fontFamily='Verdana' fontSize='13' fill='#6B6478'&gt;86 baris penugasan piket (63%)&lt;/text&gt;&#13;&#10;                &lt;rect x='300' y='158' width='13' height='13' fill='#7A45A8' /&gt;&#13;&#10;                &lt;text x='322' y='169' fontFamily='Verdana' fontSize='13' fill='#6B6478'&gt;21 baris menu (15%)&lt;/text&gt;&#13;&#10;                &lt;rect x='520' y='158' width='13' height='13' fill='#F3B26C' /&gt;&#13;&#10;                &lt;text x='542' y='169' fontFamily='Verdana' fontSize='13' fill='#6B6478'&gt;5 header pekan tulis tangan (4%)&lt;/text&gt;&#13;&#10;                &lt;rect x='830' y='158' width='13' height='13' fill='#D9D2E3' /&gt;&#13;&#10;                &lt;text x='852' y='169' fontFamily='Verdana' fontSize='13' fill='#6B6478'&gt;24 baris kosong / pemisah (18%)&lt;/text&gt;&#13;&#10;&#13;&#10;                &lt;text x='0' y='215' fontFamily='Verdana' fontSize='13' fill='#6B6478'&gt;Diukur baris per baris. 38 nama siswa unik muncul di 86 baris penugasan itu — dan tidak satu pun tertaut ke data orang tua.&lt;/text&gt;&#13;&#10;            &lt;/svg&gt;&#13;&#10;        &lt;/Box&gt;&#13;&#10;&#13;&#10;        {/* dua kartu */}&#13;&#10;        &lt;Box style={{ height: 256, flexDirection: 'row', gap: 20 }}&gt;&#13;&#10;            &lt;Box&#13;&#10;                style={{&#13;&#10;                    flex: 60,&#13;&#10;                    background: '#FFFFFF',&#13;&#10;                    borderRadius: 10,&#13;&#10;                    paddingTop: 22,&#13;&#10;                    paddingBottom: 22,&#13;&#10;                    paddingLeft: 24,&#13;&#10;                    paddingRight: 24,&#13;&#10;                    boxShadow: '0 4px 20px rgba(0,0,0,0.08)',&#13;&#10;                    borderTop: '3px solid #AFC440',&#13;&#10;                    flexDirection: 'column',&#13;&#10;                }}&#13;&#10;            &gt;&#13;&#10;                &lt;Text&#13;&#10;                    style={{&#13;&#10;                        fontSize: 20,&#13;&#10;                        fontWeight: 'bold',&#13;&#10;                        color: '#2A2333',&#13;&#10;                        fontFamily: 'Trebuchet MS',&#13;&#10;                    }}&#13;&#10;                &gt;Yang tidak bisa dilakukan formatnya&lt;/Text&gt;&#13;&#10;                &lt;Box style={{ flexDirection: 'row', gap: 12, marginTop: 18, alignItems: 'flex-start' }}&gt;&#13;&#10;                    &lt;Box style={{ width: 6, height: 6, background: '#51277C', marginTop: 9 }} /&gt;&#13;&#10;                    &lt;Text style={{ fontSize: 16, color: '#6B6478', lineHeight: 1.5, flex: 1 }}&gt;Tanpa pencarian — “kapan jeruk disajikan?” berarti membaca 21 baris menu&lt;/Text&gt;&#13;&#10;                &lt;/Box&gt;&#13;&#10;                &lt;Box style={{ flexDirection: 'row', gap: 12, marginTop: 12, alignItems: 'flex-start' }}&gt;&#13;&#10;                    &lt;Box style={{ width: 6, height: 6, background: '#51277C', marginTop: 9 }} /&gt;&#13;&#10;                    &lt;Text style={{ fontSize: 16, color: '#6B6478', lineHeight: 1.5, flex: 1 }}&gt;Tanpa riwayat — berkasnya ditimpa bulan ke bulan&lt;/Text&gt;&#13;&#10;                &lt;/Box&gt;&#13;&#10;                &lt;Box style={{ flexDirection: 'row', gap: 12, marginTop: 12, alignItems: 'flex-start' }}&gt;&#13;&#10;                    &lt;Box style={{ width: 6, height: 6, background: '#51277C', marginTop: 9 }} /&gt;&#13;&#10;                    &lt;Text style={{ fontSize: 16, color: '#6B6478', lineHeight: 1.5, flex: 1 }}&gt;Tanpa identitas petugas — nama di samping kelas, tanpa data orang tua di belakangnya&lt;/Text&gt;&#13;&#10;                &lt;/Box&gt;&#13;&#10;            &lt;/Box&gt;&#13;&#10;&#13;&#10;            &lt;Box&#13;&#10;                style={{&#13;&#10;                    flex: 40,&#13;&#10;                    background: 'rgba(81,39,124,0.06)',&#13;&#10;                    borderRadius: 10,&#13;&#10;                    paddingTop: 22,&#13;&#10;                    paddingBottom: 22,&#13;&#10;                    paddingLeft: 24,&#13;&#10;                    paddingRight: 24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20,&#13;&#10;                        fontWeight: 'bold',&#13;&#10;                        color: '#51277C',&#13;&#10;                        fontFamily: 'Trebuchet MS',&#13;&#10;                    }}&#13;&#10;                &gt;Formatnya yang menyebabkan, bukan sekolahnya&lt;/Text&gt;&#13;&#10;                &lt;Text style={{ fontSize: 16, color: '#6B6478', lineHeight: 1.5, marginTop: 16 }}&gt;Header pekan ditulis tangan — dan satu sudah keliru:&lt;span style={{ color: '#c4762a', fontWeight: 'bold' }}&gt; 14 - 18 Oktober 2026&lt;/span&gt;{' '} dilabeli Senin–Jumat, padahal 14 Oktober 2026 adalah hari Rabu.&lt;/Text&gt;&#13;&#10;                &lt;Box&#13;&#10;                    style={{&#13;&#10;                        marginTop: 'auto',&#13;&#10;                        flexDirection: 'row',&#13;&#10;                        gap: 10,&#13;&#10;                        alignItems: 'center',&#13;&#10;                    }}&#13;&#10;                &gt;&#13;&#10;                    &lt;Box style={{ width: 6, height: 20, background: '#F3B26C' }} /&gt;&#13;&#10;                    &lt;Text style={{ fontSize: 15, color: '#51277C' }}&gt;Spreadsheet manual tidak bisa menangkap itu.&lt;/Text&gt;&#13;&#10;                &lt;/Box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4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136 baris adalah seluruh sistemnya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10953750" cy="2381250"/>
          </a:xfrm>
          <a:prstGeom prst="rect">
            <a:avLst/>
          </a:prstGeom>
          <a:ln/>
        </p:spPr>
      </p:pic>
      <p:sp>
        <p:nvSpPr>
          <p:cNvPr id="219" name=""/>
          <p:cNvSpPr/>
          <p:nvPr/>
        </p:nvSpPr>
        <p:spPr>
          <a:xfrm rot="0" flipH="0" flipV="0">
            <a:off x="609600" y="3876675"/>
            <a:ext cx="6467475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09600" y="3876675"/>
            <a:ext cx="6467475" cy="2438400"/>
          </a:xfrm>
          <a:custGeom>
            <a:pathLst>
              <a:path w="679" h="256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8200" y="4086225"/>
            <a:ext cx="601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Yang tidak bisa dilakukan formatnya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38200" y="4572000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09650" y="4486275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Tanpa pencarian — “kapan jeruk disajikan?” berarti membaca 21 baris menu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38200" y="4962525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09650" y="4876800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Tanpa riwayat — berkasnya ditimpa bulan ke bulan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38200" y="5353050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5838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Tanpa identitas petugas — nama di samping kelas, tanpa data orang tua di belakangnya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267575" y="3876675"/>
            <a:ext cx="4314825" cy="2438400"/>
          </a:xfrm>
          <a:prstGeom prst="roundRect">
            <a:avLst>
              <a:gd name="adj" fmla="val 390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267575" y="3876675"/>
            <a:ext cx="4314825" cy="2438400"/>
          </a:xfrm>
          <a:custGeom>
            <a:pathLst>
              <a:path w="453" h="256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96175" y="4086225"/>
            <a:ext cx="38576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1277C"/>
                </a:solidFill>
                <a:latin typeface="Trebuchet MS"/>
                <a:ea typeface="Trebuchet MS"/>
              </a:rPr>
              <a:t>Formatnya yang menyebabkan, bukan sekolahnya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96175" y="4695825"/>
            <a:ext cx="3857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Header pekan ditulis tangan — dan satu sudah keliru:</a:t>
            </a:r>
            <a:r>
              <a:rPr lang="en-US" sz="1200" b="1">
                <a:solidFill>
                  <a:srgbClr val="C4762A"/>
                </a:solidFill>
                <a:latin typeface="Microsoft YaHei"/>
                <a:ea typeface="Microsoft YaHei"/>
              </a:rPr>
              <a:t xml:space="preserve"> 14 - 18 Oktober 2026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 xml:space="preserve"> dilabeli Senin–Jumat, padahal 14 Oktober 2026 adalah hari Rabu.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496175" y="5886450"/>
            <a:ext cx="57150" cy="19050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48575" y="5895975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1277C"/>
                </a:solidFill>
                <a:latin typeface="Microsoft YaHei"/>
                <a:ea typeface="Microsoft YaHei"/>
              </a:rPr>
              <a:t>Spreadsheet manual tidak bisa menangkap itu.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Delapan momen dalam pekan sekolah&lt;/Text&gt;&#13;&#10;        &lt;Box style={{ width: 72, height: 6, background: '#51277C', marginTop: 12 }} /&gt;&#13;&#10;    &lt;/Box&gt;&#13;&#10;&#13;&#10;    {/* ── zona B ── */}&#13;&#10;    &lt;Box style={{ height: 530, flexDirection: 'row', gap: 20 }}&gt;&#13;&#10;        {/* kolom lebar: delapan skenario */}&#13;&#10;        &lt;Box style={{ flex: 60, flexDirection: 'column', gap: 12 }}&gt;&#13;&#10;            &lt;Box style={{ flexDirection: 'row', gap: 24 }}&gt;&#13;&#10;                &lt;Box style={{ flex: 1, flexDirection: 'column' }}&gt;&#13;&#10;                    &lt;Text style={{ fontSize: 12, fontWeight: 'bold', color: '#c4762a', letterSpacing: 1 }}&gt;S1 · SETIAP PAGI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Snack hari ini&lt;/Text&gt;&#13;&#10;                    &lt;Text style={{ fontSize: 14, color: '#6B6478', lineHeight: 1.45, marginTop: 6 }}&gt;Satu layar, lengkap dengan tautan WhatsApp wali petugas di samping menunya.&lt;/Text&gt;&#13;&#10;                &lt;/Box&gt;&#13;&#10;                &lt;Box style={{ flex: 1, flexDirection: 'column' }}&gt;&#13;&#10;                    &lt;Text style={{ fontSize: 12, fontWeight: 'bold', color: '#c4762a', letterSpacing: 1 }}&gt;S2 · MINGGU MALAM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Rencana sepekan&lt;/Text&gt;&#13;&#10;                    &lt;Text style={{ fontSize: 14, color: '#6B6478', lineHeight: 1.45, marginTop: 6 }}&gt;Menu dan daftar piket dulu dibaca dari dua tempat; kini satu tampilan, Senin–Jumat.&lt;/Text&gt;&#13;&#10;                &lt;/Box&gt;&#13;&#10;            &lt;/Box&gt;&#13;&#10;&#13;&#10;            &lt;Box style={{ flexDirection: 'row', gap: 24 }}&gt;&#13;&#10;                &lt;Box style={{ flex: 1, flexDirection: 'column' }}&gt;&#13;&#10;                    &lt;Text style={{ fontSize: 12, fontWeight: 'bold', color: '#c4762a', letterSpacing: 1 }}&gt;S3 · SAAT KELAS KENA PIKET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Rotasi piket&lt;/Text&gt;&#13;&#10;                    &lt;Text style={{ fontSize: 14, color: '#6B6478', lineHeight: 1.45, marginTop: 6 }}&gt;Petugas adalah relasi bertipe, dipilih dari roster kelas itu sendiri.&lt;/Text&gt;&#13;&#10;                &lt;/Box&gt;&#13;&#10;                &lt;Box style={{ flex: 1, flexDirection: 'column' }}&gt;&#13;&#10;                    &lt;Text style={{ fontSize: 12, fontWeight: 'bold', color: '#c4762a', letterSpacing: 1 }}&gt;S4 · SAAT TANGGAL MASIH KOSONG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Mengambil tanggal&lt;/Text&gt;&#13;&#10;                    &lt;Text style={{ fontSize: 14, color: '#6B6478', lineHeight: 1.45, marginTop: 6 }}&gt;Orang tua mengambilnya sendiri — aman dari rebutan di level basis data.&lt;/Text&gt;&#13;&#10;                &lt;/Box&gt;&#13;&#10;            &lt;/Box&gt;&#13;&#10;&#13;&#10;            &lt;Box style={{ flexDirection: 'row', gap: 24 }}&gt;&#13;&#10;                &lt;Box style={{ flex: 1, flexDirection: 'column' }}&gt;&#13;&#10;                    &lt;Text style={{ fontSize: 12, fontWeight: 'bold', color: '#c4762a', letterSpacing: 1 }}&gt;S5 · SEBULAN SEKALI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Kunci dan terbitkan&lt;/Text&gt;&#13;&#10;                    &lt;Text style={{ fontSize: 14, color: '#6B6478', lineHeight: 1.45, marginTop: 6 }}&gt;Mesin tiga status menggantikan “berkasnya sudah dikirim atau belum”.&lt;/Text&gt;&#13;&#10;                &lt;/Box&gt;&#13;&#10;                &lt;Box style={{ flex: 1, flexDirection: 'column' }}&gt;&#13;&#10;                    &lt;Text style={{ fontSize: 12, fontWeight: 'bold', color: '#c4762a', letterSpacing: 1 }}&gt;S6 · RAPAT BULANAN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Sudah meratakah beban piketnya?&lt;/Text&gt;&#13;&#10;                    &lt;Text style={{ fontSize: 14, color: '#6B6478', lineHeight: 1.45, marginTop: 6 }}&gt;Laporannya memeringkat setiap orang tua dan menyebut yang belum pernah ambil.&lt;/Text&gt;&#13;&#10;                &lt;/Box&gt;&#13;&#10;            &lt;/Box&gt;&#13;&#10;&#13;&#10;            &lt;Box style={{ flexDirection: 'row', gap: 24 }}&gt;&#13;&#10;                &lt;Box style={{ flex: 1, flexDirection: 'column' }}&gt;&#13;&#10;                    &lt;Text style={{ fontSize: 12, fontWeight: 'bold', color: '#c4762a', letterSpacing: 1 }}&gt;S7 · MENYUSUN BULAN DEPAN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Pakai ulang menu dan riwayat&lt;/Text&gt;&#13;&#10;                    &lt;Text style={{ fontSize: 14, color: '#6B6478', lineHeight: 1.45, marginTop: 6 }}&gt;Katalog 43 menu dan 85 item yang bisa dicari, dipakai bersama semua kelas.&lt;/Text&gt;&#13;&#10;                &lt;/Box&gt;&#13;&#10;                &lt;Box style={{ flex: 1, flexDirection: 'column' }}&gt;&#13;&#10;                    &lt;Text style={{ fontSize: 12, fontWeight: 'bold', color: '#c4762a', letterSpacing: 1 }}&gt;S8 · SETIAP TAHUN AJARAN&lt;/Text&gt;&#13;&#10;                    &lt;Text&#13;&#10;                        style={{&#13;&#10;                            fontSize: 17,&#13;&#10;                            fontWeight: 'bold',&#13;&#10;                            color: '#2A2333',&#13;&#10;                            marginTop: 5,&#13;&#10;                            fontFamily: 'Trebuchet MS',&#13;&#10;                        }}&#13;&#10;                    &gt;Siklus hidup akun&lt;/Text&gt;&#13;&#10;                    &lt;Text style={{ fontSize: 14, color: '#6B6478', lineHeight: 1.45, marginTop: 6 }}&gt;Bolak-balik Excel: ekspor, sunting, impor — selalu lewat pratinjau.&lt;/Text&gt;&#13;&#10;                &lt;/Box&gt;&#13;&#10;            &lt;/Box&gt;&#13;&#10;        &lt;/Box&gt;&#13;&#10;&#13;&#10;        {/* kolom sempit: pasangan penentu arsitektur */}&#13;&#10;        &lt;Box&#13;&#10;            style={{&#13;&#10;                flex: 40,&#13;&#10;                background: 'linear-gradient(135deg, #51277C 0%, #7A45A8 100%)',&#13;&#10;                borderRadius: 10,&#13;&#10;                paddingTop: 26,&#13;&#10;                paddingBottom: 26,&#13;&#10;                paddingLeft: 26,&#13;&#10;                paddingRight: 26,&#13;&#10;                flexDirection: 'column',&#13;&#10;            }}&#13;&#10;        &gt;&#13;&#10;            &lt;Text style={{ fontSize: 12, fontWeight: 'bold', color: '#AFC440', letterSpacing: 1.4 }}&gt;PASANGAN YANG MENENTUKAN&lt;/Text&gt;&#13;&#10;            &lt;Text&#13;&#10;                style={{&#13;&#10;                    fontSize: 24,&#13;&#10;                    fontWeight: 'bold',&#13;&#10;                    color: '#FFFFFF',&#13;&#10;                    lineHeight: 1.3,&#13;&#10;                    marginTop: 12,&#13;&#10;                    fontFamily: 'Trebuchet MS',&#13;&#10;                }}&#13;&#10;            &gt;S4 + S5, bersama&lt;/Text&gt;&#13;&#10;            &lt;Box style={{ width: 56, height: 5, background: '#AFC440', marginTop: 16 }} /&gt;&#13;&#10;            &lt;Text&#13;&#10;                style={{&#13;&#10;                    fontSize: 16,&#13;&#10;                    color: 'rgba(255,255,255,0.88)',&#13;&#10;                    lineHeight: 1.6,&#13;&#10;                    marginTop: 18,&#13;&#10;                }}&#13;&#10;            &gt;Klaim menulis balik ke baris jadwal. Publikasi membekukan baris. Kalau keduanya bebas menulis, orang tua bisa mengambil slot di bulan yang sudah diumumkan sekolah.&lt;/Text&gt;&#13;&#10;            &lt;Box style={{ marginTop: 'auto', flexDirection: 'row', gap: 10, alignItems: 'center' }}&gt;&#13;&#10;                &lt;Box style={{ width: 6, height: 20, background: '#F3B26C' }} /&gt;&#13;&#10;                &lt;Text style={{ fontSize: 15, color: '#F3B26C', fontWeight: 'bold' }}&gt;Mesin status membuat itu mustahil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5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Delapan momen dalam pekan sekolah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S1 · SETIAP PAGI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Snack hari ini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Satu layar, lengkap dengan tautan WhatsApp wali petugas di samping menunya.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62400" y="12382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S2 · MINGGU MALAM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962400" y="14287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Rencana sepekan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962400" y="16859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Menu dan daftar piket dulu dibaca dari dua tempat; kini satu tampilan, Senin–Jumat.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S3 · SAAT KELAS KENA PIKET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Rotasi piket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Petugas adalah relasi bertipe, dipilih dari roster kelas itu sendiri.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962400" y="22669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S4 · SAAT TANGGAL MASIH KOSONG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962400" y="24574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Mengambil tanggal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962400" y="27146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Orang tua mengambilnya sendiri — aman dari rebutan di level basis data.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S5 · SEBULAN SEKALI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Kunci dan terbitkan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Mesin tiga status menggantikan “berkasnya sudah dikirim atau belum”.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962400" y="32956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S6 · RAPAT BULANAN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962400" y="34861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Sudah meratakah beban piketnya?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962400" y="37433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Laporannya memeringkat setiap orang tua dan menyebut yang belum pernah ambil.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43243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S7 · MENYUSUN BULAN DEPAN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45148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Pakai ulang menu dan riwayat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Katalog 43 menu dan 85 item yang bisa dicari, dipakai bersama semua kelas.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62400" y="43243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S8 · SETIAP TAHUN AJARAN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962400" y="45148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Siklus hidup akun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962400" y="47720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Bolak-balik Excel: ekspor, sunting, impor — selalu lewat pratinjau.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67575" y="1238250"/>
            <a:ext cx="4314825" cy="5048250"/>
          </a:xfrm>
          <a:prstGeom prst="roundRect">
            <a:avLst>
              <a:gd name="adj" fmla="val 2208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515225" y="1485900"/>
            <a:ext cx="3819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05">
                <a:solidFill>
                  <a:srgbClr val="AFC440"/>
                </a:solidFill>
                <a:latin typeface="Microsoft YaHei"/>
                <a:ea typeface="Microsoft YaHei"/>
              </a:rPr>
              <a:t>PASANGAN YANG MENENTUKAN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515225" y="1743075"/>
            <a:ext cx="38195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S4 + S5, bersama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515225" y="2257425"/>
            <a:ext cx="533400" cy="47625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515225" y="2476500"/>
            <a:ext cx="3819525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Klaim menulis balik ke baris jadwal. Publikasi membekukan baris. Kalau keduanya bebas menulis, orang tua bisa mengambil slot di bulan yang sudah diumumkan sekolah.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515225" y="5848350"/>
            <a:ext cx="57150" cy="19050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67625" y="5857875"/>
            <a:ext cx="2590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3B26C"/>
                </a:solidFill>
                <a:latin typeface="Microsoft YaHei"/>
                <a:ea typeface="Microsoft YaHei"/>
              </a:rPr>
              <a:t>Mesin status membuat itu mustahil.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3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Tiga peran, satu batas tegas&lt;/Text&gt;&#13;&#10;        &lt;Box style={{ width: 72, height: 6, background: '#51277C', marginTop: 12 }} /&gt;&#13;&#10;    &lt;/Box&gt;&#13;&#10;&#13;&#10;    {/* ── zona B ── */}&#13;&#10;    &lt;Box style={{ height: 530, flexDirection: 'row', gap: 24 }}&gt;&#13;&#10;        {/* kiri: diagram */}&#13;&#10;        &lt;Box&#13;&#10;            style={{&#13;&#10;                flex: 55,&#13;&#10;                background: '#FFFFFF',&#13;&#10;                borderRadius: 10,&#13;&#10;                padding: 22,&#13;&#10;                boxShadow: '0 4px 20px rgba(0,0,0,0.08)',&#13;&#10;                borderTop: '3px solid #AFC440',&#13;&#10;                justifyContent: 'center',&#13;&#10;                alignItems: 'center',&#13;&#10;            }}&#13;&#10;        &gt;&#13;&#10;            &lt;svg width={520} height={440} viewBox='0 0 520 440'&gt;&#13;&#10;                &lt;text&#13;&#10;                    x='0'&#13;&#10;                    y='16'&#13;&#10;                    fontFamily='Trebuchet MS'&#13;&#10;                    fontSize='16'&#13;&#10;                    fontWeight='bold'&#13;&#10;                    fill='#2A2333'&#13;&#10;                &gt;Wewenang, digambar sebagai jangkauan&lt;/text&gt;&#13;&#10;                &lt;text x='0' y='38' fontFamily='Verdana' fontSize='12' fill='#6B6478'&gt;Enam kelas. Dua peran yang menyentuh tepat satu di antaranya.&lt;/text&gt;&#13;&#10;&#13;&#10;                &lt;rect x='0' y='58' width='520' height='34' rx='4' fill='#51277C' /&gt;&#13;&#10;                &lt;text&#13;&#10;                    x='14'&#13;&#10;                    y='80'&#13;&#10;                    fontFamily='Trebuchet MS'&#13;&#10;                    fontSize='15'&#13;&#10;                    fontWeight='bold'&#13;&#10;                    fill='#FFFFFF'&#13;&#10;                &gt;&#13;&#10;                    Admin&#13;&#10;                &lt;/text&gt;&#13;&#10;                &lt;text x='506' y='80' textAnchor='end' fontFamily='Verdana' fontSize='12' fill='#FFFFFF'&gt;keenam kelas · kunci dan buka kunci&lt;/text&gt;&#13;&#10;&#13;&#10;                &lt;text x='40' y='106' textAnchor='middle' fontFamily='Verdana' fontSize='12' fill='#6B6478'&gt;K1&lt;/text&gt;&#13;&#10;                &lt;text x='128' y='106' textAnchor='middle' fontFamily='Verdana' fontSize='12' fill='#6B6478'&gt;K2&lt;/text&gt;&#13;&#10;                &lt;text x='216' y='106' textAnchor='middle' fontFamily='Verdana' fontSize='12' fill='#6B6478'&gt;K3&lt;/text&gt;&#13;&#10;                &lt;text x='304' y='106' textAnchor='middle' fontFamily='Verdana' fontSize='12' fill='#6B6478'&gt;K4&lt;/text&gt;&#13;&#10;                &lt;text x='392' y='106' textAnchor='middle' fontFamily='Verdana' fontSize='12' fill='#6B6478'&gt;K5&lt;/text&gt;&#13;&#10;                &lt;text x='480' y='106' textAnchor='middle' fontFamily='Verdana' fontSize='12' fill='#6B6478'&gt;K6&lt;/text&gt;&#13;&#10;&#13;&#10;                &lt;rect x='0' y='114' width='80' height='170' fill='rgba(81,39,124,0.07)' stroke='rgba(81,39,124,0.22)' /&gt;&#13;&#10;                &lt;rect x='88' y='114' width='80' height='170' fill='#7A45A8' /&gt;&#13;&#10;                &lt;rect x='176' y='114' width='80' height='170' fill='rgba(81,39,124,0.07)' stroke='rgba(81,39,124,0.22)' /&gt;&#13;&#10;                &lt;rect x='264' y='114' width='80' height='170' fill='rgba(175,196,64,0.40)' stroke='#AFC440' strokeWidth='1.5' /&gt;&#13;&#10;                &lt;rect x='352' y='114' width='80' height='170' fill='rgba(81,39,124,0.07)' stroke='rgba(81,39,124,0.22)' /&gt;&#13;&#10;                &lt;rect x='440' y='114' width='80' height='170' fill='rgba(81,39,124,0.07)' stroke='rgba(81,39,124,0.22)' /&gt;&#13;&#10;&#13;&#10;                &lt;text&#13;&#10;                    x='128'&#13;&#10;                    y='205'&#13;&#10;                    textAnchor='middle'&#13;&#10;                    fontFamily='Trebuchet MS'&#13;&#10;                    fontSize='14'&#13;&#10;                    fontWeight='bold'&#13;&#10;                    fill='#FFFFFF'&#13;&#10;                &gt;&#13;&#10;                    Korlas&#13;&#10;                &lt;/text&gt;&#13;&#10;                &lt;text&#13;&#10;                    x='304'&#13;&#10;                    y='205'&#13;&#10;                    textAnchor='middle'&#13;&#10;                    fontFamily='Trebuchet MS'&#13;&#10;                    fontSize='14'&#13;&#10;                    fontWeight='bold'&#13;&#10;                    fill='#576420'&#13;&#10;                &gt;&#13;&#10;                    Parent&#13;&#10;                &lt;/text&gt;&#13;&#10;&#13;&#10;                &lt;rect&#13;&#10;                    x='80'&#13;&#10;                    y='112'&#13;&#10;                    width='96'&#13;&#10;                    height='174'&#13;&#10;                    fill='none'&#13;&#10;                    stroke='#F3B26C'&#13;&#10;                    strokeWidth='2'&#13;&#10;                    strokeDasharray='6 4'&#13;&#10;                /&gt;&#13;&#10;                &lt;text&#13;&#10;                    x='128'&#13;&#10;                    y='304'&#13;&#10;                    textAnchor='middle'&#13;&#10;                    fontFamily='Verdana'&#13;&#10;                    fontSize='12'&#13;&#10;                    fontWeight='bold'&#13;&#10;                    fill='#c4762a'&#13;&#10;                &gt;batasnya&lt;/text&gt;&#13;&#10;&#13;&#10;                &lt;text x='0' y='362' fontFamily='Verdana' fontSize='13' fill='#6B6478'&gt;Korlas boleh membuat, mengunci, dan menerbitkan di kelasnya sendiri — tidak di tempat lain.&lt;/text&gt;&#13;&#10;                &lt;text x='0' y='386' fontFamily='Verdana' fontSize='13' fill='#6B6478'&gt;Penulisan lintas kelas ditolak dengan 403 forbidden_class.&lt;/text&gt;&#13;&#10;                &lt;text x='0' y='410' fontFamily='Verdana' fontSize='13' fill='#6B6478'&gt;Buka kunci hanya untuk admin, bahkan di kelas korlas sendiri.&lt;/text&gt;&#13;&#10;            &lt;/svg&gt;&#13;&#10;        &lt;/Box&gt;&#13;&#10;&#13;&#10;        {/* kanan: tiga poin */}&#13;&#10;        &lt;Box style={{ flex: 45, flexDirection: 'column', gap: 12 }}&gt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2A2333',&#13;&#10;                        fontFamily: 'Trebuchet MS',&#13;&#10;                    }}&#13;&#10;                &gt;Ditegakkan dua kali — dengan tugas berbeda&lt;/Text&gt;&#13;&#10;                &lt;Text style={{ fontSize: 15, color: '#6B6478', lineHeight: 1.5, marginTop: 8 }}&gt;requireRole() di API adalah batasnya. RoleGate di UI hanya menyembunyikan tombol, dan didokumentasikan sebagai kosmetik.&lt;/Text&gt;&#13;&#10;            &lt;/Box&gt;&#13;&#10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2A2333',&#13;&#10;                        fontFamily: 'Trebuchet MS',&#13;&#10;                    }}&#13;&#10;                &gt;Cakupan diambil dari baris basis data&lt;/Text&gt;&#13;&#10;                &lt;Text style={{ fontSize: 15, color: '#6B6478', lineHeight: 1.5, marginTop: 8 }}&gt;Pada PUT dan DELETE, kelas dibaca dari barisnya, bukan dari input klien — jadi parameter tidak bisa membajak kelas lain.&lt;/Text&gt;&#13;&#10;            &lt;/Box&gt;&#13;&#10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2A2333',&#13;&#10;                        fontFamily: 'Trebuchet MS',&#13;&#10;                    }}&#13;&#10;                &gt;Daftar kelas tidak punya tabel&lt;/Text&gt;&#13;&#10;                &lt;Text style={{ fontSize: 15, color: '#6B6478', lineHeight: 1.5, marginTop: 8 }}&gt;Kelas diturunkan dari students ∪ users ∪ schedules. Tabel hanya akan menambah satu cara untuk tidak sinkron.&lt;/Text&gt;&#13;&#10;            &lt;/Box&gt;&#13;&#10;&#13;&#10;            &lt;Box&#13;&#10;                style={{&#13;&#10;                    background: 'rgba(81,39,124,0.06)',&#13;&#10;                    borderRadius: 10,&#13;&#10;                    paddingTop: 16,&#13;&#10;                    paddingBottom: 16,&#13;&#10;                    paddingLeft: 20,&#13;&#10;                    paddingRight: 20,&#13;&#10;                    borderTop: '3px solid #F3B26C',&#13;&#10;                    flexDirection: 'row',&#13;&#10;                    gap: 12,&#13;&#10;                    alignItems: 'center',&#13;&#10;                    marginTop: 'auto',&#13;&#10;                }}&#13;&#10;            &gt;&#13;&#10;                &lt;Box style={{ width: 6, height: 22, background: '#F3B26C' }} /&gt;&#13;&#10;                &lt;Text style={{ fontSize: 16, color: '#51277C', lineHeight: 1.4, flex: 1 }}&gt;Berkuasa di dalam satu kelas — tak berdaya di luarnya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6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Tiga peran, satu batas tegas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85925"/>
            <a:ext cx="4953000" cy="4191000"/>
          </a:xfrm>
          <a:prstGeom prst="rect">
            <a:avLst/>
          </a:prstGeom>
          <a:ln/>
        </p:spPr>
      </p:pic>
      <p:sp>
        <p:nvSpPr>
          <p:cNvPr id="280" name=""/>
          <p:cNvSpPr/>
          <p:nvPr/>
        </p:nvSpPr>
        <p:spPr>
          <a:xfrm rot="0" flipH="0" flipV="0">
            <a:off x="6743700" y="1266825"/>
            <a:ext cx="48387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743700" y="1266825"/>
            <a:ext cx="4838700" cy="1419225"/>
          </a:xfrm>
          <a:custGeom>
            <a:pathLst>
              <a:path w="508" h="149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Ditegakkan dua kali — dengan tugas berbeda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34200" y="1714500"/>
            <a:ext cx="4457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requireRole() di API adalah batasnya. RoleGate di UI hanya menyembunyikan tombol, dan didokumentasikan sebagai kosmetik.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743700" y="2800350"/>
            <a:ext cx="4838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743700" y="2800350"/>
            <a:ext cx="4838700" cy="1162050"/>
          </a:xfrm>
          <a:custGeom>
            <a:pathLst>
              <a:path w="508" h="12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934200" y="297180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Cakupan diambil dari baris basis data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934200" y="3248025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Pada PUT dan DELETE, kelas dibaca dari barisnya, bukan dari input klien — jadi parameter tidak bisa membajak kelas lain.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743700" y="4076700"/>
            <a:ext cx="4838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743700" y="4076700"/>
            <a:ext cx="4838700" cy="1162050"/>
          </a:xfrm>
          <a:custGeom>
            <a:pathLst>
              <a:path w="508" h="12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934200" y="424815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Daftar kelas tidak punya tabel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934200" y="4524375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Kelas diturunkan dari students ∪ users ∪ schedules. Tabel hanya akan menambah satu cara untuk tidak sinkron.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743700" y="5724525"/>
            <a:ext cx="4838700" cy="590550"/>
          </a:xfrm>
          <a:prstGeom prst="roundRect">
            <a:avLst>
              <a:gd name="adj" fmla="val 16129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743700" y="5724525"/>
            <a:ext cx="4838700" cy="590550"/>
          </a:xfrm>
          <a:custGeom>
            <a:pathLst>
              <a:path w="508" h="6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934200" y="5905500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05650" y="5876925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1277C"/>
                </a:solidFill>
                <a:latin typeface="Microsoft YaHei"/>
                <a:ea typeface="Microsoft YaHei"/>
              </a:rPr>
              <a:t>Berkuasa di dalam satu kelas — tak berdaya di luarnya.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8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Masalah intinya&lt;/Text&gt;&#13;&#10;        &lt;Box style={{ width: 72, height: 6, background: '#51277C', marginTop: 12 }} /&gt;&#13;&#10;    &lt;/Box&gt;&#13;&#10;&#13;&#10;    {/* ── zona B ── */}&#13;&#10;    &lt;Box&#13;&#10;        style={{&#13;&#10;            height: 530,&#13;&#10;            position: 'relative',&#13;&#10;            flexDirection: 'column',&#13;&#10;            justifyContent: 'center',&#13;&#10;        }}&#13;&#10;    &gt;&#13;&#10;        {/* ikon dokumen di belakang */}&#13;&#10;        &lt;Box style={{ position: 'absolute', top: 30, left: 430, opacity: 0.09 }}&gt;&#13;&#10;            &lt;svg width={300} height={300} viewBox='0 0 300 300'&gt;&#13;&#10;                &lt;rect&#13;&#10;                    x='70'&#13;&#10;                    y='18'&#13;&#10;                    width='160'&#13;&#10;                    height='200'&#13;&#10;                    rx='10'&#13;&#10;                    fill='none'&#13;&#10;                    stroke='#51277C'&#13;&#10;                    strokeWidth='7'&#13;&#10;                /&gt;&#13;&#10;                &lt;line x1='100' y1='62' x2='200' y2='62' stroke='#51277C' strokeWidth='7' /&gt;&#13;&#10;                &lt;line x1='100' y1='96' x2='200' y2='96' stroke='#51277C' strokeWidth='7' /&gt;&#13;&#10;                &lt;line x1='100' y1='130' x2='170' y2='130' stroke='#51277C' strokeWidth='7' /&gt;&#13;&#10;                &lt;rect x='104' y='176' width='92' height='70' rx='10' fill='#51277C' /&gt;&#13;&#10;                &lt;path&#13;&#10;                    d='M120 176 v-14 a30 30 0 0 1 60 0 v14'&#13;&#10;                    fill='none'&#13;&#10;                    stroke='#51277C'&#13;&#10;                    strokeWidth='9'&#13;&#10;                /&gt;&#13;&#10;            &lt;/svg&gt;&#13;&#10;        &lt;/Box&gt;&#13;&#10;&#13;&#10;        {/* kalimat inti */}&#13;&#10;        &lt;Box style={{ position: 'relative', zIndex: 1, alignItems: 'center' }}&gt;&#13;&#10;            &lt;Text&#13;&#10;                style={{&#13;&#10;                    fontSize: 64,&#13;&#10;                    fontWeight: 'bold',&#13;&#10;                    color: '#2A2333',&#13;&#10;                    lineHeight: 1.05,&#13;&#10;                    textAlign: 'center',&#13;&#10;                    fontFamily: 'Trebuchet MS',&#13;&#10;                }}&#13;&#10;            &gt;Kewajiban bersama,&lt;br /&gt;di dalam dokumen pribadi.&lt;/Text&gt;&#13;&#10;            &lt;Box style={{ width: 96, height: 7, background: '#AFC440', marginTop: 32 }} /&gt;&#13;&#10;        &lt;/Box&gt;&#13;&#10;&#13;&#10;        {/* dua belahan masalah */}&#13;&#10;        &lt;Box&#13;&#10;            style={{&#13;&#10;                position: 'relative',&#13;&#10;                zIndex: 1,&#13;&#10;                flexDirection: 'row',&#13;&#10;                gap: 20,&#13;&#10;                marginTop: 40,&#13;&#10;            }}&#13;&#10;        &gt;&#13;&#10;            &lt;Box&#13;&#10;                style={{&#13;&#10;                    flex: 1,&#13;&#10;                    background: '#FFFFFF',&#13;&#10;                    borderRadius: 10,&#13;&#10;                    paddingTop: 20,&#13;&#10;                    paddingBottom: 20,&#13;&#10;                    paddingLeft: 22,&#13;&#10;                    paddingRight: 22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9,&#13;&#10;                        fontWeight: 'bold',&#13;&#10;                        color: '#51277C',&#13;&#10;                        fontFamily: 'Trebuchet MS',&#13;&#10;                    }}&#13;&#10;                &gt;Sisi membaca&lt;/Text&gt;&#13;&#10;                &lt;Text style={{ fontSize: 16, color: '#6B6478', lineHeight: 1.5, marginTop: 8 }}&gt;Orang tua tidak punya cara andal untuk tahu gilirannya. Menutupnya berarti autentikasi — tiap keluarga hanya melihat kelas anaknya — dan model data per kelas.&lt;/Text&gt;&#13;&#10;            &lt;/Box&gt;&#13;&#10;&#13;&#10;            &lt;Box&#13;&#10;                style={{&#13;&#10;                    flex: 1,&#13;&#10;                    background: 'rgba(81,39,124,0.06)',&#13;&#10;                    borderRadius: 10,&#13;&#10;                    paddingTop: 20,&#13;&#10;                    paddingBottom: 20,&#13;&#10;                    paddingLeft: 22,&#13;&#10;                    paddingRight: 22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19,&#13;&#10;                        fontWeight: 'bold',&#13;&#10;                        color: '#c4762a',&#13;&#10;                        fontFamily: 'Trebuchet MS',&#13;&#10;                    }}&#13;&#10;                &gt;Sisi menulis&lt;/Text&gt;&#13;&#10;                &lt;Text style={{ fontSize: 16, color: '#6B6478', lineHeight: 1.5, marginTop: 8 }}&gt;Satu admin tidak sanggup memelihara enam kelas. Menutupnya berarti peran yang didelegasikan dengan batas tegas, plus gerbang kunci/terbit.&lt;/Text&gt;&#13;&#10;            &lt;/Box&gt;&#13;&#10;        &lt;/Box&gt;&#13;&#10;&#13;&#10;        {/* penutup */}&#13;&#10;        &lt;Box&#13;&#10;            style={{&#13;&#10;                position: 'relative',&#13;&#10;                zIndex: 1,&#13;&#10;                marginTop: 28,&#13;&#10;                flexDirection: 'row',&#13;&#10;                alignItems: 'center',&#13;&#10;                gap: 14,&#13;&#10;                background: '#FFFFFF',&#13;&#10;                borderRadius: 10,&#13;&#10;                paddingTop: 16,&#13;&#10;                paddingBottom: 16,&#13;&#10;                paddingLeft: 22,&#13;&#10;                paddingRight: 22,&#13;&#10;                boxShadow: '0 4px 20px rgba(0,0,0,0.08)',&#13;&#10;            }}&#13;&#10;        &gt;&#13;&#10;            &lt;Text&#13;&#10;                style={{&#13;&#10;                    fontSize: 16,&#13;&#10;                    color: '#51277C',&#13;&#10;                    fontWeight: 'bold',&#13;&#10;                    fontFamily: 'Trebuchet MS',&#13;&#10;                }}&#13;&#10;            &gt;Kenapa solusi yang kelihatan mudah gagal&lt;/Text&gt;&#13;&#10;            &lt;Box style={{ width: 1, height: 22, background: 'rgba(81,39,124,0.24)' }} /&gt;&#13;&#10;            &lt;Text style={{ fontSize: 16, color: '#6B6478', flex: 1 }}&gt;Spreadsheet bersama tidak punya gagasan tentang siapa boleh menyunting kelas mana, tidak punya status terbit, dan tidak punya catatan klaim — jadi “siapa yang belum pernah ambil giliran” tetap tak terjawab.&lt;/Text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7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Masalah intinya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  <p:pic>
        <p:nvPicPr>
          <p:cNvPr id="304" name=""/>
          <p:cNvPicPr>
            <a:picLocks noChangeAspect="1"/>
          </p:cNvPicPr>
          <p:nvPr/>
        </p:nvPicPr>
        <p:blipFill>
          <a:blip>
            <a:alphaModFix amt="9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1524000"/>
            <a:ext cx="2857500" cy="2857500"/>
          </a:xfrm>
          <a:prstGeom prst="rect">
            <a:avLst/>
          </a:prstGeom>
          <a:ln/>
        </p:spPr>
      </p:pic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2266950" y="1381125"/>
            <a:ext cx="7658100" cy="1543050"/>
          </a:xfrm>
          <a:prstGeom prst="rect"/>
        </p:spPr>
        <p:txBody>
          <a:bodyPr wrap="none" lIns="0" tIns="0" rIns="0" bIns="0"/>
          <a:p>
            <a:pPr algn="ctr">
              <a:lnSpc>
                <a:spcPct val="105000"/>
              </a:lnSpc>
            </a:pPr>
            <a:r>
              <a:rPr lang="en-US" sz="4800" b="1">
                <a:solidFill>
                  <a:srgbClr val="2A2333"/>
                </a:solidFill>
                <a:latin typeface="Trebuchet MS"/>
                <a:ea typeface="Trebuchet MS"/>
              </a:rPr>
              <a:t>Kewajiban bersama,</a:t>
            </a:r>
            <a:endParaRPr/>
          </a:p>
          <a:p>
            <a:pPr algn="ctr">
              <a:lnSpc>
                <a:spcPct val="105000"/>
              </a:lnSpc>
            </a:pPr>
            <a:r>
              <a:rPr lang="en-US" sz="4800" b="1">
                <a:solidFill>
                  <a:srgbClr val="2A2333"/>
                </a:solidFill>
                <a:latin typeface="Trebuchet MS"/>
                <a:ea typeface="Trebuchet MS"/>
              </a:rPr>
              <a:t>di dalam dokumen pribadi.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638800" y="3228975"/>
            <a:ext cx="914400" cy="66675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609600" y="3705225"/>
            <a:ext cx="5391150" cy="1533525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3705225"/>
            <a:ext cx="5391150" cy="1533525"/>
          </a:xfrm>
          <a:custGeom>
            <a:pathLst>
              <a:path w="566" h="161">
                <a:moveTo>
                  <a:pt x="556" y="0"/>
                </a:moveTo>
                <a:cubicBezTo>
                  <a:pt x="561" y="0"/>
                  <a:pt x="565" y="3"/>
                  <a:pt x="566" y="8"/>
                </a:cubicBezTo>
                <a:cubicBezTo>
                  <a:pt x="565" y="5"/>
                  <a:pt x="562" y="3"/>
                  <a:pt x="559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556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19150" y="38957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Sisi membaca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" y="4191000"/>
            <a:ext cx="49720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Orang tua tidak punya cara andal untuk tahu gilirannya. Menutupnya berarti autentikasi — tiap keluarga hanya melihat kelas anaknya — dan model data per kelas.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191250" y="3705225"/>
            <a:ext cx="5391150" cy="1533525"/>
          </a:xfrm>
          <a:prstGeom prst="roundRect">
            <a:avLst>
              <a:gd name="adj" fmla="val 6211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191250" y="3705225"/>
            <a:ext cx="5391150" cy="1533525"/>
          </a:xfrm>
          <a:custGeom>
            <a:pathLst>
              <a:path w="566" h="161">
                <a:moveTo>
                  <a:pt x="556" y="0"/>
                </a:moveTo>
                <a:cubicBezTo>
                  <a:pt x="561" y="0"/>
                  <a:pt x="565" y="3"/>
                  <a:pt x="566" y="8"/>
                </a:cubicBezTo>
                <a:cubicBezTo>
                  <a:pt x="565" y="5"/>
                  <a:pt x="562" y="3"/>
                  <a:pt x="559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556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00800" y="38957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762A"/>
                </a:solidFill>
                <a:latin typeface="Trebuchet MS"/>
                <a:ea typeface="Trebuchet MS"/>
              </a:rPr>
              <a:t>Sisi menulis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00800" y="4191000"/>
            <a:ext cx="49720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Satu admin tidak sanggup memelihara enam kelas. Menutupnya berarti peran yang didelegasikan dengan batas tegas, plus gerbang kunci/terbit.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09600" y="5476875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9150" y="5724525"/>
            <a:ext cx="299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Trebuchet MS"/>
                <a:ea typeface="Trebuchet MS"/>
              </a:rPr>
              <a:t>Kenapa solusi yang kelihatan mudah gagal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3943350" y="5715000"/>
            <a:ext cx="9525" cy="209550"/>
          </a:xfrm>
          <a:prstGeom prst="rect">
            <a:avLst/>
          </a:prstGeom>
          <a:solidFill>
            <a:srgbClr val="51277C">
              <a:alpha val="24000"/>
            </a:srgbClr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086225" y="5629275"/>
            <a:ext cx="72866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Spreadsheet bersama tidak punya gagasan tentang siapa boleh menyunting kelas mana, tidak punya status terbit, dan tidak punya catatan klaim — jadi “siapa yang belum pernah ambil giliran” tetap tak terjawab.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9" name="" descr="&lt;Slide&#13;&#10;    style={{&#13;&#10;        width: '1280px',&#13;&#10;        height: '720px',&#13;&#10;        background: 'linear-gradient(135deg, #51277C 0%, #7A45A8 100%)',&#13;&#10;        flexDirection: 'column',&#13;&#10;        paddingTop: 20,&#13;&#10;        paddingBottom: 20,&#13;&#10;        paddingLeft: 64,&#13;&#10;        paddingRight: 64,&#13;&#10;        position: 'relative',&#13;&#10;        overflow: 'hidden',&#13;&#10;    }}&#13;&#10;&gt;&#13;&#10;    {/* visual latar: bidang bertingkat */}&#13;&#10;    &lt;Box style={{ position: 'absolute', top: 0, left: 0, width: 1280, height: 720 }}&gt;&#13;&#10;        &lt;svg width={1280} height={720} viewBox='0 0 1280 720'&gt;&#13;&#10;            &lt;rect&#13;&#10;                x='700'&#13;&#10;                y='120'&#13;&#10;                width='380'&#13;&#10;                height='380'&#13;&#10;                rx='24'&#13;&#10;                fill='none'&#13;&#10;                stroke='#FFFFFF'&#13;&#10;                strokeWidth='2'&#13;&#10;                opacity='0.22'&#13;&#10;            /&gt;&#13;&#10;            &lt;rect&#13;&#10;                x='760'&#13;&#10;                y='180'&#13;&#10;                width='380'&#13;&#10;                height='380'&#13;&#10;                rx='24'&#13;&#10;                fill='none'&#13;&#10;                stroke='#FFFFFF'&#13;&#10;                strokeWidth='2'&#13;&#10;                opacity='0.17'&#13;&#10;            /&gt;&#13;&#10;            &lt;rect&#13;&#10;                x='820'&#13;&#10;                y='240'&#13;&#10;                width='380'&#13;&#10;                height='380'&#13;&#10;                rx='24'&#13;&#10;                fill='none'&#13;&#10;                stroke='#FFFFFF'&#13;&#10;                strokeWidth='2'&#13;&#10;                opacity='0.12'&#13;&#10;            /&gt;&#13;&#10;            &lt;rect x='700' y='120' width='72' height='8' fill='#AFC440' opacity='0.9' /&gt;&#13;&#10;        &lt;/svg&gt;&#13;&#10;    &lt;/Box&gt;&#13;&#10;&#13;&#10;    {/* teks menumpang di kiri */}&#13;&#10;    &lt;Box&#13;&#10;        style={{&#13;&#10;            position: 'relative',&#13;&#10;            zIndex: 1,&#13;&#10;            flex: 1,&#13;&#10;            justifyContent: 'center',&#13;&#10;            maxWidth: 640,&#13;&#10;        }}&#13;&#10;    &gt;&#13;&#10;        &lt;Text style={{ fontSize: 18, fontWeight: 'bold', color: '#AFC440', letterSpacing: 4 }}&gt;BAB 02&lt;/Text&gt;&#13;&#10;        &lt;Text&#13;&#10;            style={{&#13;&#10;                fontSize: 60,&#13;&#10;                fontWeight: 'bold',&#13;&#10;                color: '#FFFFFF',&#13;&#10;                lineHeight: 1.15,&#13;&#10;                marginTop: 20,&#13;&#10;                fontFamily: 'Trebuchet MS',&#13;&#10;            }}&#13;&#10;        &gt;Desain Solusi&lt;/Text&gt;&#13;&#10;        &lt;Box style={{ width: 72, height: 6, background: '#AFC440', marginTop: 24 }} /&gt;&#13;&#10;        &lt;Text&#13;&#10;            style={{&#13;&#10;                fontSize: 20,&#13;&#10;                color: 'rgba(255,255,255,0.84)',&#13;&#10;                lineHeight: 1.6,&#13;&#10;                marginTop: 26,&#13;&#10;                fontFamily: 'Verdana',&#13;&#10;            }}&#13;&#10;        &gt;Mesin jadwal tiga status, model wewenang dua lapis, API sembilan domain — dan loop prompt yang menghasilkan semuanya.&lt;/Text&gt;&#13;&#10;    &lt;/Box&gt;&#13;&#10;&#13;&#10;    {/* footer */}&#13;&#10;    &lt;Box&#13;&#10;        style={{&#13;&#10;            position: 'relative',&#13;&#10;            zIndex: 1,&#13;&#10;            height: 40,&#13;&#10;            flexDirection: 'row',&#13;&#10;            justifyContent: 'space-between',&#13;&#10;            alignItems: 'center',&#13;&#10;        }}&#13;&#10;    &gt;&#13;&#10;        &lt;Text style={{ fontSize: 14, color: 'rgba(255,255,255,0.55)' }}&gt;Pizza Snack Play · Deskripsi Proyek Visualisasi&lt;/Text&gt;&#13;&#10;        &lt;Text style={{ fontSize: 14, color: 'rgba(255,255,255,0.55)' }}&gt;08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609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BAB 02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60960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Desain Solusi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3248025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60960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Mesin jadwal tiga status, model wewenang dua lapis, API sembilan domain — dan loop prompt yang menghasilkan semuanya.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8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&#13;&#10;            draft → locked → published&#13;&#10;        &lt;/Text&gt;&#13;&#10;        &lt;Box style={{ width: 72, height: 6, background: '#51277C', marginTop: 12 }} /&gt;&#13;&#10;    &lt;/Box&gt;&#13;&#10;&#13;&#10;    {/* ── zona B ── */}&#13;&#10;    &lt;Box style={{ height: 530, flexDirection: 'row', gap: 20 }}&gt;&#13;&#10;        {/* kiri: tiga aturan */}&#13;&#10;        &lt;Box style={{ flex: 40, flexDirection: 'column', gap: 12 }}&gt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c4762a',&#13;&#10;                        fontFamily: 'Trebuchet MS',&#13;&#10;                    }}&#13;&#10;                &gt;Aturan yang paling penting&lt;/Text&gt;&#13;&#10;                &lt;Text style={{ fontSize: 15, color: '#6B6478', lineHeight: 1.5, marginTop: 8 }}&gt;Publikasi menolak dengan 409 drafts_remaining selama masih ada baris draft — dan menyebut kelas penyebabnya. Kelas yang terbit separuh mustahil secara struktural.&lt;/Text&gt;&#13;&#10;            &lt;/Box&gt;&#13;&#10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c4762a',&#13;&#10;                        fontFamily: 'Trebuchet MS',&#13;&#10;                    }}&#13;&#10;                &gt;Satu pengecualian yang disengaja&lt;/Text&gt;&#13;&#10;                &lt;Text style={{ fontSize: 15, color: '#6B6478', lineHeight: 1.5, marginTop: 8 }}&gt;Pada baris terkunci, hanya petugasnya saja yang masih boleh diisi — piket sering baru terisi setelah pengumuman. Patch campuran tetap ditolak.&lt;/Text&gt;&#13;&#10;            &lt;/Box&gt;&#13;&#10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51277C',&#13;&#10;                        fontFamily: 'Trebuchet MS',&#13;&#10;                    }}&#13;&#10;                &gt;Dua semantik aksi massal, sengaja dibedakan&lt;/Text&gt;&#13;&#10;                &lt;Text style={{ fontSize: 15, color: '#6B6478', lineHeight: 1.5, marginTop: 8 }}&gt;Operasi berbasis rentang gagal dengan 409. Operasi baris terpilih melewati lalu melaporkan — karena mencentang baris adalah pilihan eksplisit.&lt;/Text&gt;&#13;&#10;            &lt;/Box&gt;&#13;&#10;        &lt;/Box&gt;&#13;&#10;&#13;&#10;        {/* kanan: mesin status */}&#13;&#10;        &lt;Box&#13;&#10;            style={{&#13;&#10;                flex: 60,&#13;&#10;                background: '#FFFFFF',&#13;&#10;                borderRadius: 10,&#13;&#10;                padding: 22,&#13;&#10;                boxShadow: '0 4px 20px rgba(0,0,0,0.08)',&#13;&#10;                borderTop: '3px solid #AFC440',&#13;&#10;                justifyContent: 'center',&#13;&#10;                alignItems: 'center',&#13;&#10;            }}&#13;&#10;        &gt;&#13;&#10;            &lt;svg width={620} height={420} viewBox='0 0 620 420'&gt;&#13;&#10;                &lt;text&#13;&#10;                    x='0'&#13;&#10;                    y='18'&#13;&#10;                    fontFamily='Trebuchet MS'&#13;&#10;                    fontSize='16'&#13;&#10;                    fontWeight='bold'&#13;&#10;                    fill='#2A2333'&#13;&#10;                &gt;Siklus hidup jadwal&lt;/text&gt;&#13;&#10;                &lt;text x='0' y='40' fontFamily='Verdana' fontSize='12' fill='#6B6478'&gt;Setiap baris mulai dari draft. Publikasi satu-satunya jalan keluar.&lt;/text&gt;&#13;&#10;&#13;&#10;                &lt;rect x='0' y='66' width='170' height='80' rx='8' fill='#FFFFFF' stroke='#51277C' strokeWidth='1.6' /&gt;&#13;&#10;                &lt;text&#13;&#10;                    x='85'&#13;&#10;                    y='104'&#13;&#10;                    textAnchor='middle'&#13;&#10;                    fontFamily='Trebuchet MS'&#13;&#10;                    fontSize='20'&#13;&#10;                    fontWeight='bold'&#13;&#10;                    fill='#51277C'&#13;&#10;                &gt;&#13;&#10;                    draft&#13;&#10;                &lt;/text&gt;&#13;&#10;                &lt;text x='85' y='128' textAnchor='middle' fontFamily='Verdana' fontSize='12' fill='#6B6478'&gt;bisa disunting penuh&lt;/text&gt;&#13;&#10;&#13;&#10;                &lt;rect x='225' y='66' width='170' height='80' rx='8' fill='#FFFFFF' stroke='#51277C' strokeWidth='1.6' /&gt;&#13;&#10;                &lt;text&#13;&#10;                    x='310'&#13;&#10;                    y='104'&#13;&#10;                    textAnchor='middle'&#13;&#10;                    fontFamily='Trebuchet MS'&#13;&#10;                    fontSize='20'&#13;&#10;                    fontWeight='bold'&#13;&#10;                    fill='#51277C'&#13;&#10;                &gt;&#13;&#10;                    locked&#13;&#10;                &lt;/text&gt;&#13;&#10;                &lt;text x='310' y='128' textAnchor='middle' fontFamily='Verdana' fontSize='12' fill='#6B6478'&gt;dibekukan&lt;/text&gt;&#13;&#10;&#13;&#10;                &lt;rect x='450' y='66' width='170' height='80' rx='8' fill='#F3B26C' stroke='#d97f2f' strokeWidth='1.6' /&gt;&#13;&#10;                &lt;text&#13;&#10;                    x='535'&#13;&#10;                    y='104'&#13;&#10;                    textAnchor='middle'&#13;&#10;                    fontFamily='Trebuchet MS'&#13;&#10;                    fontSize='20'&#13;&#10;                    fontWeight='bold'&#13;&#10;                    fill='#3c1e0c'&#13;&#10;                &gt;&#13;&#10;                    published&#13;&#10;                &lt;/text&gt;&#13;&#10;                &lt;text x='535' y='128' textAnchor='middle' fontFamily='Verdana' fontSize='12' fill='#6f3c1c'&gt;terlihat oleh orang tua&lt;/text&gt;&#13;&#10;&#13;&#10;                &lt;line x1='174' y1='106' x2='221' y2='106' stroke='#51277C' strokeWidth='1.6' /&gt;&#13;&#10;                &lt;polygon points='221,106 213,101 213,111' fill='#51277C' /&gt;&#13;&#10;                &lt;text x='197' y='94' textAnchor='middle' fontFamily='Verdana' fontSize='12' fontWeight='bold' fill='#6B6478'&gt;kunci&lt;/text&gt;&#13;&#10;&#13;&#10;                &lt;line x1='399' y1='106' x2='446' y2='106' stroke='#51277C' strokeWidth='1.6' /&gt;&#13;&#10;                &lt;polygon points='446,106 438,101 438,111' fill='#51277C' /&gt;&#13;&#10;                &lt;text x='422' y='94' textAnchor='middle' fontFamily='Verdana' fontSize='12' fontWeight='bold' fill='#6B6478'&gt;terbitkan&lt;/text&gt;&#13;&#10;&#13;&#10;                &lt;path&#13;&#10;                    d='M535 150 L535 196 L85 196 L85 150'&#13;&#10;                    fill='none'&#13;&#10;                    stroke='#F3B26C'&#13;&#10;                    strokeWidth='1.6'&#13;&#10;                    strokeDasharray='6 4'&#13;&#10;                /&gt;&#13;&#10;                &lt;polygon points='85,150 80,159 90,159' fill='#F3B26C' /&gt;&#13;&#10;                &lt;text&#13;&#10;                    x='310'&#13;&#10;                    y='216'&#13;&#10;                    textAnchor='middle'&#13;&#10;                    fontFamily='Verdana'&#13;&#10;                    fontSize='12'&#13;&#10;                    fontWeight='bold'&#13;&#10;                    fill='#c4762a'&#13;&#10;                &gt;buka kunci — hanya admin&lt;/text&gt;&#13;&#10;&#13;&#10;                &lt;line x1='0' y1='246' x2='620' y2='246' stroke='rgba(81,39,124,0.18)' /&gt;&#13;&#10;&#13;&#10;                &lt;text x='0' y='278' fontFamily='Verdana' fontSize='13' fill='#6B6478'&gt;terbit → 409 drafts_remaining, kelas penyebab disebut&lt;/text&gt;&#13;&#10;                &lt;text x='0' y='306' fontFamily='Verdana' fontSize='13' fill='#6B6478'&gt;PUT / DELETE pada baris terkunci → 409 not_editable&lt;/text&gt;&#13;&#10;                &lt;text x='0' y='334' fontFamily='Verdana' fontSize='13' fill='#6B6478'&gt;pengecualian: hanya petugasnya yang masih boleh diisi&lt;/text&gt;&#13;&#10;                &lt;text x='0' y='362' fontFamily='Verdana' fontSize='13' fill='#6B6478'&gt;syarat status ditulis di klausa WHERE SQL&lt;/text&gt;&#13;&#10;                &lt;text x='0' y='396' fontFamily='Verdana' fontSize='13' fontWeight='bold' fill='#51277C'&gt;Ditentukan setStatusByIds() — bukan oleh pemanggil.&lt;/text&gt;&#13;&#10;            &lt;/svg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09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draft → locked → published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609600" y="1266825"/>
            <a:ext cx="4314825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09600" y="1266825"/>
            <a:ext cx="4314825" cy="1676400"/>
          </a:xfrm>
          <a:custGeom>
            <a:pathLst>
              <a:path w="453" h="176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1438275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Aturan yang paling penting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39338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Publikasi menolak dengan 409 drafts_remaining selama masih ada baris draft — dan menyebut kelas penyebabnya. Kelas yang terbit separuh mustahil secara struktural.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3057525"/>
            <a:ext cx="4314825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609600" y="3057525"/>
            <a:ext cx="4314825" cy="1419225"/>
          </a:xfrm>
          <a:custGeom>
            <a:pathLst>
              <a:path w="453" h="149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0100" y="3228975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Satu pengecualian yang disengaja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00100" y="3505200"/>
            <a:ext cx="39338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Pada baris terkunci, hanya petugasnya saja yang masih boleh diisi — piket sering baru terisi setelah pengumuman. Patch campuran tetap ditolak.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4591050"/>
            <a:ext cx="4314825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09600" y="4591050"/>
            <a:ext cx="4314825" cy="1419225"/>
          </a:xfrm>
          <a:custGeom>
            <a:pathLst>
              <a:path w="453" h="149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00100" y="4762500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Trebuchet MS"/>
                <a:ea typeface="Trebuchet MS"/>
              </a:rPr>
              <a:t>Dua semantik aksi massal, sengaja dibedakan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00100" y="5038725"/>
            <a:ext cx="39338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Operasi berbasis rentang gagal dengan 409. Operasi baris terpilih melewati lalu melaporkan — karena mencentang baris adalah pilihan eksplisit.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5114925" y="1266825"/>
            <a:ext cx="6467475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5114925" y="1266825"/>
            <a:ext cx="6467475" cy="5048250"/>
          </a:xfrm>
          <a:custGeom>
            <a:pathLst>
              <a:path w="679" h="530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00675" y="1781175"/>
            <a:ext cx="5905500" cy="400050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Sembilan domain, 65 endpoint&lt;/Text&gt;&#13;&#10;        &lt;Box style={{ width: 72, height: 6, background: '#51277C', marginTop: 12 }} /&gt;&#13;&#10;    &lt;/Box&gt;&#13;&#10;&#13;&#10;    {/* ── zona B ── */}&#13;&#10;    &lt;Box style={{ height: 530, flexDirection: 'row', gap: 24 }}&gt;&#13;&#10;        {/* kiri: tumpukan lapisan */}&#13;&#10;        &lt;Box&#13;&#10;            style={{&#13;&#10;                flex: 55,&#13;&#10;                background: '#FFFFFF',&#13;&#10;                borderRadius: 10,&#13;&#10;                padding: 22,&#13;&#10;                boxShadow: '0 4px 20px rgba(0,0,0,0.08)',&#13;&#10;                borderTop: '3px solid #AFC440',&#13;&#10;                justifyContent: 'center',&#13;&#10;                alignItems: 'center',&#13;&#10;            }}&#13;&#10;        &gt;&#13;&#10;            &lt;svg width={560} height={440} viewBox='0 0 560 440'&gt;&#13;&#10;                &lt;text x='0' y='14' fontFamily='Trebuchet MS' fontSize='14' fontWeight='bold' fill='#2A2333'&gt;&#13;&#10;                    Browser — React 19 SPA&#13;&#10;                &lt;/text&gt;&#13;&#10;                &lt;text x='560' y='14' textAnchor='end' fontFamily='Verdana' fontSize='12' fill='#6B6478'&gt;&#13;&#10;                    HTTPS · JWT Bearer · /api&#13;&#10;                &lt;/text&gt;&#13;&#10;&#13;&#10;                &lt;rect x='0' y='48' width='560' height='296' rx='10' fill='rgba(81,39,124,0.06)' stroke='rgba(81,39,124,0.30)' strokeWidth='1.4' strokeDasharray='7 5' /&gt;&#13;&#10;                &lt;text x='16' y='72' fontFamily='Trebuchet MS' fontSize='13' fontWeight='bold' fill='#51277C'&gt;&#13;&#10;                    Cloudflare Worker · Hono router&#13;&#10;                &lt;/text&gt;&#13;&#10;&#13;&#10;                &lt;rect x='16' y='86' width='528' height='48' rx='6' fill='#FFFFFF' stroke='rgba(81,39,124,0.24)' /&gt;&#13;&#10;                &lt;text x='32' y='115' fontFamily='Verdana' fontSize='13' fontWeight='bold' fill='#2A2333'&gt;&#13;&#10;                    middleware/&#13;&#10;                &lt;/text&gt;&#13;&#10;                &lt;text x='528' y='115' textAnchor='end' fontFamily='Verdana' fontSize='12' fill='#6B6478'&gt;verifikasi JWT · penjaga peran · cakupan kelas&lt;/text&gt;&#13;&#10;&#13;&#10;                &lt;rect x='16' y='142' width='528' height='48' rx='6' fill='#FFFFFF' stroke='#51277C' strokeWidth='1.8' /&gt;&#13;&#10;                &lt;text x='32' y='171' fontFamily='Verdana' fontSize='13' fontWeight='bold' fill='#2A2333'&gt;&#13;&#10;                    route.ts&#13;&#10;                &lt;/text&gt;&#13;&#10;                &lt;text x='528' y='171' textAnchor='end' fontFamily='Verdana' fontSize='12' fontWeight='bold' fill='#c4762a'&gt;requireRole() — batas yang sebenarnya&lt;/text&gt;&#13;&#10;&#13;&#10;                &lt;rect x='16' y='198' width='528' height='48' rx='6' fill='#FFFFFF' stroke='rgba(81,39,124,0.24)' /&gt;&#13;&#10;                &lt;text x='32' y='227' fontFamily='Verdana' fontSize='13' fontWeight='bold' fill='#2A2333'&gt;&#13;&#10;                    controller + service&#13;&#10;                &lt;/text&gt;&#13;&#10;                &lt;text x='528' y='227' textAnchor='end' fontFamily='Verdana' fontSize='12' fill='#6B6478'&gt;penyusunan DTO · aturan bisnis · gerbang terbit&lt;/text&gt;&#13;&#10;&#13;&#10;                &lt;rect x='16' y='254' width='528' height='48' rx='6' fill='#FFFFFF' stroke='rgba(81,39,124,0.24)' /&gt;&#13;&#10;                &lt;text x='32' y='283' fontFamily='Verdana' fontSize='13' fontWeight='bold' fill='#2A2333'&gt;&#13;&#10;                    repository.ts&#13;&#10;                &lt;/text&gt;&#13;&#10;                &lt;text x='528' y='283' textAnchor='end' fontFamily='Verdana' fontSize='12' fill='#6B6478'&gt;hanya SQL · syarat status di WHERE&lt;/text&gt;&#13;&#10;&#13;&#10;                &lt;line x1='280' y1='348' x2='280' y2='368' stroke='#51277C' strokeWidth='1.6' /&gt;&#13;&#10;                &lt;polygon points='280,372 275,362 285,362' fill='#51277C' /&gt;&#13;&#10;&#13;&#10;                &lt;rect x='0' y='376' width='560' height='48' rx='8' fill='#FFFFFF' stroke='#AFC440' strokeWidth='1.8' /&gt;&#13;&#10;                &lt;text x='280' y='405' textAnchor='middle' fontFamily='Trebuchet MS' fontSize='14' fontWeight='bold' fill='#576420'&gt;Cloudflare D1 · 13 tabel · 9 migrasi&lt;/text&gt;&#13;&#10;            &lt;/svg&gt;&#13;&#10;        &lt;/Box&gt;&#13;&#10;&#13;&#10;        {/* kanan: angka + alasan */}&#13;&#10;        &lt;Box style={{ flex: 45, flexDirection: 'column', gap: 14 }}&gt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2A2333',&#13;&#10;                        fontFamily: 'Trebuchet MS',&#13;&#10;                    }}&#13;&#10;                &gt;65 endpoint, 9 domain&lt;/Text&gt;&#13;&#10;                &lt;Box style={{ flexDirection: 'row', gap: 18, marginTop: 14 }}&gt;&#13;&#10;                    &lt;Box style={{ flexDirection: 'column' }}&gt;&#13;&#10;                        &lt;Text style={{ fontSize: 24, fontWeight: 'bold', color: '#51277C', fontFamily: 'Trebuchet MS' }}&gt;&#13;&#10;                            29&#13;&#10;                        &lt;/Text&gt;&#13;&#10;                        &lt;Text style={{ fontSize: 12, color: '#6B6478', marginTop: 2 }}&gt;GET&lt;/Text&gt;&#13;&#10;                    &lt;/Box&gt;&#13;&#10;                    &lt;Box style={{ flexDirection: 'column' }}&gt;&#13;&#10;                        &lt;Text style={{ fontSize: 24, fontWeight: 'bold', color: '#51277C', fontFamily: 'Trebuchet MS' }}&gt;&#13;&#10;                            22&#13;&#10;                        &lt;/Text&gt;&#13;&#10;                        &lt;Text style={{ fontSize: 12, color: '#6B6478', marginTop: 2 }}&gt;POST&lt;/Text&gt;&#13;&#10;                    &lt;/Box&gt;&#13;&#10;                    &lt;Box style={{ flexDirection: 'column' }}&gt;&#13;&#10;                        &lt;Text style={{ fontSize: 24, fontWeight: 'bold', color: '#51277C', fontFamily: 'Trebuchet MS' }}&gt;&#13;&#10;                            7&#13;&#10;                        &lt;/Text&gt;&#13;&#10;                        &lt;Text style={{ fontSize: 12, color: '#6B6478', marginTop: 2 }}&gt;PUT&lt;/Text&gt;&#13;&#10;                    &lt;/Box&gt;&#13;&#10;                    &lt;Box style={{ flexDirection: 'column' }}&gt;&#13;&#10;                        &lt;Text style={{ fontSize: 24, fontWeight: 'bold', color: '#51277C', fontFamily: 'Trebuchet MS' }}&gt;&#13;&#10;                            7&#13;&#10;                        &lt;/Text&gt;&#13;&#10;                        &lt;Text style={{ fontSize: 12, color: '#6B6478', marginTop: 2 }}&gt;DELETE&lt;/Text&gt;&#13;&#10;                    &lt;/Box&gt;&#13;&#10;                &lt;/Box&gt;&#13;&#10;                &lt;Text style={{ fontSize: 13, color: '#6B6478', marginTop: 12, lineHeight: 1.45 }}&gt;&#13;&#10;                    auth · catalog · claims · classes · laporan · parents · profile · schedules · stats&#13;&#10;                &lt;/Text&gt;&#13;&#10;            &lt;/Box&gt;&#13;&#10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AFC440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2A2333',&#13;&#10;                        fontFamily: 'Trebuchet MS',&#13;&#10;                    }}&#13;&#10;                &gt;Kenapa empat lapisan&lt;/Text&gt;&#13;&#10;                &lt;Text style={{ fontSize: 15, color: '#6B6478', lineHeight: 1.5, marginTop: 8 }}&gt;Wewenang di route.ts, cakupan di classScope, aturan di service, syarat status di klausa WHERE. Peninjau yang mencari sebuah aturan tahu berkas mana yang harus dibuka.&lt;/Text&gt;&#13;&#10;            &lt;/Box&gt;&#13;&#10;&#13;&#10;            &lt;Box&#13;&#10;                style={{&#13;&#10;                    background: 'rgba(81,39,124,0.06)',&#13;&#10;                    borderRadius: 10,&#13;&#10;                    paddingTop: 18,&#13;&#10;                    paddingBottom: 18,&#13;&#10;                    paddingLeft: 20,&#13;&#10;                    paddingRight: 20,&#13;&#10;                    borderTop: '3px solid #F3B26C',&#13;&#10;                    flexDirection: 'column',&#13;&#10;                    marginTop: 'auto',&#13;&#10;                }}&#13;&#10;            &gt;&#13;&#10;                &lt;Text style={{ fontSize: 15, color: '#51277C', lineHeight: 1.5 }}&gt;Seluruh sekolah muat di tier gratis Cloudflare — Workers, D1, dan pemasangan PWA. Tanpa server, tanpa lisensi, tanpa app store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10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Sembilan domain, 65 endpoint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685925"/>
            <a:ext cx="5334000" cy="41910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6743700" y="1266825"/>
            <a:ext cx="48387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743700" y="1266825"/>
            <a:ext cx="4838700" cy="1476375"/>
          </a:xfrm>
          <a:custGeom>
            <a:pathLst>
              <a:path w="508" h="155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65 endpoint, 9 domain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934200" y="1771650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29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934200" y="2066925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GET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381875" y="17716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22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381875" y="20669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POST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848600" y="17716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7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48600" y="2066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PUT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248650" y="1771650"/>
            <a:ext cx="400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7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248650" y="20669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DELETE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934200" y="2324100"/>
            <a:ext cx="4457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auth · catalog · claims · classes · laporan · parents · profile · schedules · stats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743700" y="2876550"/>
            <a:ext cx="48387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743700" y="2876550"/>
            <a:ext cx="4838700" cy="1419225"/>
          </a:xfrm>
          <a:custGeom>
            <a:pathLst>
              <a:path w="508" h="149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34200" y="304800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Kenapa empat lapisan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934200" y="3324225"/>
            <a:ext cx="4457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Wewenang di route.ts, cakupan di classScope, aturan di service, syarat status di klausa WHERE. Peninjau yang mencari sebuah aturan tahu berkas mana yang harus dibuka.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743700" y="5172075"/>
            <a:ext cx="4838700" cy="1143000"/>
          </a:xfrm>
          <a:prstGeom prst="roundRect">
            <a:avLst>
              <a:gd name="adj" fmla="val 8333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743700" y="5172075"/>
            <a:ext cx="4838700" cy="1143000"/>
          </a:xfrm>
          <a:custGeom>
            <a:pathLst>
              <a:path w="508" h="120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934200" y="5343525"/>
            <a:ext cx="4457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1277C"/>
                </a:solidFill>
                <a:latin typeface="Microsoft YaHei"/>
                <a:ea typeface="Microsoft YaHei"/>
              </a:rPr>
              <a:t>Seluruh sekolah muat di tier gratis Cloudflare — Workers, D1, dan pemasangan PWA. Tanpa server, tanpa lisensi, tanpa app store.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Bagaimana prompt menggerakkan generasi&lt;/Text&gt;&#13;&#10;        &lt;Box style={{ width: 72, height: 6, background: '#51277C', marginTop: 12 }} /&gt;&#13;&#10;    &lt;/Box&gt;&#13;&#10;&#13;&#10;    {/* ── zona B ── */}&#13;&#10;    &lt;Box style={{ height: 530, flexDirection: 'column', gap: 24 }}&gt;&#13;&#10;        {/* diagram loop */}&#13;&#10;        &lt;Box style={{ height: 270 }}&gt;&#13;&#10;            &lt;svg width={1150} height={270} viewBox='0 0 1150 270'&gt;&#13;&#10;                &lt;text x='0' y='16' fontFamily='Trebuchet MS' fontSize='16' fontWeight='bold' fill='#2A2333'&gt;Loop-nya&lt;/text&gt;&#13;&#10;                &lt;text x='0' y='38' fontFamily='Verdana' fontSize='12' fill='#6B6478'&gt;Prompt adalah spesifikasinya. Verifier disebut sebelum satu baris kode pun ditulis.&lt;/text&gt;&#13;&#10;&#13;&#10;                &lt;rect x='20' y='58' width='190' height='126' rx='8' fill='#FFFFFF' stroke='rgba(81,39,124,0.28)' strokeWidth='1.4' /&gt;&#13;&#10;                &lt;text x='36' y='84' fontFamily='Verdana' fontSize='12' fontWeight='bold' fill='#c4762a'&gt;01&lt;/text&gt;&#13;&#10;                &lt;text x='36' y='110' fontFamily='Trebuchet MS' fontSize='17' fontWeight='bold' fill='#2A2333'&gt;Kebenaran domain&lt;/text&gt;&#13;&#10;                &lt;text x='36' y='136' fontFamily='Verdana' fontSize='12.5' fill='#6B6478'&gt;Manusia menyuplai yang tidak bisa diketahui AI:&lt;/text&gt;&#13;&#10;                &lt;text x='36' y='154' fontFamily='Verdana' fontSize='12.5' fill='#6B6478'&gt;jadwal sungguhan, peran, batas wewenang.&lt;/text&gt;&#13;&#10;&#13;&#10;                &lt;rect x='250' y='58' width='190' height='126' rx='8' fill='#FFFFFF' stroke='#51277C' strokeWidth='1.8' /&gt;&#13;&#10;                &lt;text x='266' y='84' fontFamily='Verdana' fontSize='12' fontWeight='bold' fill='#c4762a'&gt;02&lt;/text&gt;&#13;&#10;                &lt;text x='266' y='110' fontFamily='Trebuchet MS' fontSize='17' fontWeight='bold' fill='#51277C'&gt;Prompt&lt;/text&gt;&#13;&#10;                &lt;text x='266' y='136' fontFamily='Verdana' fontSize='12.5' fill='#6B6478'&gt;Lima slot: niat, batasan, bukti,&lt;/text&gt;&#13;&#10;                &lt;text x='266' y='154' fontFamily='Verdana' fontSize='12.5' fill='#6B6478'&gt;kriteria terima, artefak.&lt;/text&gt;&#13;&#10;&#13;&#10;                &lt;rect x='480' y='58' width='190' height='126' rx='8' fill='#FFFFFF' stroke='rgba(81,39,124,0.28)' strokeWidth='1.4' /&gt;&#13;&#10;                &lt;text x='496' y='84' fontFamily='Verdana' fontSize='12' fontWeight='bold' fill='#c4762a'&gt;03&lt;/text&gt;&#13;&#10;                &lt;text x='496' y='110' fontFamily='Trebuchet MS' fontSize='17' fontWeight='bold' fill='#2A2333'&gt;AI menghasilkan&lt;/text&gt;&#13;&#10;                &lt;text x='496' y='136' fontFamily='Verdana' fontSize='12.5' fill='#6B6478'&gt;Migrasi, API, UI, dokumentasi —&lt;/text&gt;&#13;&#10;                &lt;text x='496' y='154' fontFamily='Verdana' fontSize='12.5' fill='#6B6478'&gt;dan uji yang akan menilainya.&lt;/text&gt;&#13;&#10;&#13;&#10;                &lt;rect x='710' y='58' width='190' height='126' rx='8' fill='#FFFFFF' stroke='rgba(81,39,124,0.28)' strokeWidth='1.4' /&gt;&#13;&#10;                &lt;text x='726' y='84' fontFamily='Verdana' fontSize='12' fontWeight='bold' fill='#c4762a'&gt;04&lt;/text&gt;&#13;&#10;                &lt;text x='726' y='110' fontFamily='Trebuchet MS' fontSize='17' fontWeight='bold' fill='#2A2333'&gt;Verifier dijalankan&lt;/text&gt;&#13;&#10;                &lt;text x='726' y='136' fontFamily='Verdana' fontSize='12.5' fill='#6B6478'&gt;tsc, eslint, vite build, dan suite&lt;/text&gt;&#13;&#10;                &lt;text x='726' y='154' fontFamily='Verdana' fontSize='12.5' fill='#6B6478'&gt;yang disebut di slot keempat.&lt;/text&gt;&#13;&#10;&#13;&#10;                &lt;rect x='940' y='58' width='190' height='126' rx='8' fill='#FFFFFF' stroke='rgba(81,39,124,0.28)' strokeWidth='1.4' /&gt;&#13;&#10;                &lt;text x='956' y='84' fontFamily='Verdana' fontSize='12' fontWeight='bold' fill='#c4762a'&gt;05&lt;/text&gt;&#13;&#10;                &lt;text x='956' y='110' fontFamily='Trebuchet MS' fontSize='17' fontWeight='bold' fill='#2A2333'&gt;Commit &amp;amp; catat&lt;/text&gt;&#13;&#10;                &lt;text x='956' y='136' fontFamily='Verdana' fontSize='12.5' fill='#6B6478'&gt;Kode, entri changelog PRD, dan&lt;/text&gt;&#13;&#10;                &lt;text x='956' y='154' fontFamily='Verdana' fontSize='12.5' fill='#6B6478'&gt;memori proyek, sekaligus.&lt;/text&gt;&#13;&#10;&#13;&#10;                &lt;line x1='214' y1='121' x2='246' y2='121' stroke='#51277C' strokeWidth='1.6' /&gt;&#13;&#10;                &lt;polygon points='246,121 238,116 238,126' fill='#51277C' /&gt;&#13;&#10;                &lt;line x1='444' y1='121' x2='476' y2='121' stroke='#51277C' strokeWidth='1.6' /&gt;&#13;&#10;                &lt;polygon points='476,121 468,116 468,126' fill='#51277C' /&gt;&#13;&#10;                &lt;line x1='674' y1='121' x2='706' y2='121' stroke='#51277C' strokeWidth='1.6' /&gt;&#13;&#10;                &lt;polygon points='706,121 698,116 698,126' fill='#51277C' /&gt;&#13;&#10;                &lt;line x1='904' y1='121' x2='936' y2='121' stroke='#51277C' strokeWidth='1.6' /&gt;&#13;&#10;                &lt;polygon points='936,121 928,116 928,126' fill='#51277C' /&gt;&#13;&#10;&#13;&#10;                &lt;path d='M1035 184 L1035 226 L115 226 L115 184' fill='none' stroke='#F3B26C' strokeWidth='1.8' strokeDasharray='6 4' /&gt;&#13;&#10;                &lt;polygon points='115,184 109,194 121,194' fill='#F3B26C' /&gt;&#13;&#10;                &lt;text x='575' y='248' textAnchor='middle' fontFamily='Verdana' fontSize='12.5' fontWeight='bold' fill='#c4762a'&gt;saat gagal — perbaiki promptnya, lalu tulis batasannya ke memori supaya tidak terulang&lt;/text&gt;&#13;&#10;            &lt;/svg&gt;&#13;&#10;        &lt;/Box&gt;&#13;&#10;&#13;&#10;        {/* dua kartu */}&#13;&#10;        &lt;Box style={{ height: 236, flexDirection: 'row', gap: 20 }}&gt;&#13;&#10;            &lt;Box&#13;&#10;                style={{&#13;&#10;                    flex: 60,&#13;&#10;                    background: '#FFFFFF',&#13;&#10;                    borderRadius: 10,&#13;&#10;                    paddingTop: 22,&#13;&#10;                    paddingBottom: 22,&#13;&#10;                    paddingLeft: 24,&#13;&#10;                    paddingRight: 24,&#13;&#10;                    boxShadow: '0 4px 20px rgba(0,0,0,0.08)',&#13;&#10;                    borderTop: '3px solid #51277C',&#13;&#10;                    flexDirection: 'column',&#13;&#10;                }}&#13;&#10;            &gt;&#13;&#10;                &lt;Text&#13;&#10;                    style={{&#13;&#10;                        fontSize: 20,&#13;&#10;                        fontWeight: 'bold',&#13;&#10;                        color: '#2A2333',&#13;&#10;                        fontFamily: 'Trebuchet MS',&#13;&#10;                    }}&#13;&#10;                &gt;Slot 4 yang membuat loop-nya menyatu&lt;/Text&gt;&#13;&#10;                &lt;Text style={{ fontSize: 16, color: '#6B6478', lineHeight: 1.55, marginTop: 12 }}&gt;Prompt yang tidak menyebut verifiernya menghasilkan kode yang tidak lulus apa pun secara khusus. Prompt yang menyebut&lt;span style={{ color: '#51277C', fontWeight: 'bold' }}&gt; 409 drafts_remaining &lt;/span&gt;menghasilkan uji yang masih berjalan setahun kemudian.&lt;/Text&gt;&#13;&#10;            &lt;/Box&gt;&#13;&#10;&#13;&#10;            &lt;Box&#13;&#10;                style={{&#13;&#10;                    flex: 40,&#13;&#10;                    background: 'rgba(81,39,124,0.06)',&#13;&#10;                    borderRadius: 10,&#13;&#10;                    paddingTop: 22,&#13;&#10;                    paddingBottom: 22,&#13;&#10;                    paddingLeft: 24,&#13;&#10;                    paddingRight: 24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20,&#13;&#10;                        fontWeight: 'bold',&#13;&#10;                        color: '#c4762a',&#13;&#10;                        fontFamily: 'Trebuchet MS',&#13;&#10;                    }}&#13;&#10;                &gt;Prompt yang ditolak batasannya sendiri&lt;/Text&gt;&#13;&#10;                &lt;Text style={{ fontSize: 16, color: '#6B6478', lineHeight: 1.55, marginTop: 12 }}&gt;“Tambahkan foreign key komposit pada petugas” ditolak: slot batasan menuntut migrasinya berhasil di produksi, dan rebuild tabel tidak bisa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11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Bagaimana prompt menggerakkan generasi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10953750" cy="2571750"/>
          </a:xfrm>
          <a:prstGeom prst="rect">
            <a:avLst/>
          </a:prstGeom>
          <a:ln/>
        </p:spPr>
      </p:pic>
      <p:sp>
        <p:nvSpPr>
          <p:cNvPr id="52" name=""/>
          <p:cNvSpPr/>
          <p:nvPr/>
        </p:nvSpPr>
        <p:spPr>
          <a:xfrm rot="0" flipH="0" flipV="0">
            <a:off x="609600" y="4067175"/>
            <a:ext cx="6467475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09600" y="4067175"/>
            <a:ext cx="6467475" cy="2247900"/>
          </a:xfrm>
          <a:custGeom>
            <a:pathLst>
              <a:path w="679" h="236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38200" y="4276725"/>
            <a:ext cx="601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Slot 4 yang membuat loop-nya menyatu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4619625"/>
            <a:ext cx="60102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Prompt yang tidak menyebut verifiernya menghasilkan kode yang tidak lulus apa pun secara khusus. Prompt yang menyebut</a:t>
            </a:r>
            <a:r>
              <a:rPr lang="en-US" sz="1200" b="1">
                <a:solidFill>
                  <a:srgbClr val="51277C"/>
                </a:solidFill>
                <a:latin typeface="Microsoft YaHei"/>
                <a:ea typeface="Microsoft YaHei"/>
              </a:rPr>
              <a:t xml:space="preserve"> 409 drafts_remaining 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menghasilkan uji yang masih berjalan setahun kemudian.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267575" y="4067175"/>
            <a:ext cx="4314825" cy="2247900"/>
          </a:xfrm>
          <a:prstGeom prst="roundRect">
            <a:avLst>
              <a:gd name="adj" fmla="val 4237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267575" y="4067175"/>
            <a:ext cx="4314825" cy="2247900"/>
          </a:xfrm>
          <a:custGeom>
            <a:pathLst>
              <a:path w="453" h="236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96175" y="4276725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762A"/>
                </a:solidFill>
                <a:latin typeface="Trebuchet MS"/>
                <a:ea typeface="Trebuchet MS"/>
              </a:rPr>
              <a:t>Prompt yang ditolak batasannya sendiri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96175" y="4619625"/>
            <a:ext cx="38576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“Tambahkan foreign key komposit pada petugas” ditolak: slot batasan menuntut migrasinya berhasil di produksi, dan rebuild tabel tidak bisa.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Anatomi prompt dan pagar pengaman&lt;/Text&gt;&#13;&#10;        &lt;Box style={{ width: 72, height: 6, background: '#51277C', marginTop: 12 }} /&gt;&#13;&#10;    &lt;/Box&gt;&#13;&#10;&#13;&#10;    {/* ── zona B ── */}&#13;&#10;    &lt;Box style={{ height: 530, flexDirection: 'row', gap: 24 }}&gt;&#13;&#10;        {/* kiri: kartu prompt */}&#13;&#10;        &lt;Box&#13;&#10;            style={{&#13;&#10;                flex: 55,&#13;&#10;                background: '#FFFFFF',&#13;&#10;                borderRadius: 10,&#13;&#10;                padding: 22,&#13;&#10;                boxShadow: '0 4px 20px rgba(0,0,0,0.08)',&#13;&#10;                borderTop: '3px solid #AFC440',&#13;&#10;                justifyContent: 'center',&#13;&#10;                alignItems: 'center',&#13;&#10;            }}&#13;&#10;        &gt;&#13;&#10;            &lt;svg width={520} height={440} viewBox='0 0 520 440'&gt;&#13;&#10;                &lt;rect x='0' y='0' width='520' height='300' rx='10' fill='#FFFFFF' stroke='rgba(81,39,124,0.30)' strokeWidth='1.4' /&gt;&#13;&#10;                &lt;text x='18' y='28' fontFamily='Trebuchet MS' fontSize='13' fontWeight='bold' fill='#51277C'&gt;&#13;&#10;                    PROMPT&#13;&#10;                &lt;/text&gt;&#13;&#10;                &lt;text x='502' y='28' textAnchor='end' fontFamily='Verdana' fontSize='12' fill='#6B6478'&gt;satu fitur, satu prompt&lt;/text&gt;&#13;&#10;                &lt;line x1='0' y1='44' x2='520' y2='44' stroke='rgba(81,39,124,0.20)' /&gt;&#13;&#10;&#13;&#10;                &lt;rect x='18' y='56' width='24' height='24' rx='4' fill='#51277C' /&gt;&#13;&#10;                &lt;text x='30' y='73' textAnchor='middle' fontFamily='Verdana' fontSize='12' fontWeight='bold' fill='#FFFFFF'&gt;1&lt;/text&gt;&#13;&#10;                &lt;text x='54' y='66' fontFamily='Verdana' fontSize='13' fontWeight='bold' fill='#2A2333'&gt;Niat — apa yang berubah bagi pengguna?&lt;/text&gt;&#13;&#10;                &lt;text x='54' y='84' fontFamily='Verdana' fontSize='11.5' fill='#6B6478'&gt;“Admin harus bisa menerbitkan keenam kelas dalam satu tindakan.”&lt;/text&gt;&#13;&#10;&#13;&#10;                &lt;rect x='18' y='102' width='24' height='24' rx='4' fill='#51277C' /&gt;&#13;&#10;                &lt;text x='30' y='119' textAnchor='middle' fontFamily='Verdana' fontSize='12' fontWeight='bold' fill='#FFFFFF'&gt;2&lt;/text&gt;&#13;&#10;                &lt;text x='54' y='112' fontFamily='Verdana' fontSize='13' fontWeight='bold' fill='#2A2333'&gt;Batasan — apa yang tidak boleh rusak?&lt;/text&gt;&#13;&#10;                &lt;text x='54' y='130' fontFamily='Verdana' fontSize='11.5' fill='#6B6478'&gt;“Korlas boleh mengunci kelasnya sendiri. Jangan tambah tabel kelas.”&lt;/text&gt;&#13;&#10;&#13;&#10;                &lt;rect x='18' y='148' width='24' height='24' rx='4' fill='#51277C' /&gt;&#13;&#10;                &lt;text x='30' y='165' textAnchor='middle' fontFamily='Verdana' fontSize='12' fontWeight='bold' fill='#FFFFFF'&gt;3&lt;/text&gt;&#13;&#10;                &lt;text x='54' y='158' fontFamily='Verdana' fontSize='13' fontWeight='bold' fill='#2A2333'&gt;Bukti — apa yang menentukan desainnya?&lt;/text&gt;&#13;&#10;                &lt;text x='54' y='176' fontFamily='Verdana' fontSize='11.5' fill='#6B6478'&gt;“Baca resolveBulkClasses sebelum memilih di mana cakupan diselesaikan.”&lt;/text&gt;&#13;&#10;&#13;&#10;                &lt;rect x='18' y='194' width='24' height='24' rx='4' fill='#51277C' /&gt;&#13;&#10;                &lt;text x='30' y='211' textAnchor='middle' fontFamily='Verdana' fontSize='12' fontWeight='bold' fill='#FFFFFF'&gt;4&lt;/text&gt;&#13;&#10;                &lt;text x='54' y='204' fontFamily='Verdana' fontSize='13' fontWeight='bold' fill='#2A2333'&gt;Kriteria terima — bagaimana kita tahu ini berhasil?&lt;/text&gt;&#13;&#10;                &lt;text x='54' y='222' fontFamily='Verdana' fontSize='11.5' fill='#6B6478'&gt;“409 drafts_remaining menyebut kelasnya; seksi 23 uji mencakupnya.”&lt;/text&gt;&#13;&#10;&#13;&#10;                &lt;rect x='18' y='240' width='24' height='24' rx='4' fill='#51277C' /&gt;&#13;&#10;                &lt;text x='30' y='257' textAnchor='middle' fontFamily='Verdana' fontSize='12' fontWeight='bold' fill='#FFFFFF'&gt;5&lt;/text&gt;&#13;&#10;                &lt;text x='54' y='250' fontFamily='Verdana' fontSize='13' fontWeight='bold' fill='#2A2333'&gt;Artefak — apa lagi yang harus diperbarui?&lt;/text&gt;&#13;&#10;                &lt;text x='54' y='268' fontFamily='Verdana' fontSize='11.5' fill='#6B6478'&gt;“PRD, README, UAT_Result, test-api.mjs.”&lt;/text&gt;&#13;&#10;&#13;&#10;                &lt;rect x='0' y='316' width='520' height='56' rx='8' fill='rgba(243,178,108,0.20)' stroke='#F3B26C' strokeWidth='1.4' /&gt;&#13;&#10;                &lt;text x='18' y='340' fontFamily='Verdana' fontSize='12.5' fontWeight='bold' fill='#8a4a1e'&gt;“Tambahkan foreign key komposit pada petugas”&lt;/text&gt;&#13;&#10;                &lt;text x='18' y='359' fontFamily='Verdana' fontSize='12' fill='#8a4a1e'&gt;Ditolak oleh slot 2 — batasannya tidak bisa bertahan di produksi.&lt;/text&gt;&#13;&#10;&#13;&#10;                &lt;text x='0' y='404' fontFamily='Verdana' fontSize='12.5' fill='#6B6478'&gt;Setiap slot terlihat di changelog PRD, v1.1 → v1.21.&lt;/text&gt;&#13;&#10;            &lt;/svg&gt;&#13;&#10;        &lt;/Box&gt;&#13;&#10;&#13;&#10;        {/* kanan: guardrails */}&#13;&#10;        &lt;Box style={{ flex: 45, flexDirection: 'column', gap: 14 }}&gt;&#13;&#10;            &lt;Box&#13;&#10;                style={{&#13;&#10;                    background: '#FFFFFF',&#13;&#10;                    borderRadius: 10,&#13;&#10;                    paddingTop: 18,&#13;&#10;                    paddingBottom: 18,&#13;&#10;                    paddingLeft: 20,&#13;&#10;                    paddingRight: 20,&#13;&#10;                    boxShadow: '0 4px 20px rgba(0,0,0,0.08)',&#13;&#10;                    borderTop: '3px solid #F3B26C',&#13;&#10;                    flexDirection: 'column',&#13;&#10;                }}&#13;&#10;            &gt;&#13;&#10;                &lt;Text&#13;&#10;                    style={{&#13;&#10;                        fontSize: 17,&#13;&#10;                        fontWeight: 'bold',&#13;&#10;                        color: '#c4762a',&#13;&#10;                        fontFamily: 'Trebuchet MS',&#13;&#10;                    }}&#13;&#10;                &gt;Enam pagar pengaman di dalam prompt&lt;/Text&gt;&#13;&#10;                &lt;Box style={{ flexDirection: 'row', gap: 10, marginTop: 12 }}&gt;&#13;&#10;                    &lt;Box style={{ width: 5, height: 5, background: '#F3B26C', marginTop: 8 }} /&gt;&#13;&#10;                    &lt;Text style={{ fontSize: 14, color: '#6B6478', lineHeight: 1.45, flex: 1 }}&gt;Jangan terima nama petugas dari klien — petugas adalah relasi, bukan string&lt;/Text&gt;&#13;&#10;                &lt;/Box&gt;&#13;&#10;                &lt;Box style={{ flexDirection: 'row', gap: 10, marginTop: 9 }}&gt;&#13;&#10;                    &lt;Box style={{ width: 5, height: 5, background: '#F3B26C', marginTop: 8 }} /&gt;&#13;&#10;                    &lt;Text style={{ fontSize: 14, color: '#6B6478', lineHeight: 1.45, flex: 1 }}&gt;Jangan rebuild tabel di dalam migrasi D1&lt;/Text&gt;&#13;&#10;                &lt;/Box&gt;&#13;&#10;                &lt;Box style={{ flexDirection: 'row', gap: 10, marginTop: 9 }}&gt;&#13;&#10;                    &lt;Box style={{ width: 5, height: 5, background: '#F3B26C', marginTop: 8 }} /&gt;&#13;&#10;                    &lt;Text style={{ fontSize: 14, color: '#6B6478', lineHeight: 1.45, flex: 1 }}&gt;Jangan biarkan 409 menjadi skipped pada operasi rentang&lt;/Text&gt;&#13;&#10;                &lt;/Box&gt;&#13;&#10;                &lt;Box style={{ flexDirection: 'row', gap: 10, marginTop: 9 }}&gt;&#13;&#10;                    &lt;Box style={{ width: 5, height: 5, background: '#F3B26C', marginTop: 8 }} /&gt;&#13;&#10;                    &lt;Text style={{ fontSize: 14, color: '#6B6478', lineHeight: 1.45, flex: 1 }}&gt;Jangan biarkan UI jadi satu-satunya penegak&lt;/Text&gt;&#13;&#10;                &lt;/Box&gt;&#13;&#10;                &lt;Box style={{ flexDirection: 'row', gap: 10, marginTop: 9 }}&gt;&#13;&#10;                    &lt;Box style={{ width: 5, height: 5, background: '#F3B26C', marginTop: 8 }} /&gt;&#13;&#10;                    &lt;Text style={{ fontSize: 14, color: '#6B6478', lineHeight: 1.45, flex: 1 }}&gt;Selalu build sebelum deploy — wrangler mengunggah dist/ apa adanya&lt;/Text&gt;&#13;&#10;                &lt;/Box&gt;&#13;&#10;                &lt;Box style={{ flexDirection: 'row', gap: 10, marginTop: 9 }}&gt;&#13;&#10;                    &lt;Box style={{ width: 5, height: 5, background: '#F3B26C', marginTop: 8 }} /&gt;&#13;&#10;                    &lt;Text style={{ fontSize: 14, color: '#6B6478', lineHeight: 1.45, flex: 1 }}&gt;Jangan percaya keluaran wrangler yang dipotong pipe — parse JSON utuh&lt;/Text&gt;&#13;&#10;                &lt;/Box&gt;&#13;&#10;            &lt;/Box&gt;&#13;&#10;&#13;&#10;            &lt;Box&#13;&#10;                style={{&#13;&#10;                    background: 'rgba(81,39,124,0.06)',&#13;&#10;                    borderRadius: 10,&#13;&#10;                    paddingTop: 18,&#13;&#10;                    paddingBottom: 18,&#13;&#10;                    paddingLeft: 20,&#13;&#10;                    paddingRight: 20,&#13;&#10;                    borderTop: '3px solid #51277C',&#13;&#10;                    flexDirection: 'column',&#13;&#10;                    marginTop: 'auto',&#13;&#10;                }}&#13;&#10;            &gt;&#13;&#10;                &lt;Text&#13;&#10;                    style={{&#13;&#10;                        fontSize: 16,&#13;&#10;                        fontWeight: 'bold',&#13;&#10;                        color: '#51277C',&#13;&#10;                        fontFamily: 'Trebuchet MS',&#13;&#10;                    }}&#13;&#10;                &gt;Kenapa generasinya bisa diaudit&lt;/Text&gt;&#13;&#10;                &lt;Text style={{ fontSize: 14, color: '#6B6478', lineHeight: 1.5, marginTop: 8 }}&gt;Changelog PRD v1.1 → v1.21 · 113 commit · memori proyek. Beberapa entri changelog secara eksplisit menarik kembali klaim sebelumnya, jadi catatannya menunjukkan kesalahannya sendiri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12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Anatomi prompt dan pagar pengaman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85925"/>
            <a:ext cx="4953000" cy="4191000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743700" y="1266825"/>
            <a:ext cx="4838700" cy="3228975"/>
          </a:xfrm>
          <a:prstGeom prst="roundRect">
            <a:avLst>
              <a:gd name="adj" fmla="val 295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743700" y="1266825"/>
            <a:ext cx="4838700" cy="3228975"/>
          </a:xfrm>
          <a:custGeom>
            <a:pathLst>
              <a:path w="508" h="339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Enam pagar pengaman di dalam prompt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934200" y="18288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077075" y="1752600"/>
            <a:ext cx="4314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Jangan terima nama petugas dari klien — petugas adalah relasi, bukan string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934200" y="23812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077075" y="230505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Jangan rebuild tabel di dalam migrasi D1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934200" y="27051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77075" y="262890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Jangan biarkan 409 menjadi skipped pada operasi rentang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934200" y="30289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077075" y="295275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Jangan biarkan UI jadi satu-satunya penegak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934200" y="33528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077075" y="3276600"/>
            <a:ext cx="4314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Selalu build sebelum deploy — wrangler mengunggah dist/ apa adanya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934200" y="39052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77075" y="3829050"/>
            <a:ext cx="4314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Jangan percaya keluaran wrangler yang dipotong pipe — parse JSON utuh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743700" y="4953000"/>
            <a:ext cx="4838700" cy="1362075"/>
          </a:xfrm>
          <a:prstGeom prst="roundRect">
            <a:avLst>
              <a:gd name="adj" fmla="val 6993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743700" y="4953000"/>
            <a:ext cx="4838700" cy="1362075"/>
          </a:xfrm>
          <a:custGeom>
            <a:pathLst>
              <a:path w="508" h="143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934200" y="512445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Trebuchet MS"/>
                <a:ea typeface="Trebuchet MS"/>
              </a:rPr>
              <a:t>Kenapa generasinya bisa diaudit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934200" y="5391150"/>
            <a:ext cx="4457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Changelog PRD v1.1 → v1.21 · 113 commit · memori proyek. Beberapa entri changelog secara eksplisit menarik kembali klaim sebelumnya, jadi catatannya menunjukkan kesalahannya sendiri.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0" name="" descr="&lt;Slide&#13;&#10;    style={{&#13;&#10;        width: '1280px',&#13;&#10;        height: '720px',&#13;&#10;        background: 'linear-gradient(135deg, #51277C 0%, #7A45A8 100%)',&#13;&#10;        flexDirection: 'column',&#13;&#10;        paddingTop: 20,&#13;&#10;        paddingBottom: 20,&#13;&#10;        paddingLeft: 64,&#13;&#10;        paddingRight: 64,&#13;&#10;        position: 'relative',&#13;&#10;        overflow: 'hidden',&#13;&#10;    }}&#13;&#10;&gt;&#13;&#10;    {/* visual latar: batang menanjak */}&#13;&#10;    &lt;Box style={{ position: 'absolute', top: 0, left: 0, width: 1280, height: 720 }}&gt;&#13;&#10;        &lt;svg width={1280} height={720} viewBox='0 0 1280 720'&gt;&#13;&#10;            &lt;rect x='900' y='560' width='34' height='60' fill='#FFFFFF' opacity='0.12' /&gt;&#13;&#10;            &lt;rect x='950' y='520' width='34' height='100' fill='#FFFFFF' opacity='0.12' /&gt;&#13;&#10;            &lt;rect x='1000' y='480' width='34' height='140' fill='#FFFFFF' opacity='0.12' /&gt;&#13;&#10;            &lt;rect x='1050' y='440' width='34' height='180' fill='#FFFFFF' opacity='0.12' /&gt;&#13;&#10;            &lt;rect x='1100' y='400' width='34' height='220' fill='#FFFFFF' opacity='0.12' /&gt;&#13;&#10;            &lt;rect x='1150' y='360' width='34' height='260' fill='#FFFFFF' opacity='0.12' /&gt;&#13;&#10;            &lt;rect x='1150' y='344' width='34' height='10' fill='#AFC440' opacity='0.85' /&gt;&#13;&#10;        &lt;/svg&gt;&#13;&#10;    &lt;/Box&gt;&#13;&#10;&#13;&#10;    {/* isi */}&#13;&#10;    &lt;Box&#13;&#10;        style={{&#13;&#10;            position: 'relative',&#13;&#10;            zIndex: 1,&#13;&#10;            flex: 1,&#13;&#10;            justifyContent: 'center',&#13;&#10;            alignItems: 'center',&#13;&#10;        }}&#13;&#10;    &gt;&#13;&#10;        &lt;Text style={{ fontSize: 18, fontWeight: 'bold', color: '#AFC440', letterSpacing: 4 }}&gt;BAB 03&lt;/Text&gt;&#13;&#10;        &lt;Text&#13;&#10;            style={{&#13;&#10;                fontSize: 60,&#13;&#10;                fontWeight: 'bold',&#13;&#10;                color: '#FFFFFF',&#13;&#10;                lineHeight: 1.15,&#13;&#10;                marginTop: 20,&#13;&#10;                textAlign: 'center',&#13;&#10;                fontFamily: 'Trebuchet MS',&#13;&#10;            }}&#13;&#10;        &gt;Nilai Bisnis&lt;/Text&gt;&#13;&#10;        &lt;Box style={{ width: 72, height: 6, background: '#AFC440', marginTop: 24 }} /&gt;&#13;&#10;        &lt;Text&#13;&#10;            style={{&#13;&#10;                fontSize: 20,&#13;&#10;                color: 'rgba(255,255,255,0.84)',&#13;&#10;                lineHeight: 1.6,&#13;&#10;                marginTop: 26,&#13;&#10;                maxWidth: 720,&#13;&#10;                textAlign: 'center',&#13;&#10;                fontFamily: 'Verdana',&#13;&#10;            }}&#13;&#10;        &gt;Metrik hasil pengukuran, bukan taksiran; sepuluh pasangan dampak sebelum/sesudah yang masing-masing menyebut verifiernya; dan batasan yang ditulis di halaman yang sama dengan klaimnya.&lt;/Text&gt;&#13;&#10;    &lt;/Box&gt;&#13;&#10;&#13;&#10;    {/* footer */}&#13;&#10;    &lt;Box&#13;&#10;        style={{&#13;&#10;            position: 'relative',&#13;&#10;            zIndex: 1,&#13;&#10;            height: 40,&#13;&#10;            flexDirection: 'row',&#13;&#10;            justifyContent: 'space-between',&#13;&#10;            alignItems: 'center',&#13;&#10;        }}&#13;&#10;    &gt;&#13;&#10;        &lt;Text style={{ fontSize: 14, color: 'rgba(255,255,255,0.55)' }}&gt;Pizza Snack Play · Deskripsi Proyek Visualisasi&lt;/Text&gt;&#13;&#10;        &lt;Text style={{ fontSize: 14, color: 'rgba(255,255,255,0.55)' }}&gt;13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667375" y="20097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BAB 03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657725" y="2409825"/>
            <a:ext cx="2886075" cy="790575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Nilai Bisnis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753100" y="342900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10972800" cy="7334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Metrik hasil pengukuran, bukan taksiran; sepuluh pasangan dampak sebelum/sesudah yang masing-masing menyebut verifiernya; dan batasan yang ditulis di halaman yang sama dengan klaimnya.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9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Tiga angka, tiga penilaian&lt;/Text&gt;&#13;&#10;        &lt;Box style={{ width: 72, height: 6, background: '#51277C', marginTop: 12 }} /&gt;&#13;&#10;    &lt;/Box&gt;&#13;&#10;&#13;&#10;    {/* ── zona B ── */}&#13;&#10;    &lt;Box style={{ height: 530, flexDirection: 'column', justifyContent: 'center' }}&gt;&#13;&#10;        {/* tiga angka raksasa */}&#13;&#10;        &lt;Box style={{ flexDirection: 'row', gap: 36 }}&gt;&#13;&#10;            &lt;Box style={{ flex: 1, flexDirection: 'column' }}&gt;&#13;&#10;                &lt;Text&#13;&#10;                    style={{&#13;&#10;                        fontSize: 84,&#13;&#10;                        fontWeight: 'bold',&#13;&#10;                        color: '#51277C',&#13;&#10;                        lineHeight: 1.05,&#13;&#10;                        fontFamily: 'Trebuchet MS',&#13;&#10;                    }}&#13;&#10;                &gt;&#13;&#10;                    113&#13;&#10;                &lt;/Text&gt;&#13;&#10;                &lt;Text style={{ fontSize: 15, fontWeight: 'bold', color: '#2A2333', marginTop: 10 }}&gt;commit dalam 31 hari&lt;/Text&gt;&#13;&#10;                &lt;Text style={{ fontSize: 15, color: '#6B6478', lineHeight: 1.5, marginTop: 8 }}&gt;Di 17 hari aktif — rata-rata 6,6 commit pada hari proyek bergerak.&lt;/Text&gt;&#13;&#10;            &lt;/Box&gt;&#13;&#10;&#13;&#10;            &lt;Box style={{ flex: 1, flexDirection: 'column' }}&gt;&#13;&#10;                &lt;Text&#13;&#10;                    style={{&#13;&#10;                        fontSize: 84,&#13;&#10;                        fontWeight: 'bold',&#13;&#10;                        color: '#51277C',&#13;&#10;                        lineHeight: 1.05,&#13;&#10;                        fontFamily: 'Trebuchet MS',&#13;&#10;                    }}&#13;&#10;                &gt;&#13;&#10;                    540&#13;&#10;                &lt;/Text&gt;&#13;&#10;                &lt;Text style={{ fontSize: 15, fontWeight: 'bold', color: '#2A2333', marginTop: 10 }}&gt;assertion integrasi&lt;/Text&gt;&#13;&#10;                &lt;Text style={{ fontSize: 15, color: '#6B6478', lineHeight: 1.5, marginTop: 8 }}&gt;Plus 85 uji unit dan 21 kasus UAT. Setiap aturan bisnis punya verifier yang disebut namanya.&lt;/Text&gt;&#13;&#10;            &lt;/Box&gt;&#13;&#10;&#13;&#10;            &lt;Box style={{ flex: 1, flexDirection: 'column' }}&gt;&#13;&#10;                &lt;Text&#13;&#10;                    style={{&#13;&#10;                        fontSize: 84,&#13;&#10;                        fontWeight: 'bold',&#13;&#10;                        color: '#c4762a',&#13;&#10;                        lineHeight: 1.05,&#13;&#10;                        fontFamily: 'Trebuchet MS',&#13;&#10;                    }}&#13;&#10;                &gt;&#13;&#10;                    0&#13;&#10;                &lt;/Text&gt;&#13;&#10;                &lt;Text style={{ fontSize: 15, fontWeight: 'bold', color: '#2A2333', marginTop: 10 }}&gt;biaya infrastruktur marginal&lt;/Text&gt;&#13;&#10;                &lt;Text style={{ fontSize: 15, color: '#6B6478', lineHeight: 1.5, marginTop: 8 }}&gt;Workers dan D1 di tier gratis. Program snack tidak punya anggaran perangkat lunak.&lt;/Text&gt;&#13;&#10;            &lt;/Box&gt;&#13;&#10;        &lt;/Box&gt;&#13;&#10;&#13;&#10;        {/* strip tick */}&#13;&#10;        &lt;Box style={{ marginTop: 44 }}&gt;&#13;&#10;            &lt;Text style={{ fontSize: 16, fontWeight: 'bold', color: '#2A2333' }}&gt;Commit per hari aktif&lt;/Text&gt;&#13;&#10;            &lt;Box style={{ marginTop: 10 }}&gt;&#13;&#10;                &lt;svg width={1150} height={150} viewBox='0 0 1150 150'&gt;&#13;&#10;                    &lt;line x1='0' y1='112' x2='1150' y2='112' stroke='rgba(81,39,124,0.28)' strokeWidth='1.2' /&gt;&#13;&#10;&#13;&#10;                    &lt;rect x='13' y='49' width='52' height='63' fill='#51277C' /&gt;&#13;&#10;                    &lt;rect x='80' y='22' width='52' height='90' fill='#51277C' /&gt;&#13;&#10;                    &lt;rect x='147' y='22' width='52' height='90' fill='#51277C' /&gt;&#13;&#10;                    &lt;rect x='214' y='91' width='52' height='21' fill='#51277C' /&gt;&#13;&#10;                    &lt;rect x='281' y='106' width='52' height='6' fill='#51277C' /&gt;&#13;&#10;                    &lt;rect x='348' y='54' width='52' height='58' fill='#51277C' /&gt;&#13;&#10;                    &lt;rect x='415' y='106' width='52' height='6' fill='#51277C' /&gt;&#13;&#10;                    &lt;rect x='482' y='96' width='52' height='16' fill='#51277C' /&gt;&#13;&#10;                    &lt;rect x='549' y='54' width='52' height='58' fill='#51277C' /&gt;&#13;&#10;                    &lt;rect x='616' y='86' width='52' height='26' fill='#51277C' /&gt;&#13;&#10;                    &lt;rect x='683' y='101' width='52' height='11' fill='#51277C' /&gt;&#13;&#10;                    &lt;rect x='750' y='96' width='52' height='16' fill='#51277C' /&gt;&#13;&#10;                    &lt;rect x='817' y='101' width='52' height='11' fill='#51277C' /&gt;&#13;&#10;                    &lt;rect x='884' y='80' width='52' height='32' fill='#51277C' /&gt;&#13;&#10;                    &lt;rect x='951' y='96' width='52' height='16' fill='#51277C' /&gt;&#13;&#10;                    &lt;rect x='1018' y='49' width='52' height='63' fill='#51277C' /&gt;&#13;&#10;                    &lt;rect x='1085' y='96' width='52' height='16' fill='#51277C' /&gt;&#13;&#10;&#13;&#10;                    &lt;line x1='0' y1='77' x2='1150' y2='77' stroke='#AFC440' strokeWidth='1.4' strokeDasharray='6 4' /&gt;&#13;&#10;                    &lt;text x='1150' y='70' textAnchor='end' fontFamily='Verdana' fontSize='12' fontWeight='bold' fill='#576420'&gt;rata-rata 6,6&lt;/text&gt;&#13;&#10;&#13;&#10;                    &lt;text x='39' y='130' textAnchor='middle' fontFamily='Verdana' fontSize='10' fill='#6B6478'&gt;09-17&lt;/text&gt;&#13;&#10;                    &lt;text x='106' y='130' textAnchor='middle' fontFamily='Verdana' fontSize='10' fill='#6B6478'&gt;09-18&lt;/text&gt;&#13;&#10;                    &lt;text x='173' y='130' textAnchor='middle' fontFamily='Verdana' fontSize='10' fill='#6B6478'&gt;09-19&lt;/text&gt;&#13;&#10;                    &lt;text x='240' y='130' textAnchor='middle' fontFamily='Verdana' fontSize='10' fill='#6B6478'&gt;09-20&lt;/text&gt;&#13;&#10;                    &lt;text x='307' y='130' textAnchor='middle' fontFamily='Verdana' fontSize='10' fill='#6B6478'&gt;09-21&lt;/text&gt;&#13;&#10;                    &lt;text x='374' y='130' textAnchor='middle' fontFamily='Verdana' fontSize='10' fill='#6B6478'&gt;09-22&lt;/text&gt;&#13;&#10;                    &lt;text x='441' y='130' textAnchor='middle' fontFamily='Verdana' fontSize='10' fill='#6B6478'&gt;09-23&lt;/text&gt;&#13;&#10;                    &lt;text x='508' y='130' textAnchor='middle' fontFamily='Verdana' fontSize='10' fill='#6B6478'&gt;09-27&lt;/text&gt;&#13;&#10;                    &lt;text x='575' y='130' textAnchor='middle' fontFamily='Verdana' fontSize='10' fill='#6B6478'&gt;09-28&lt;/text&gt;&#13;&#10;                    &lt;text x='642' y='130' textAnchor='middle' fontFamily='Verdana' fontSize='10' fill='#6B6478'&gt;09-30&lt;/text&gt;&#13;&#10;                    &lt;text x='709' y='130' textAnchor='middle' fontFamily='Verdana' fontSize='10' fill='#6B6478'&gt;10-01&lt;/text&gt;&#13;&#10;                    &lt;text x='776' y='130' textAnchor='middle' fontFamily='Verdana' fontSize='10' fill='#6B6478'&gt;10-07&lt;/text&gt;&#13;&#10;                    &lt;text x='843' y='130' textAnchor='middle' fontFamily='Verdana' fontSize='10' fill='#6B6478'&gt;10-08&lt;/text&gt;&#13;&#10;                    &lt;text x='910' y='130' textAnchor='middle' fontFamily='Verdana' fontSize='10' fill='#6B6478'&gt;10-12&lt;/text&gt;&#13;&#10;                    &lt;text x='977' y='130' textAnchor='middle' fontFamily='Verdana' fontSize='10' fill='#6B6478'&gt;10-14&lt;/text&gt;&#13;&#10;                    &lt;text x='1044' y='130' textAnchor='middle' fontFamily='Verdana' fontSize='10' fill='#6B6478'&gt;10-15&lt;/text&gt;&#13;&#10;                    &lt;text x='1111' y='130' textAnchor='middle' fontFamily='Verdana' fontSize='10' fill='#6B6478'&gt;10-16&lt;/text&gt;&#13;&#10;                &lt;/svg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14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Tiga angka, tiga penilaian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51277C"/>
                </a:solidFill>
                <a:latin typeface="Trebuchet MS"/>
                <a:ea typeface="Trebuchet MS"/>
              </a:rPr>
              <a:t>113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commit dalam 31 hari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Di 17 hari aktif — rata-rata 6,6 commit pada hari proyek bergerak.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3815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51277C"/>
                </a:solidFill>
                <a:latin typeface="Trebuchet MS"/>
                <a:ea typeface="Trebuchet MS"/>
              </a:rPr>
              <a:t>540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3815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assertion integrasi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3815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Plus 85 uji unit dan 21 kasus UAT. Setiap aturan bisnis punya verifier yang disebut namanya.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534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C4762A"/>
                </a:solidFill>
                <a:latin typeface="Trebuchet MS"/>
                <a:ea typeface="Trebuchet MS"/>
              </a:rPr>
              <a:t>0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534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biaya infrastruktur marginal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534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Workers dan D1 di tier gratis. Program snack tidak punya anggaran perangkat lunak.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2333"/>
                </a:solidFill>
                <a:latin typeface="Microsoft YaHei"/>
                <a:ea typeface="Microsoft YaHei"/>
              </a:rPr>
              <a:t>Commit per hari aktif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333875"/>
            <a:ext cx="10953750" cy="142875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&#13;&#10;    style={{&#13;&#10;        width: '1280px',&#13;&#10;        height: '720px',&#13;&#10;        background: '#FAF7F2',&#13;&#10;        flexDirection: 'column',&#13;&#10;        paddingTop: 20,&#13;&#10;        paddingBottom: 20,&#13;&#10;        paddingLeft: 64,&#13;&#10;        paddingRight: 64,&#13;&#10;        position: 'relative',&#13;&#10;    }}&#13;&#10;&gt;&#13;&#10;    {/* ── zona A ── */}&#13;&#10;    &lt;Box style={{ height: 110, justifyContent: 'flex-start' }}&gt;&#13;&#10;        &lt;Text&#13;&#10;            style={{&#13;&#10;                fontSize: 34,&#13;&#10;                fontWeight: 'bold',&#13;&#10;                color: '#2A2333',&#13;&#10;                lineHeight: 1.3,&#13;&#10;                fontFamily: 'Trebuchet MS',&#13;&#10;            }}&#13;&#10;        &gt;Dampak, sebelum dan sesudah&lt;/Text&gt;&#13;&#10;        &lt;Box style={{ width: 72, height: 6, background: '#51277C', marginTop: 12 }} /&gt;&#13;&#10;    &lt;/Box&gt;&#13;&#10;&#13;&#10;    {/* ── zona B ── */}&#13;&#10;    &lt;Box style={{ height: 530, flexDirection: 'row', gap: 24 }}&gt;&#13;&#10;        {/* kiri: pasangan before/after */}&#13;&#10;        &lt;Box style={{ flex: 60, flexDirection: 'column' }}&gt;&#13;&#10;            &lt;Box style={{ flexDirection: 'row', paddingBottom: 10 }}&gt;&#13;&#10;                &lt;Box style={{ width: 150 }}&gt;&#13;&#10;                    &lt;Text style={{ fontSize: 12, fontWeight: 'bold', color: '#6B6478', letterSpacing: 0.8 }}&gt;DAMPAK&lt;/Text&gt;&#13;&#10;                &lt;/Box&gt;&#13;&#10;                &lt;Box style={{ flex: 1 }}&gt;&#13;&#10;                    &lt;Text style={{ fontSize: 12, fontWeight: 'bold', color: '#6B6478', letterSpacing: 0.8 }}&gt;SEBELUM&lt;/Text&gt;&#13;&#10;                &lt;/Box&gt;&#13;&#10;                &lt;Box style={{ flex: 1 }}&gt;&#13;&#10;                    &lt;Text style={{ fontSize: 12, fontWeight: 'bold', color: '#576420', letterSpacing: 0.8 }}&gt;SESUDAH&lt;/Text&gt;&#13;&#10;                &lt;/Box&gt;&#13;&#10;            &lt;/Box&gt;&#13;&#10;            &lt;Box style={{ height: 1, background: 'rgba(81,39,124,0.22)' }} /&gt;&#13;&#10;&#13;&#10;            &lt;Box style={{ flexDirection: 'row', paddingTop: 16, paddingBottom: 16 }}&gt;&#13;&#10;                &lt;Box style={{ width: 150, paddingRight: 12 }}&gt;&#13;&#10;                    &lt;Text style={{ fontSize: 15, fontWeight: 'bold', color: '#51277C' }}&gt;I1&lt;/Text&gt;&#13;&#10;                    &lt;Text style={{ fontSize: 14, color: '#2A2333', lineHeight: 1.35, marginTop: 3 }}&gt;Snack hari ini&lt;/Text&gt;&#13;&#10;                &lt;/Box&gt;&#13;&#10;                &lt;Box style={{ flex: 1, paddingRight: 14 }}&gt;&#13;&#10;                    &lt;Text style={{ fontSize: 14, color: '#6B6478', lineHeight: 1.45 }}&gt;Buka berkas teks, cari tanggalnya, baca satu baris&lt;/Text&gt;&#13;&#10;                &lt;/Box&gt;&#13;&#10;                &lt;Box style={{ flex: 1 }}&gt;&#13;&#10;                    &lt;Text style={{ fontSize: 14, color: '#576420', lineHeight: 1.45 }}&gt;Satu layar setelah masuk — lengkap dengan tautan WhatsApp wali petugas&lt;/Text&gt;&#13;&#10;                    &lt;Text style={{ fontSize: 12, color: '#6B6478', marginTop: 5 }}&gt;&#13;&#10;                        check-hari-ini-layout.mjs&#13;&#10;                    &lt;/Text&gt;&#13;&#10;                &lt;/Box&gt;&#13;&#10;            &lt;/Box&gt;&#13;&#10;            &lt;Box style={{ height: 1, background: 'rgba(81,39,124,0.14)' }} /&gt;&#13;&#10;&#13;&#10;            &lt;Box style={{ flexDirection: 'row', paddingTop: 16, paddingBottom: 16 }}&gt;&#13;&#10;                &lt;Box style={{ width: 150, paddingRight: 12 }}&gt;&#13;&#10;                    &lt;Text style={{ fontSize: 15, fontWeight: 'bold', color: '#51277C' }}&gt;I4&lt;/Text&gt;&#13;&#10;                    &lt;Text style={{ fontSize: 14, color: '#2A2333', lineHeight: 1.35, marginTop: 3 }}&gt;Kelas terbit separuh&lt;/Text&gt;&#13;&#10;                &lt;/Box&gt;&#13;&#10;                &lt;Box style={{ flex: 1, paddingRight: 14 }}&gt;&#13;&#10;                    &lt;Text style={{ fontSize: 14, color: '#6B6478', lineHeight: 1.45 }}&gt;Tidak terdeteksi — berkasnya dikirim atau tidak&lt;/Text&gt;&#13;&#10;                &lt;/Box&gt;&#13;&#10;                &lt;Box style={{ flex: 1 }}&gt;&#13;&#10;                    &lt;Text style={{ fontSize: 14, color: '#576420', lineHeight: 1.45, fontWeight: 'bold' }}&gt;Mustahil. Publikasi menolak dengan 409 dan menyebut kelasnya&lt;/Text&gt;&#13;&#10;                    &lt;Text style={{ fontSize: 12, color: '#6B6478', marginTop: 5 }}&gt;test-status.mjs · 22 assertion&lt;/Text&gt;&#13;&#10;                &lt;/Box&gt;&#13;&#10;            &lt;/Box&gt;&#13;&#10;            &lt;Box style={{ height: 1, background: 'rgba(81,39,124,0.14)' }} /&gt;&#13;&#10;&#13;&#10;            &lt;Box style={{ flexDirection: 'row', paddingTop: 16, paddingBottom: 16 }}&gt;&#13;&#10;                &lt;Box style={{ width: 150, paddingRight: 12 }}&gt;&#13;&#10;                    &lt;Text style={{ fontSize: 15, fontWeight: 'bold', color: '#51277C' }}&gt;I5&lt;/Text&gt;&#13;&#10;                    &lt;Text style={{ fontSize: 14, color: '#2A2333', lineHeight: 1.35, marginTop: 3 }}&gt;Keadilan beban piket&lt;/Text&gt;&#13;&#10;                &lt;/Box&gt;&#13;&#10;                &lt;Box style={{ flex: 1, paddingRight: 14 }}&gt;&#13;&#10;                    &lt;Text style={{ fontSize: 14, color: '#6B6478', lineHeight: 1.45 }}&gt;Hanya perasaan, tak bisa diverifikasi — berkasnya mencatat piket, bukan klaim&lt;/Text&gt;&#13;&#10;                &lt;/Box&gt;&#13;&#10;                &lt;Box style={{ flex: 1 }}&gt;&#13;&#10;                    &lt;Text style={{ fontSize: 14, color: '#576420', lineHeight: 1.45 }}&gt;Laporan yang memeringkat setiap orang tua menurut piket yang diambil, plus siapa yang belum pernah&lt;/Text&gt;&#13;&#10;                    &lt;Text style={{ fontSize: 12, color: '#6B6478', marginTop: 5 }}&gt;GET /api/laporan · berbasis klaim&lt;/Text&gt;&#13;&#10;                &lt;/Box&gt;&#13;&#10;            &lt;/Box&gt;&#13;&#10;            &lt;Box style={{ height: 1, background: 'rgba(81,39,124,0.14)' }} /&gt;&#13;&#10;&#13;&#10;            &lt;Box style={{ flexDirection: 'row', paddingTop: 16, paddingBottom: 16 }}&gt;&#13;&#10;                &lt;Box style={{ width: 150, paddingRight: 12 }}&gt;&#13;&#10;                    &lt;Text style={{ fontSize: 15, fontWeight: 'bold', color: '#51277C' }}&gt;I6&lt;/Text&gt;&#13;&#10;                    &lt;Text style={{ fontSize: 14, color: '#2A2333', lineHeight: 1.35, marginTop: 3 }}&gt;Mengambil tanggal&lt;/Text&gt;&#13;&#10;                &lt;/Box&gt;&#13;&#10;                &lt;Box style={{ flex: 1, paddingRight: 14 }}&gt;&#13;&#10;                    &lt;Text style={{ fontSize: 14, color: '#6B6478', lineHeight: 1.45 }}&gt;Balasan pertama di grup yang menang, tanpa jejak&lt;/Text&gt;&#13;&#10;                &lt;/Box&gt;&#13;&#10;                &lt;Box style={{ flex: 1 }}&gt;&#13;&#10;                    &lt;Text style={{ fontSize: 14, color: '#576420', lineHeight: 1.45 }}&gt;Aman dari rebutan di level basis data lewat UNIQUE(schedule_id)&lt;/Text&gt;&#13;&#10;                    &lt;Text style={{ fontSize: 12, color: '#6B6478', marginTop: 5 }}&gt;test-claim-cross-class.mjs · 9 assertion&lt;/Text&gt;&#13;&#10;                &lt;/Box&gt;&#13;&#10;            &lt;/Box&gt;&#13;&#10;        &lt;/Box&gt;&#13;&#10;&#13;&#10;        {/* kanan: batas yang jujur */}&#13;&#10;        &lt;Box&#13;&#10;            style={{&#13;&#10;                flex: 40,&#13;&#10;                background: 'rgba(81,39,124,0.06)',&#13;&#10;                borderRadius: 10,&#13;&#10;                paddingTop: 20,&#13;&#10;                paddingBottom: 20,&#13;&#10;                paddingLeft: 22,&#13;&#10;                paddingRight: 22,&#13;&#10;                borderTop: '3px solid #F3B26C',&#13;&#10;                flexDirection: 'column',&#13;&#10;            }}&#13;&#10;        &gt;&#13;&#10;            &lt;Text&#13;&#10;                style={{&#13;&#10;                    fontSize: 19,&#13;&#10;                    fontWeight: 'bold',&#13;&#10;                    color: '#c4762a',&#13;&#10;                    fontFamily: 'Trebuchet MS',&#13;&#10;                }}&#13;&#10;            &gt;Batasan yang jujur&lt;/Text&gt;&#13;&#10;            &lt;Text style={{ fontSize: 14, color: '#6B6478', lineHeight: 1.45, marginTop: 10 }}&gt;Ekspor PDF belum dibuat — Excel sudah; PDF untuk cetak masih terbuka.&lt;/Text&gt;&#13;&#10;            &lt;Text style={{ fontSize: 14, color: '#6B6478', lineHeight: 1.45, marginTop: 9 }}&gt;Tanpa notifikasi push. Aplikasi harus dibuka untuk dibaca.&lt;/Text&gt;&#13;&#10;            &lt;Text style={{ fontSize: 14, color: '#6B6478', lineHeight: 1.45, marginTop: 9 }}&gt;Tanpa akun siswa — piket dimodelkan sebagai kewajiban keluarga.&lt;/Text&gt;&#13;&#10;            &lt;Text style={{ fontSize: 14, color: '#6B6478', lineHeight: 1.45, marginTop: 9 }}&gt;Tanpa data offline: jadwal basi lebih buruk daripada tidak ada jadwal.&lt;/Text&gt;&#13;&#10;            &lt;Text style={{ fontSize: 14, color: '#6B6478', lineHeight: 1.45, marginTop: 9 }}&gt;Tanpa analitik pemakaian, jadi adopsi bisa diukur tapi belum diukur.&lt;/Text&gt;&#13;&#10;            &lt;Text style={{ fontSize: 14, color: '#6B6478', lineHeight: 1.45, marginTop: 9 }}&gt;import_logs ditulis tapi belum ditampilkan.&lt;/Text&gt;&#13;&#10;            &lt;Text style={{ fontSize: 14, color: '#6B6478', lineHeight: 1.45, marginTop: 9 }}&gt;Satu sekolah: tidak ada kolom school_id, jadi multi-tenant berarti migrasi.&lt;/Text&gt;&#13;&#10;            &lt;Box style={{ marginTop: 'auto', flexDirection: 'row', gap: 10, alignItems: 'center' }}&gt;&#13;&#10;                &lt;Box style={{ width: 6, height: 22, background: '#F3B26C' }} /&gt;&#13;&#10;                &lt;Text style={{ fontSize: 14, color: '#51277C', lineHeight: 1.4, flex: 1 }}&gt;Deskripsi yang mengaku tanpa celah bukan deskripsi sistem sungguhan.&lt;/Text&gt;&#13;&#10;            &lt;/Box&gt;&#13;&#10;        &lt;/Box&gt;&#13;&#10;    &lt;/Box&gt;&#13;&#10;&#13;&#10;    {/* ── zona C ── */}&#13;&#10;    &lt;Box&#13;&#10;        style={{&#13;&#10;            height: 40,&#13;&#10;            flexDirection: 'row',&#13;&#10;            justifyContent: 'space-between',&#13;&#10;            alignItems: 'center',&#13;&#10;        }}&#13;&#10;    &gt;&#13;&#10;        &lt;Text style={{ fontSize: 14, color: '#6B6478' }}&gt;Pizza Snack Play · Deskripsi Proyek Visualisasi&lt;/Text&gt;&#13;&#10;        &lt;Text style={{ fontSize: 14, color: '#6B6478' }}&gt;15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Dampak, sebelum dan sesudah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6B6478"/>
                </a:solidFill>
                <a:latin typeface="Microsoft YaHei"/>
                <a:ea typeface="Microsoft YaHei"/>
              </a:rPr>
              <a:t>DAMPAK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038350" y="1238250"/>
            <a:ext cx="2514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6B6478"/>
                </a:solidFill>
                <a:latin typeface="Microsoft YaHei"/>
                <a:ea typeface="Microsoft YaHei"/>
              </a:rPr>
              <a:t>SEBELUM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552950" y="123825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576420"/>
                </a:solidFill>
                <a:latin typeface="Microsoft YaHei"/>
                <a:ea typeface="Microsoft YaHei"/>
              </a:rPr>
              <a:t>SESUDAH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476375"/>
            <a:ext cx="6448425" cy="9525"/>
          </a:xfrm>
          <a:prstGeom prst="rect">
            <a:avLst/>
          </a:prstGeom>
          <a:solidFill>
            <a:srgbClr val="51277C">
              <a:alpha val="22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1838325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Snack hari ini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038350" y="163830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Buka berkas teks, cari tanggalnya, baca satu baris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552950" y="163830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Satu layar setelah masuk — lengkap dengan tautan WhatsApp wali petugas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check-hari-ini-layout.mjs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2447925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I4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Kelas terbit separuh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38350" y="260985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Tidak terdeteksi — berkasnya dikirim atau tidak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552950" y="260985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576420"/>
                </a:solidFill>
                <a:latin typeface="Microsoft YaHei"/>
                <a:ea typeface="Microsoft YaHei"/>
              </a:rPr>
              <a:t>Mustahil. Publikasi menolak dengan 409 dan menyebut kelasnya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52950" y="312420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test-status.mjs · 22 assertion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3419475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I5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3781425"/>
            <a:ext cx="1314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Keadilan beban piket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038350" y="3581400"/>
            <a:ext cx="23812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Hanya perasaan, tak bisa diverifikasi — berkasnya mencatat piket, bukan klaim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552950" y="3581400"/>
            <a:ext cx="25050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Laporan yang memeringkat setiap orang tua menurut piket yang diambil, plus siapa yang belum pernah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52950" y="43338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GET /api/laporan · berbasis klaim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4629150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4791075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I6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4991100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Mengambil tanggal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038350" y="4791075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Balasan pertama di grup yang menang, tanpa jejak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552950" y="4791075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Aman dari rebutan di level basis data lewat UNIQUE(schedule_id)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552950" y="530542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test-claim-cross-class.mjs · 9 assertion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286625" y="1266825"/>
            <a:ext cx="4295775" cy="5048250"/>
          </a:xfrm>
          <a:prstGeom prst="roundRect">
            <a:avLst>
              <a:gd name="adj" fmla="val 2217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286625" y="1266825"/>
            <a:ext cx="4295775" cy="5048250"/>
          </a:xfrm>
          <a:custGeom>
            <a:pathLst>
              <a:path w="451" h="530">
                <a:moveTo>
                  <a:pt x="441" y="0"/>
                </a:moveTo>
                <a:cubicBezTo>
                  <a:pt x="446" y="0"/>
                  <a:pt x="450" y="3"/>
                  <a:pt x="451" y="8"/>
                </a:cubicBezTo>
                <a:cubicBezTo>
                  <a:pt x="450" y="5"/>
                  <a:pt x="447" y="3"/>
                  <a:pt x="44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1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96175" y="1457325"/>
            <a:ext cx="3876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762A"/>
                </a:solidFill>
                <a:latin typeface="Trebuchet MS"/>
                <a:ea typeface="Trebuchet MS"/>
              </a:rPr>
              <a:t>Batasan yang jujur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96175" y="17716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Ekspor PDF belum dibuat — Excel sudah; PDF untuk cetak masih terbuka.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96175" y="2324100"/>
            <a:ext cx="3876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Tanpa notifikasi push. Aplikasi harus dibuka untuk dibaca.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96175" y="26479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Tanpa akun siswa — piket dimodelkan sebagai kewajiban keluarga.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96175" y="320040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Tanpa data offline: jadwal basi lebih buruk daripada tidak ada jadwal.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496175" y="37528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Tanpa analitik pemakaian, jadi adopsi bisa diukur tapi belum diukur.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96175" y="4305300"/>
            <a:ext cx="3876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import_logs ditulis tapi belum ditampilkan.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96175" y="46291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Satu sekolah: tidak ada kolom school_id, jadi multi-tenant berarti migrasi.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496175" y="5762625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48575" y="5638800"/>
            <a:ext cx="37242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51277C"/>
                </a:solidFill>
                <a:latin typeface="Microsoft YaHei"/>
                <a:ea typeface="Microsoft YaHei"/>
              </a:rPr>
              <a:t>Deskripsi yang mengaku tanpa celah bukan deskripsi sistem sungguhan.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1" name="" descr="&lt;Slide&#13;&#10;    style={{&#13;&#10;        width: '1280px',&#13;&#10;        height: '720px',&#13;&#10;        background: 'linear-gradient(135deg, #51277C 0%, #7A45A8 100%)',&#13;&#10;        flexDirection: 'column',&#13;&#10;        paddingTop: 20,&#13;&#10;        paddingBottom: 20,&#13;&#10;        paddingLeft: 64,&#13;&#10;        paddingRight: 64,&#13;&#10;        position: 'relative',&#13;&#10;        overflow: 'hidden',&#13;&#10;    }}&#13;&#10;&gt;&#13;&#10;    {/* visual latar */}&#13;&#10;    &lt;Box&#13;&#10;        style={{&#13;&#10;            position: 'absolute',&#13;&#10;            top: -190,&#13;&#10;            right: -140,&#13;&#10;            width: 560,&#13;&#10;            height: 560,&#13;&#10;            borderRadius: 280,&#13;&#10;            background: 'linear-gradient(135deg, #AFC440 0%, #F3B26C 100%)',&#13;&#10;            opacity: 0.16,&#13;&#10;        }}&#13;&#10;    /&gt;&#13;&#10;    &lt;Box&#13;&#10;        style={{&#13;&#10;            position: 'absolute',&#13;&#10;            bottom: -230,&#13;&#10;            left: -150,&#13;&#10;            width: 620,&#13;&#10;            height: 620,&#13;&#10;            borderRadius: 310,&#13;&#10;            background: '#FFFFFF',&#13;&#10;            opacity: 0.06,&#13;&#10;        }}&#13;&#10;    /&gt;&#13;&#10;&#13;&#10;    {/* isi */}&#13;&#10;    &lt;Box&#13;&#10;        style={{&#13;&#10;            position: 'relative',&#13;&#10;            zIndex: 1,&#13;&#10;            flex: 1,&#13;&#10;            justifyContent: 'center',&#13;&#10;            alignItems: 'center',&#13;&#10;        }}&#13;&#10;    &gt;&#13;&#10;        &lt;Box&#13;&#10;            style={{&#13;&#10;                width: 264,&#13;&#10;                height: 264,&#13;&#10;                borderRadius: 132,&#13;&#10;                background: 'rgba(255,255,255,0.14)',&#13;&#10;                justifyContent: 'center',&#13;&#10;                alignItems: 'center',&#13;&#10;            }}&#13;&#10;        &gt;&#13;&#10;            &lt;Image&#13;&#10;                src='assets/app_logo.png'&#13;&#10;                style={{ width: 196, height: 190, objectFit: 'contain' }}&#13;&#10;            /&gt;&#13;&#10;        &lt;/Box&gt;&#13;&#10;&#13;&#10;        &lt;Text&#13;&#10;            style={{&#13;&#10;                fontSize: 46,&#13;&#10;                fontWeight: 'bold',&#13;&#10;                color: '#FFFFFF',&#13;&#10;                lineHeight: 1.2,&#13;&#10;                marginTop: 40,&#13;&#10;                textAlign: 'center',&#13;&#10;                fontFamily: 'Trebuchet MS',&#13;&#10;            }}&#13;&#10;        &gt;Kewajiban bersama, akhirnya bisa ditanyakan.&lt;/Text&gt;&#13;&#10;&#13;&#10;        &lt;Box style={{ width: 72, height: 6, background: '#AFC440', marginTop: 26 }} /&gt;&#13;&#10;&#13;&#10;        &lt;Text&#13;&#10;            style={{&#13;&#10;                fontSize: 18,&#13;&#10;                color: 'rgba(255,255,255,0.84)',&#13;&#10;                lineHeight: 1.6,&#13;&#10;                marginTop: 26,&#13;&#10;                textAlign: 'center',&#13;&#10;                maxWidth: 760,&#13;&#10;                fontFamily: 'Verdana',&#13;&#10;            }}&#13;&#10;        &gt;Berjalan di produksi untuk satu sekolah, dibangun dalam 31 hari lewat prompt — dan setiap angka di dek ini bisa dilacak ke berkas di repositori.&lt;/Text&gt;&#13;&#10;&#13;&#10;        &lt;Box&#13;&#10;            style={{&#13;&#10;                marginTop: 34,&#13;&#10;                background: 'rgba(255,255,255,0.12)',&#13;&#10;                borderRadius: 999,&#13;&#10;                paddingTop: 12,&#13;&#10;                paddingBottom: 12,&#13;&#10;                paddingLeft: 26,&#13;&#10;                paddingRight: 26,&#13;&#10;            }}&#13;&#10;        &gt;&#13;&#10;            &lt;Text style={{ fontSize: 15, color: '#FFFFFF', fontFamily: 'Verdana' }}&gt;&#13;&#10;                pizza-snack-play.topidesta.workers.dev&#13;&#10;            &lt;/Text&gt;&#13;&#10;        &lt;/Box&gt;&#13;&#10;    &lt;/Box&gt;&#13;&#10;&#13;&#10;    {/* footer */}&#13;&#10;    &lt;Box&#13;&#10;        style={{&#13;&#10;            position: 'relative',&#13;&#10;            zIndex: 1,&#13;&#10;            height: 40,&#13;&#10;            flexDirection: 'row',&#13;&#10;            justifyContent: 'space-between',&#13;&#10;            alignItems: 'center',&#13;&#10;        }}&#13;&#10;    &gt;&#13;&#10;        &lt;Text style={{ fontSize: 14, color: 'rgba(255,255,255,0.55)' }}&gt;Pizza Snack Play · Deskripsi Proyek Visualisasi&lt;/Text&gt;&#13;&#10;        &lt;Text style={{ fontSize: 14, color: 'rgba(255,255,255,0.55)' }}&gt;16 / 1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8191500" y="-1809750"/>
            <a:ext cx="5334000" cy="5334000"/>
          </a:xfrm>
          <a:custGeom>
            <a:pathLst>
              <a:path w="560" h="560">
                <a:moveTo>
                  <a:pt x="420" y="522"/>
                </a:move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5" y="190"/>
                </a:lnTo>
                <a:lnTo>
                  <a:pt x="420" y="190"/>
                </a:lnTo>
                <a:close/>
              </a:path>
            </a:pathLst>
          </a:custGeom>
          <a:gradFill>
            <a:gsLst>
              <a:gs pos="0">
                <a:srgbClr val="AFC440">
                  <a:alpha val="16000"/>
                </a:srgbClr>
              </a:gs>
              <a:gs pos="100000">
                <a:srgbClr val="F3B26C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-1428750" y="314325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10" y="390"/>
                </a:lnTo>
                <a:lnTo>
                  <a:pt x="150" y="390"/>
                </a:lnTo>
                <a:lnTo>
                  <a:pt x="150" y="44"/>
                </a:lnTo>
                <a:lnTo>
                  <a:pt x="156" y="41"/>
                </a:lnTo>
                <a:lnTo>
                  <a:pt x="162" y="37"/>
                </a:lnTo>
                <a:lnTo>
                  <a:pt x="169" y="34"/>
                </a:lnTo>
                <a:lnTo>
                  <a:pt x="176" y="31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838700" y="504825"/>
            <a:ext cx="2514600" cy="25146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rcRect l="0" t="83" r="0" b="83"/>
          <a:stretch>
            <a:fillRect/>
          </a:stretch>
        </p:blipFill>
        <p:spPr>
          <a:xfrm rot="0" flipH="0" flipV="0">
            <a:off x="5162550" y="857250"/>
            <a:ext cx="1866900" cy="180975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333500" y="3400425"/>
            <a:ext cx="9534525" cy="63817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3450" b="1">
                <a:solidFill>
                  <a:srgbClr val="FFFFFF"/>
                </a:solidFill>
                <a:latin typeface="Trebuchet MS"/>
                <a:ea typeface="Trebuchet MS"/>
              </a:rPr>
              <a:t>Kewajiban bersama, akhirnya bisa ditanyakan.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53100" y="428625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4591050"/>
            <a:ext cx="10972800" cy="6667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35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Berjalan di produksi untuk satu sekolah, dibangun dalam 31 hari lewat prompt — dan setiap angka di dek ini bisa dilacak ke berkas di repositori.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438650" y="5581650"/>
            <a:ext cx="3324225" cy="400050"/>
          </a:xfrm>
          <a:prstGeom prst="roundRect">
            <a:avLst>
              <a:gd name="adj" fmla="val 237857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686300" y="5695950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Verdana"/>
                <a:ea typeface="Verdana"/>
              </a:rPr>
              <a:t>pizza-snack-play.topidesta.workers.dev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886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Deskripsi Proyek Visualisasi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2026-10-17T16:37:22Z</dcterms:created>
  <dcterms:modified xsi:type="dcterms:W3CDTF">2026-10-17T16:37:22Z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{"AIGC":{"Label":"1","ContentProducer":"00119111010856365494821B355","ProduceID":"01a1470569d871b5876208b467d3ae22","ReservedCode1":"","ContentPropagator":"00119111010856365494821B355","PropagateID":"01a1470569d871b5876208b467d3ae22","ReservedCode2":""}}</vt:lpwstr>
  </property>
</Properties>
</file>