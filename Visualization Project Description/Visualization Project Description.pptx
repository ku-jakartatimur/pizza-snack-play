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Default Extension="png" ContentType="image/png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7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7" Type="http://schemas.openxmlformats.org/officeDocument/2006/relationships/slide" Target="slides/slide7.xml" /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5" Type="http://schemas.openxmlformats.org/officeDocument/2006/relationships/slide" Target="slides/slide5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notesMaster" Target="notesMasters/notesMaster1.xml" /><Relationship Id="rId18" Type="http://schemas.openxmlformats.org/officeDocument/2006/relationships/presProps" Target="presProps.xml" /><Relationship Id="rId19" Type="http://schemas.openxmlformats.org/officeDocument/2006/relationships/tableStyles" Target="tableStyles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20" Type="http://schemas.openxmlformats.org/officeDocument/2006/relationships/viewProps" Target="viewProps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6" Type="http://schemas.openxmlformats.org/officeDocument/2006/relationships/slide" Target="slides/slide6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9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0.sv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svg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svg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sv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7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&#10;    style={{&#10;        width: '1280px',&#10;        height: '720px',&#10;        background: '#FAF7F2',&#10;        flexDirection: 'row',&#10;        padding: 0,&#10;        position: 'relative',&#10;        overflow: 'hidden',&#10;    }}&#10;&gt;&#10;    {/* dekorasi latar */}&#10;    &lt;Box&#10;        style={{&#10;            position: 'absolute',&#10;            top: -140,&#10;            right: -120,&#10;            width: 520,&#10;            height: 520,&#10;            borderRadius: 260,&#10;            background: 'linear-gradient(135deg, #51277C 0%, #7A45A8 100%)',&#10;            opacity: 0.10,&#10;        }}&#10;    /&gt;&#10;    &lt;Box&#10;        style={{&#10;            position: 'absolute',&#10;            bottom: -90,&#10;            left: -80,&#10;            width: 360,&#10;            height: 360,&#10;            borderRadius: 180,&#10;            background: 'linear-gradient(135deg, #AFC440 0%, #F3B26C 100%)',&#10;            opacity: 0.14,&#10;        }}&#10;    /&gt;&#10;&#10;    {/* ── kolom kiri ── */}&#10;    &lt;Box&#10;        style={{&#10;            position: 'relative',&#10;            zIndex: 1,&#10;            width: '58%',&#10;            paddingTop: 92,&#10;            paddingBottom: 92,&#10;            paddingLeft: 64,&#10;            paddingRight: 28,&#10;            justifyContent: 'center',&#10;        }}&#10;    &gt;&#10;        &lt;Box&#10;            style={{&#10;                flexDirection: 'row',&#10;                alignItems: 'center',&#10;                alignSelf: 'flex-start',&#10;                background: '#51277C',&#10;                borderRadius: 999,&#10;                paddingTop: 8,&#10;                paddingBottom: 8,&#10;                paddingLeft: 18,&#10;                paddingRight: 18,&#10;            }}&#10;        &gt;&#10;            &lt;Text style={{ fontSize: 13, fontWeight: 'bold', color: '#FFFFFF', letterSpacing: 1.4 }}&gt;&#10;                VISUALIZATION PROJECT DESCRIPTION&#10;            &lt;/Text&gt;&#10;        &lt;/Box&gt;&#10;&#10;        &lt;Text&#10;            style={{&#10;                fontSize: 66,&#10;                fontWeight: 'bold',&#10;                color: '#2A2333',&#10;                lineHeight: 1.12,&#10;                marginTop: 30,&#10;                fontFamily: 'Trebuchet MS',&#10;            }}&#10;        &gt;&#10;            Pizza Snack Play&#10;        &lt;/Text&gt;&#10;&#10;        &lt;Box style={{ width: 72, height: 6, background: '#AFC440', marginTop: 24 }} /&gt;&#10;&#10;        &lt;Text&#10;            style={{&#10;                fontSize: 20,&#10;                color: '#6B6478',&#10;                lineHeight: 1.55,&#10;                marginTop: 24,&#10;                fontFamily: 'Verdana',&#10;            }}&#10;        &gt;&#10;            A school snack duty &amp; menu scheduling platform — generated by prompt, verified by&#10;            tests, and running in production for a real school.&#10;        &lt;/Text&gt;&#10;&#10;        &lt;Box style={{ flexDirection: 'row', gap: 44, marginTop: 46 }}&gt;&#10;            &lt;Box style={{ flexDirection: 'column' }}&gt;&#10;                &lt;Text&#10;                    style={{&#10;                        fontSize: 30,&#10;                        fontWeight: 'bold',&#10;                        color: '#51277C',&#10;                        fontFamily: 'Trebuchet MS',&#10;                    }}&#10;                &gt;&#10;                    113&#10;                &lt;/Text&gt;&#10;                &lt;Text style={{ fontSize: 13, color: '#6B6478', marginTop: 4 }}&gt;&#10;                    commits in 31 days&#10;                &lt;/Text&gt;&#10;            &lt;/Box&gt;&#10;            &lt;Box style={{ flexDirection: 'column' }}&gt;&#10;                &lt;Text&#10;                    style={{&#10;                        fontSize: 30,&#10;                        fontWeight: 'bold',&#10;                        color: '#51277C',&#10;                        fontFamily: 'Trebuchet MS',&#10;                    }}&#10;                &gt;&#10;                    65&#10;                &lt;/Text&gt;&#10;                &lt;Text style={{ fontSize: 13, color: '#6B6478', marginTop: 4 }}&gt;&#10;                    API endpoints&#10;                &lt;/Text&gt;&#10;            &lt;/Box&gt;&#10;            &lt;Box style={{ flexDirection: 'column' }}&gt;&#10;                &lt;Text&#10;                    style={{&#10;                        fontSize: 30,&#10;                        fontWeight: 'bold',&#10;                        color: '#c4762a',&#10;                        fontFamily: 'Trebuchet MS',&#10;                    }}&#10;                &gt;&#10;                    0&#10;                &lt;/Text&gt;&#10;                &lt;Text style={{ fontSize: 13, color: '#6B6478', marginTop: 4 }}&gt;&#10;                    infrastructure cost&#10;                &lt;/Text&gt;&#10;            &lt;/Box&gt;&#10;        &lt;/Box&gt;&#10;    &lt;/Box&gt;&#10;&#10;    {/* ── kolom kanan: logo ── */}&#10;    &lt;Box&#10;        style={{&#10;            position: 'relative',&#10;            zIndex: 1,&#10;            width: '42%',&#10;            justifyContent: 'center',&#10;            alignItems: 'center',&#10;        }}&#10;    &gt;&#10;        &lt;Box&#10;            style={{&#10;                position: 'relative',&#10;                width: 480,&#10;                height: 480,&#10;                justifyContent: 'center',&#10;                alignItems: 'center',&#10;            }}&#10;        &gt;&#10;            &lt;Box style={{ position: 'absolute', top: 0, left: 0, width: 480, height: 480 }}&gt;&#10;                &lt;svg width={480} height={480} viewBox='0 0 480 480'&gt;&#10;                    &lt;circle&#10;                        cx='240'&#10;                        cy='240'&#10;                        r='232'&#10;                        fill='none'&#10;                        stroke='#51277C'&#10;                        strokeWidth='1'&#10;                        opacity='0.16'&#10;                    /&gt;&#10;                    &lt;circle&#10;                        cx='240'&#10;                        cy='240'&#10;                        r='188'&#10;                        fill='none'&#10;                        stroke='#AFC440'&#10;                        strokeWidth='1.5'&#10;                        opacity='0.30'&#10;                    /&gt;&#10;                &lt;/svg&gt;&#10;            &lt;/Box&gt;&#10;            &lt;Box&#10;                style={{&#10;                    width: 380,&#10;                    height: 380,&#10;                    borderRadius: 190,&#10;                    background: 'linear-gradient(135deg, #51277C 0%, #7A45A8 100%)',&#10;                    justifyContent: 'center',&#10;                    alignItems: 'center',&#10;                }}&#10;            &gt;&#10;                &lt;Image&#10;                    src='assets/app_logo.png'&#10;                    style={{ width: 250, height: 243, objectFit: 'contain' }}&#10;                /&gt;&#10;            &lt;/Box&gt;&#10;        &lt;/Box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8382000" y="-1333500"/>
            <a:ext cx="4953000" cy="4953000"/>
          </a:xfrm>
          <a:custGeom>
            <a:pathLst>
              <a:path w="520" h="520">
                <a:moveTo>
                  <a:pt x="400" y="479"/>
                </a:moveTo>
                <a:lnTo>
                  <a:pt x="395" y="482"/>
                </a:lnTo>
                <a:lnTo>
                  <a:pt x="389" y="486"/>
                </a:lnTo>
                <a:lnTo>
                  <a:pt x="384" y="489"/>
                </a:lnTo>
                <a:lnTo>
                  <a:pt x="378" y="492"/>
                </a:lnTo>
                <a:lnTo>
                  <a:pt x="373" y="494"/>
                </a:lnTo>
                <a:lnTo>
                  <a:pt x="367" y="497"/>
                </a:lnTo>
                <a:lnTo>
                  <a:pt x="361" y="500"/>
                </a:lnTo>
                <a:lnTo>
                  <a:pt x="355" y="502"/>
                </a:lnTo>
                <a:lnTo>
                  <a:pt x="349" y="504"/>
                </a:lnTo>
                <a:lnTo>
                  <a:pt x="343" y="506"/>
                </a:lnTo>
                <a:lnTo>
                  <a:pt x="337" y="508"/>
                </a:lnTo>
                <a:lnTo>
                  <a:pt x="331" y="510"/>
                </a:lnTo>
                <a:lnTo>
                  <a:pt x="325" y="512"/>
                </a:lnTo>
                <a:lnTo>
                  <a:pt x="319" y="513"/>
                </a:lnTo>
                <a:lnTo>
                  <a:pt x="312" y="515"/>
                </a:lnTo>
                <a:lnTo>
                  <a:pt x="306" y="516"/>
                </a:lnTo>
                <a:lnTo>
                  <a:pt x="300" y="517"/>
                </a:lnTo>
                <a:lnTo>
                  <a:pt x="293" y="518"/>
                </a:lnTo>
                <a:lnTo>
                  <a:pt x="287" y="519"/>
                </a:lnTo>
                <a:lnTo>
                  <a:pt x="280" y="519"/>
                </a:lnTo>
                <a:lnTo>
                  <a:pt x="273" y="520"/>
                </a:lnTo>
                <a:lnTo>
                  <a:pt x="267" y="520"/>
                </a:lnTo>
                <a:lnTo>
                  <a:pt x="260" y="520"/>
                </a:lnTo>
                <a:lnTo>
                  <a:pt x="253" y="520"/>
                </a:lnTo>
                <a:lnTo>
                  <a:pt x="247" y="520"/>
                </a:lnTo>
                <a:lnTo>
                  <a:pt x="240" y="519"/>
                </a:lnTo>
                <a:lnTo>
                  <a:pt x="233" y="519"/>
                </a:lnTo>
                <a:lnTo>
                  <a:pt x="227" y="518"/>
                </a:lnTo>
                <a:lnTo>
                  <a:pt x="220" y="517"/>
                </a:lnTo>
                <a:lnTo>
                  <a:pt x="214" y="516"/>
                </a:lnTo>
                <a:lnTo>
                  <a:pt x="208" y="515"/>
                </a:lnTo>
                <a:lnTo>
                  <a:pt x="201" y="513"/>
                </a:lnTo>
                <a:lnTo>
                  <a:pt x="195" y="512"/>
                </a:lnTo>
                <a:lnTo>
                  <a:pt x="189" y="510"/>
                </a:lnTo>
                <a:lnTo>
                  <a:pt x="183" y="508"/>
                </a:lnTo>
                <a:lnTo>
                  <a:pt x="177" y="506"/>
                </a:lnTo>
                <a:lnTo>
                  <a:pt x="171" y="504"/>
                </a:lnTo>
                <a:lnTo>
                  <a:pt x="165" y="502"/>
                </a:lnTo>
                <a:lnTo>
                  <a:pt x="159" y="500"/>
                </a:lnTo>
                <a:lnTo>
                  <a:pt x="153" y="497"/>
                </a:lnTo>
                <a:lnTo>
                  <a:pt x="147" y="494"/>
                </a:lnTo>
                <a:lnTo>
                  <a:pt x="142" y="492"/>
                </a:lnTo>
                <a:lnTo>
                  <a:pt x="136" y="489"/>
                </a:lnTo>
                <a:lnTo>
                  <a:pt x="131" y="486"/>
                </a:lnTo>
                <a:lnTo>
                  <a:pt x="125" y="482"/>
                </a:lnTo>
                <a:lnTo>
                  <a:pt x="120" y="479"/>
                </a:lnTo>
                <a:lnTo>
                  <a:pt x="115" y="476"/>
                </a:lnTo>
                <a:lnTo>
                  <a:pt x="110" y="472"/>
                </a:lnTo>
                <a:lnTo>
                  <a:pt x="104" y="468"/>
                </a:lnTo>
                <a:lnTo>
                  <a:pt x="100" y="465"/>
                </a:lnTo>
                <a:lnTo>
                  <a:pt x="95" y="461"/>
                </a:lnTo>
                <a:lnTo>
                  <a:pt x="90" y="457"/>
                </a:lnTo>
                <a:lnTo>
                  <a:pt x="85" y="452"/>
                </a:lnTo>
                <a:lnTo>
                  <a:pt x="81" y="448"/>
                </a:lnTo>
                <a:lnTo>
                  <a:pt x="76" y="444"/>
                </a:lnTo>
                <a:lnTo>
                  <a:pt x="72" y="439"/>
                </a:lnTo>
                <a:lnTo>
                  <a:pt x="68" y="435"/>
                </a:lnTo>
                <a:lnTo>
                  <a:pt x="63" y="430"/>
                </a:lnTo>
                <a:lnTo>
                  <a:pt x="59" y="425"/>
                </a:lnTo>
                <a:lnTo>
                  <a:pt x="55" y="420"/>
                </a:lnTo>
                <a:lnTo>
                  <a:pt x="52" y="416"/>
                </a:lnTo>
                <a:lnTo>
                  <a:pt x="48" y="410"/>
                </a:lnTo>
                <a:lnTo>
                  <a:pt x="44" y="405"/>
                </a:lnTo>
                <a:lnTo>
                  <a:pt x="41" y="400"/>
                </a:lnTo>
                <a:lnTo>
                  <a:pt x="38" y="395"/>
                </a:lnTo>
                <a:lnTo>
                  <a:pt x="34" y="389"/>
                </a:lnTo>
                <a:lnTo>
                  <a:pt x="31" y="384"/>
                </a:lnTo>
                <a:lnTo>
                  <a:pt x="28" y="378"/>
                </a:lnTo>
                <a:lnTo>
                  <a:pt x="26" y="373"/>
                </a:lnTo>
                <a:lnTo>
                  <a:pt x="23" y="367"/>
                </a:lnTo>
                <a:lnTo>
                  <a:pt x="20" y="361"/>
                </a:lnTo>
                <a:lnTo>
                  <a:pt x="18" y="355"/>
                </a:lnTo>
                <a:lnTo>
                  <a:pt x="16" y="349"/>
                </a:lnTo>
                <a:lnTo>
                  <a:pt x="14" y="343"/>
                </a:lnTo>
                <a:lnTo>
                  <a:pt x="12" y="337"/>
                </a:lnTo>
                <a:lnTo>
                  <a:pt x="10" y="331"/>
                </a:lnTo>
                <a:lnTo>
                  <a:pt x="8" y="325"/>
                </a:lnTo>
                <a:lnTo>
                  <a:pt x="7" y="319"/>
                </a:lnTo>
                <a:lnTo>
                  <a:pt x="5" y="312"/>
                </a:lnTo>
                <a:lnTo>
                  <a:pt x="4" y="306"/>
                </a:lnTo>
                <a:lnTo>
                  <a:pt x="3" y="300"/>
                </a:lnTo>
                <a:lnTo>
                  <a:pt x="2" y="293"/>
                </a:lnTo>
                <a:lnTo>
                  <a:pt x="1" y="287"/>
                </a:lnTo>
                <a:lnTo>
                  <a:pt x="1" y="280"/>
                </a:lnTo>
                <a:lnTo>
                  <a:pt x="0" y="273"/>
                </a:lnTo>
                <a:lnTo>
                  <a:pt x="0" y="267"/>
                </a:lnTo>
                <a:lnTo>
                  <a:pt x="0" y="260"/>
                </a:lnTo>
                <a:lnTo>
                  <a:pt x="0" y="253"/>
                </a:lnTo>
                <a:lnTo>
                  <a:pt x="0" y="247"/>
                </a:lnTo>
                <a:lnTo>
                  <a:pt x="1" y="240"/>
                </a:lnTo>
                <a:lnTo>
                  <a:pt x="1" y="233"/>
                </a:lnTo>
                <a:lnTo>
                  <a:pt x="2" y="227"/>
                </a:lnTo>
                <a:lnTo>
                  <a:pt x="3" y="220"/>
                </a:lnTo>
                <a:lnTo>
                  <a:pt x="4" y="214"/>
                </a:lnTo>
                <a:lnTo>
                  <a:pt x="5" y="208"/>
                </a:lnTo>
                <a:lnTo>
                  <a:pt x="7" y="201"/>
                </a:lnTo>
                <a:lnTo>
                  <a:pt x="8" y="195"/>
                </a:lnTo>
                <a:lnTo>
                  <a:pt x="10" y="189"/>
                </a:lnTo>
                <a:lnTo>
                  <a:pt x="12" y="183"/>
                </a:lnTo>
                <a:lnTo>
                  <a:pt x="14" y="177"/>
                </a:lnTo>
                <a:lnTo>
                  <a:pt x="16" y="171"/>
                </a:lnTo>
                <a:lnTo>
                  <a:pt x="18" y="165"/>
                </a:lnTo>
                <a:lnTo>
                  <a:pt x="20" y="159"/>
                </a:lnTo>
                <a:lnTo>
                  <a:pt x="23" y="153"/>
                </a:lnTo>
                <a:lnTo>
                  <a:pt x="26" y="147"/>
                </a:lnTo>
                <a:lnTo>
                  <a:pt x="28" y="142"/>
                </a:lnTo>
                <a:lnTo>
                  <a:pt x="29" y="140"/>
                </a:lnTo>
                <a:lnTo>
                  <a:pt x="400" y="140"/>
                </a:lnTo>
                <a:close/>
              </a:path>
            </a:pathLst>
          </a:custGeom>
          <a:gradFill>
            <a:gsLst>
              <a:gs pos="0">
                <a:srgbClr val="51277C">
                  <a:alpha val="10000"/>
                </a:srgbClr>
              </a:gs>
              <a:gs pos="100000">
                <a:srgbClr val="7A45A8">
                  <a:alpha val="10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762000" y="4286250"/>
            <a:ext cx="3429000" cy="3429000"/>
          </a:xfrm>
          <a:custGeom>
            <a:pathLst>
              <a:path w="360" h="360">
                <a:moveTo>
                  <a:pt x="185" y="0"/>
                </a:moveTo>
                <a:cubicBezTo>
                  <a:pt x="248" y="2"/>
                  <a:pt x="306" y="37"/>
                  <a:pt x="337" y="92"/>
                </a:cubicBezTo>
                <a:cubicBezTo>
                  <a:pt x="368" y="147"/>
                  <a:pt x="368" y="215"/>
                  <a:pt x="336" y="270"/>
                </a:cubicBezTo>
                <a:lnTo>
                  <a:pt x="80" y="270"/>
                </a:lnTo>
                <a:lnTo>
                  <a:pt x="80" y="30"/>
                </a:lnTo>
                <a:cubicBezTo>
                  <a:pt x="110" y="11"/>
                  <a:pt x="144" y="0"/>
                  <a:pt x="180" y="0"/>
                </a:cubicBezTo>
                <a:close/>
              </a:path>
            </a:pathLst>
          </a:custGeom>
          <a:gradFill>
            <a:gsLst>
              <a:gs pos="0">
                <a:srgbClr val="AFC440">
                  <a:alpha val="14000"/>
                </a:srgbClr>
              </a:gs>
              <a:gs pos="100000">
                <a:srgbClr val="F3B26C">
                  <a:alpha val="14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609600" y="1438275"/>
            <a:ext cx="3286125" cy="304800"/>
          </a:xfrm>
          <a:prstGeom prst="roundRect">
            <a:avLst>
              <a:gd name="adj" fmla="val 3121875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781050" y="1514475"/>
            <a:ext cx="2943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05">
                <a:solidFill>
                  <a:srgbClr val="FFFFFF"/>
                </a:solidFill>
                <a:latin typeface="Microsoft YaHei"/>
                <a:ea typeface="Microsoft YaHei"/>
              </a:rPr>
              <a:t>VISUALIZATION PROJECT DESCRIPTION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028825"/>
            <a:ext cx="6191250" cy="847725"/>
          </a:xfrm>
          <a:prstGeom prst="rect"/>
        </p:spPr>
        <p:txBody>
          <a:bodyPr wrap="none" lIns="0" tIns="0" rIns="0" bIns="0"/>
          <a:p>
            <a:pPr>
              <a:lnSpc>
                <a:spcPct val="112000"/>
              </a:lnSpc>
            </a:pPr>
            <a:r>
              <a:rPr lang="en-US" sz="4950" b="1">
                <a:solidFill>
                  <a:srgbClr val="2A2333"/>
                </a:solidFill>
                <a:latin typeface="Trebuchet MS"/>
                <a:ea typeface="Trebuchet MS"/>
              </a:rPr>
              <a:t>Pizza Snack Play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09600" y="310515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390900"/>
            <a:ext cx="6191250" cy="1066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6B6478"/>
                </a:solidFill>
                <a:latin typeface="Verdana"/>
                <a:ea typeface="Verdana"/>
              </a:rPr>
              <a:t>A school snack duty &amp; menu scheduling platform — generated by prompt, verified by tests, and running in production for a real school.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609600" y="4895850"/>
            <a:ext cx="1152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1277C"/>
                </a:solidFill>
                <a:latin typeface="Trebuchet MS"/>
                <a:ea typeface="Trebuchet MS"/>
              </a:rPr>
              <a:t>113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5276850"/>
            <a:ext cx="11525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commits in 31 days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2181225" y="4895850"/>
            <a:ext cx="8382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51277C"/>
                </a:solidFill>
                <a:latin typeface="Trebuchet MS"/>
                <a:ea typeface="Trebuchet MS"/>
              </a:rPr>
              <a:t>65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2181225" y="5276850"/>
            <a:ext cx="838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API endpoints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3438525" y="4895850"/>
            <a:ext cx="10763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C4762A"/>
                </a:solidFill>
                <a:latin typeface="Trebuchet MS"/>
                <a:ea typeface="Trebuchet MS"/>
              </a:rPr>
              <a:t>0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438525" y="5276850"/>
            <a:ext cx="10763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infrastructure cost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820025" y="1619250"/>
            <a:ext cx="3619500" cy="3619500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17" name=""/>
          <p:cNvPicPr>
            <a:picLocks noChangeAspect="1"/>
          </p:cNvPicPr>
          <p:nvPr/>
        </p:nvPicPr>
        <p:blipFill>
          <a:blip r:embed="rId1"/>
          <a:srcRect l="50" t="0" r="50" b="0"/>
          <a:stretch>
            <a:fillRect/>
          </a:stretch>
        </p:blipFill>
        <p:spPr>
          <a:xfrm rot="0" flipH="0" flipV="0">
            <a:off x="8439150" y="2276475"/>
            <a:ext cx="2381250" cy="2314575"/>
          </a:xfrm>
          <a:prstGeom prst="rect">
            <a:avLst/>
          </a:prstGeom>
          <a:ln/>
        </p:spPr>
      </p:pic>
      <p:pic>
        <p:nvPicPr>
          <p:cNvPr id="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343775" y="1143000"/>
            <a:ext cx="4572000" cy="4572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74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· judul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What this deck covers&#10;        &lt;/Text&gt;&#10;        &lt;Box style={{ width: 72, height: 6, background: '#51277C', marginTop: 12 }} /&gt;&#10;    &lt;/Box&gt;&#10;&#10;    {/* ── zona B · isi ── */}&#10;    &lt;Box style={{ height: 530, flexDirection: 'column', gap: 18 }}&gt;&#10;        &lt;Box&#10;            style={{&#10;                flexDirection: 'row',&#10;                gap: 24,&#10;                background: '#FFFFFF',&#10;                borderRadius: 10,&#10;                paddingTop: 22,&#10;                paddingBottom: 22,&#10;                paddingLeft: 24,&#10;                paddingRight: 24,&#10;                boxShadow: '0 4px 20px rgba(0,0,0,0.08)',&#10;                borderTop: '3px solid #AFC440',&#10;            }}&#10;        &gt;&#10;            &lt;Box&#10;                style={{&#10;                    width: 56,&#10;                    height: 56,&#10;                    borderRadius: 28,&#10;                    background: '#51277C',&#10;                    justifyContent: 'center',&#10;                    alignItems: 'center',&#10;                }}&#10;            &gt;&#10;                &lt;Text&#10;                    style={{&#10;                        fontSize: 22,&#10;                        fontWeight: 'bold',&#10;                        color: '#FFFFFF',&#10;                        fontFamily: 'Trebuchet MS',&#10;                    }}&#10;                &gt;&#10;                    01&#10;                &lt;/Text&gt;&#10;            &lt;/Box&gt;&#10;            &lt;Box style={{ flex: 1, flexDirection: 'column', gap: 6 }}&gt;&#10;                &lt;Box&#10;                    style={{&#10;                        flexDirection: 'row',&#10;                        justifyContent: 'space-between',&#10;                        alignItems: 'center',&#10;                    }}&#10;                &gt;&#10;                    &lt;Text&#10;                        style={{&#10;                            fontSize: 24,&#10;                            fontWeight: 'bold',&#10;                            color: '#2A2333',&#10;                            fontFamily: 'Trebuchet MS',&#10;                        }}&#10;                    &gt;&#10;                        Project Overview&#10;                    &lt;/Text&gt;&#10;                    &lt;Text style={{ fontSize: 14, color: '#6B6478' }}&gt;pages 03–07&lt;/Text&gt;&#10;                &lt;/Box&gt;&#10;                &lt;Text style={{ fontSize: 17, color: '#6B6478', lineHeight: 1.5 }}&gt;&#10;                    The source artefact and the pain it caused, the eight recurring scenarios, the&#10;                    three roles and the boundary between them, and the one problem the system had&#10;                    to solve.&#10;                &lt;/Text&gt;&#10;            &lt;/Box&gt;&#10;        &lt;/Box&gt;&#10;&#10;        &lt;Box&#10;            style={{&#10;                flexDirection: 'row',&#10;                gap: 24,&#10;                background: '#FFFFFF',&#10;                borderRadius: 10,&#10;                paddingTop: 22,&#10;                paddingBottom: 22,&#10;                paddingLeft: 24,&#10;                paddingRight: 24,&#10;                boxShadow: '0 4px 20px rgba(0,0,0,0.08)',&#10;                borderTop: '3px solid #AFC440',&#10;            }}&#10;        &gt;&#10;            &lt;Box&#10;                style={{&#10;                    width: 56,&#10;                    height: 56,&#10;                    borderRadius: 28,&#10;                    background: '#51277C',&#10;                    justifyContent: 'center',&#10;                    alignItems: 'center',&#10;                }}&#10;            &gt;&#10;                &lt;Text&#10;                    style={{&#10;                        fontSize: 22,&#10;                        fontWeight: 'bold',&#10;                        color: '#FFFFFF',&#10;                        fontFamily: 'Trebuchet MS',&#10;                    }}&#10;                &gt;&#10;                    02&#10;                &lt;/Text&gt;&#10;            &lt;/Box&gt;&#10;            &lt;Box style={{ flex: 1, flexDirection: 'column', gap: 6 }}&gt;&#10;                &lt;Box&#10;                    style={{&#10;                        flexDirection: 'row',&#10;                        justifyContent: 'space-between',&#10;                        alignItems: 'center',&#10;                    }}&#10;                &gt;&#10;                    &lt;Text&#10;                        style={{&#10;                            fontSize: 24,&#10;                            fontWeight: 'bold',&#10;                            color: '#2A2333',&#10;                            fontFamily: 'Trebuchet MS',&#10;                        }}&#10;                    &gt;&#10;                        Solution Design&#10;                    &lt;/Text&gt;&#10;                    &lt;Text style={{ fontSize: 14, color: '#6B6478' }}&gt;pages 08–12&lt;/Text&gt;&#10;                &lt;/Box&gt;&#10;                &lt;Text style={{ fontSize: 17, color: '#6B6478', lineHeight: 1.5 }}&gt;&#10;                    The three-state schedule machine, the two-layer authority model, the technical&#10;                    layer stack, and how prompts drive the AI generation under a verifiable loop.&#10;                &lt;/Text&gt;&#10;            &lt;/Box&gt;&#10;        &lt;/Box&gt;&#10;&#10;        &lt;Box&#10;            style={{&#10;                flexDirection: 'row',&#10;                gap: 24,&#10;                background: '#FFFFFF',&#10;                borderRadius: 10,&#10;                paddingTop: 22,&#10;                paddingBottom: 22,&#10;                paddingLeft: 24,&#10;                paddingRight: 24,&#10;                boxShadow: '0 4px 20px rgba(0,0,0,0.08)',&#10;                borderTop: '3px solid #AFC440',&#10;            }}&#10;        &gt;&#10;            &lt;Box&#10;                style={{&#10;                    width: 56,&#10;                    height: 56,&#10;                    borderRadius: 28,&#10;                    background: '#51277C',&#10;                    justifyContent: 'center',&#10;                    alignItems: 'center',&#10;                }}&#10;            &gt;&#10;                &lt;Text&#10;                    style={{&#10;                        fontSize: 22,&#10;                        fontWeight: 'bold',&#10;                        color: '#FFFFFF',&#10;                        fontFamily: 'Trebuchet MS',&#10;                    }}&#10;                &gt;&#10;                    03&#10;                &lt;/Text&gt;&#10;            &lt;/Box&gt;&#10;            &lt;Box style={{ flex: 1, flexDirection: 'column', gap: 6 }}&gt;&#10;                &lt;Box&#10;                    style={{&#10;                        flexDirection: 'row',&#10;                        justifyContent: 'space-between',&#10;                        alignItems: 'center',&#10;                    }}&#10;                &gt;&#10;                    &lt;Text&#10;                        style={{&#10;                            fontSize: 24,&#10;                            fontWeight: 'bold',&#10;                            color: '#2A2333',&#10;                            fontFamily: 'Trebuchet MS',&#10;                        }}&#10;                    &gt;&#10;                        Business Value&#10;                    &lt;/Text&gt;&#10;                    &lt;Text style={{ fontSize: 14, color: '#6B6478' }}&gt;pages 13–16&lt;/Text&gt;&#10;                &lt;/Box&gt;&#10;                &lt;Text style={{ fontSize: 17, color: '#6B6478', lineHeight: 1.5 }}&gt;&#10;                    Measured metrics rather than estimates, ten before/after impact pairs each with&#10;                    its verifier, and the limits stated on the same page as the claims.&#10;                &lt;/Text&gt;&#10;            &lt;/Box&gt;&#10;        &lt;/Box&gt;&#10;&#10;        &lt;Box&#10;            style={{&#10;                marginTop: 'auto',&#10;                flexDirection: 'row',&#10;                alignItems: 'center',&#10;                gap: 12,&#10;                background: 'rgba(81,39,124,0.06)',&#10;                borderRadius: 8,&#10;                paddingTop: 14,&#10;                paddingBottom: 14,&#10;                paddingLeft: 20,&#10;                paddingRight: 20,&#10;            }}&#10;        &gt;&#10;            &lt;Box style={{ width: 6, height: 22, background: '#F3B26C' }} /&gt;&#10;            &lt;Text style={{ fontSize: 16, color: '#51277C' }}&gt;&#10;                Every number in this deck was measured from the repository, not estimated.&#10;            &lt;/Text&gt;&#10;        &lt;/Box&gt;&#10;    &lt;/Box&gt;&#10;&#10;    {/* ── zona C · footer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What this deck covers</a:t>
            </a:r>
            <a:endParaRPr/>
          </a:p>
        </p:txBody>
      </p:sp>
      <p:sp>
        <p:nvSpPr>
          <p:cNvPr id="177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78" name=""/>
          <p:cNvSpPr/>
          <p:nvPr/>
        </p:nvSpPr>
        <p:spPr>
          <a:xfrm rot="0" flipH="0" flipV="0">
            <a:off x="609600" y="126682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609600" y="126682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0" name=""/>
          <p:cNvSpPr/>
          <p:nvPr/>
        </p:nvSpPr>
        <p:spPr>
          <a:xfrm rot="0" flipH="0" flipV="0">
            <a:off x="838200" y="14763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81075" y="161925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600200" y="1476375"/>
            <a:ext cx="18764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Project Overview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544175" y="1533525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pages 03–07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600200" y="180975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The source artefact and the pain it caused, the eight recurring scenarios, the three roles and the boundary between them, and the one problem the system had to solve.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609600" y="280987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609600" y="280987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87" name=""/>
          <p:cNvSpPr/>
          <p:nvPr/>
        </p:nvSpPr>
        <p:spPr>
          <a:xfrm rot="0" flipH="0" flipV="0">
            <a:off x="838200" y="30194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981075" y="31623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02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600200" y="3019425"/>
            <a:ext cx="1638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Solution Design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10544175" y="3076575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pages 08–12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1600200" y="335280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The three-state schedule machine, the two-layer authority model, the technical layer stack, and how prompts drive the AI generation under a verifiable loop.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609600" y="4352925"/>
            <a:ext cx="10972800" cy="1371600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3" name=""/>
          <p:cNvSpPr/>
          <p:nvPr/>
        </p:nvSpPr>
        <p:spPr>
          <a:xfrm rot="0" flipH="0" flipV="0">
            <a:off x="609600" y="4352925"/>
            <a:ext cx="10972800" cy="1371600"/>
          </a:xfrm>
          <a:custGeom>
            <a:pathLst>
              <a:path w="1152" h="144">
                <a:moveTo>
                  <a:pt x="1142" y="0"/>
                </a:moveTo>
                <a:cubicBezTo>
                  <a:pt x="1147" y="0"/>
                  <a:pt x="1151" y="3"/>
                  <a:pt x="1152" y="8"/>
                </a:cubicBezTo>
                <a:cubicBezTo>
                  <a:pt x="1151" y="5"/>
                  <a:pt x="1148" y="3"/>
                  <a:pt x="1145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1142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838200" y="456247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981075" y="470535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FFFF"/>
                </a:solidFill>
                <a:latin typeface="Trebuchet MS"/>
                <a:ea typeface="Trebuchet MS"/>
              </a:rPr>
              <a:t>03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600200" y="4562475"/>
            <a:ext cx="15525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A2333"/>
                </a:solidFill>
                <a:latin typeface="Trebuchet MS"/>
                <a:ea typeface="Trebuchet MS"/>
              </a:rPr>
              <a:t>Business Value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10544175" y="4619625"/>
            <a:ext cx="809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pages 13–16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600200" y="4895850"/>
            <a:ext cx="97536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75">
                <a:solidFill>
                  <a:srgbClr val="6B6478"/>
                </a:solidFill>
                <a:latin typeface="Microsoft YaHei"/>
                <a:ea typeface="Microsoft YaHei"/>
              </a:rPr>
              <a:t>Measured metrics rather than estimates, ten before/after impact pairs each with its verifier, and the limits stated on the same page as the claims.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609600" y="5810250"/>
            <a:ext cx="10972800" cy="476250"/>
          </a:xfrm>
          <a:prstGeom prst="roundRect">
            <a:avLst>
              <a:gd name="adj" fmla="val 16000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800100" y="5943600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971550" y="5953125"/>
            <a:ext cx="5562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51277C"/>
                </a:solidFill>
                <a:latin typeface="Microsoft YaHei"/>
                <a:ea typeface="Microsoft YaHei"/>
              </a:rPr>
              <a:t>Every number in this deck was measured from the repository, not estimated.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02 / 16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04" name="" descr="&lt;Slide&#10;    style={{&#10;        width: '1280px',&#10;        height: '720px',&#10;        background: 'linear-gradient(135deg, #51277C 0%, #7A45A8 100%)',&#10;        flexDirection: 'column',&#10;        paddingTop: 20,&#10;        paddingBottom: 20,&#10;        paddingLeft: 64,&#10;        paddingRight: 64,&#10;        position: 'relative',&#10;        overflow: 'hidden',&#10;    }}&#10;&gt;&#10;    {/* dekorasi */}&#10;    &lt;Box&#10;        style={{&#10;            position: 'absolute',&#10;            top: -150,&#10;            right: -110,&#10;            width: 420,&#10;            height: 420,&#10;            borderRadius: 210,&#10;            background: 'linear-gradient(135deg, #AFC440 0%, #F3B26C 100%)',&#10;            opacity: 0.16,&#10;        }}&#10;    /&gt;&#10;    &lt;Box style={{ position: 'absolute', right: 40, bottom: 60, opacity: 0.10 }}&gt;&#10;        &lt;Text&#10;            style={{&#10;                fontSize: 300,&#10;                fontWeight: 'bold',&#10;                color: '#FFFFFF',&#10;                lineHeight: 1,&#10;                fontFamily: 'Trebuchet MS',&#10;            }}&#10;        &gt;&#10;            01&#10;        &lt;/Text&gt;&#10;    &lt;/Box&gt;&#10;&#10;    {/* isi */}&#10;    &lt;Box&#10;        style={{&#10;            position: 'relative',&#10;            zIndex: 1,&#10;            flex: 1,&#10;            justifyContent: 'center',&#10;            paddingTop: 40,&#10;        }}&#10;    &gt;&#10;        &lt;Text&#10;            style={{&#10;                fontSize: 18,&#10;                fontWeight: 'bold',&#10;                color: '#AFC440',&#10;                letterSpacing: 4,&#10;            }}&#10;        &gt;&#10;            CHAPTER 01&#10;        &lt;/Text&gt;&#10;&#10;        &lt;Text&#10;            style={{&#10;                fontSize: 60,&#10;                fontWeight: 'bold',&#10;                color: '#FFFFFF',&#10;                lineHeight: 1.15,&#10;                marginTop: 20,&#10;                fontFamily: 'Trebuchet MS',&#10;            }}&#10;        &gt;&#10;            Project Overview&#10;        &lt;/Text&gt;&#10;&#10;        &lt;Box style={{ width: 72, height: 6, background: '#AFC440', marginTop: 24 }} /&gt;&#10;&#10;        &lt;Text&#10;            style={{&#10;                fontSize: 20,&#10;                color: 'rgba(255,255,255,0.84)',&#10;                lineHeight: 1.6,&#10;                marginTop: 26,&#10;                maxWidth: 620,&#10;                fontFamily: 'Verdana',&#10;            }}&#10;        &gt;&#10;            Where the pain points came from, who the users are, and the single problem the system&#10;            had to solve.&#10;        &lt;/Text&gt;&#10;    &lt;/Box&gt;&#10;&#10;    {/* footer */}&#10;    &lt;Box&#10;        style={{&#10;            position: 'relative',&#10;            zIndex: 1,&#10;            height: 40,&#10;            flexDirection: 'row',&#10;            justifyContent: 'space-between',&#10;            alignItems: 'center',&#10;        }}&#10;    &gt;&#10;        &lt;Text style={{ fontSize: 14, color: 'rgba(255,255,255,0.55)' }}&gt;&#10;            Pizza Snack Play · Visualization Project Description&#10;        &lt;/Text&gt;&#10;        &lt;Text style={{ fontSize: 14, color: 'rgba(255,255,255,0.55)' }}&gt;0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9239250" y="-1428750"/>
            <a:ext cx="4000500" cy="4000500"/>
          </a:xfrm>
          <a:custGeom>
            <a:pathLst>
              <a:path w="420" h="420">
                <a:moveTo>
                  <a:pt x="310" y="395"/>
                </a:moveTo>
                <a:lnTo>
                  <a:pt x="306" y="397"/>
                </a:lnTo>
                <a:lnTo>
                  <a:pt x="301" y="399"/>
                </a:lnTo>
                <a:lnTo>
                  <a:pt x="296" y="401"/>
                </a:lnTo>
                <a:lnTo>
                  <a:pt x="292" y="403"/>
                </a:lnTo>
                <a:lnTo>
                  <a:pt x="287" y="405"/>
                </a:lnTo>
                <a:lnTo>
                  <a:pt x="282" y="407"/>
                </a:lnTo>
                <a:lnTo>
                  <a:pt x="277" y="409"/>
                </a:lnTo>
                <a:lnTo>
                  <a:pt x="272" y="411"/>
                </a:lnTo>
                <a:lnTo>
                  <a:pt x="267" y="412"/>
                </a:lnTo>
                <a:lnTo>
                  <a:pt x="262" y="413"/>
                </a:lnTo>
                <a:lnTo>
                  <a:pt x="257" y="415"/>
                </a:lnTo>
                <a:lnTo>
                  <a:pt x="252" y="416"/>
                </a:lnTo>
                <a:lnTo>
                  <a:pt x="247" y="417"/>
                </a:lnTo>
                <a:lnTo>
                  <a:pt x="242" y="418"/>
                </a:lnTo>
                <a:lnTo>
                  <a:pt x="237" y="418"/>
                </a:lnTo>
                <a:lnTo>
                  <a:pt x="231" y="419"/>
                </a:lnTo>
                <a:lnTo>
                  <a:pt x="226" y="419"/>
                </a:lnTo>
                <a:lnTo>
                  <a:pt x="221" y="420"/>
                </a:lnTo>
                <a:lnTo>
                  <a:pt x="215" y="420"/>
                </a:lnTo>
                <a:lnTo>
                  <a:pt x="210" y="420"/>
                </a:lnTo>
                <a:lnTo>
                  <a:pt x="205" y="420"/>
                </a:lnTo>
                <a:lnTo>
                  <a:pt x="199" y="420"/>
                </a:lnTo>
                <a:lnTo>
                  <a:pt x="194" y="419"/>
                </a:lnTo>
                <a:lnTo>
                  <a:pt x="189" y="419"/>
                </a:lnTo>
                <a:lnTo>
                  <a:pt x="183" y="418"/>
                </a:lnTo>
                <a:lnTo>
                  <a:pt x="178" y="418"/>
                </a:lnTo>
                <a:lnTo>
                  <a:pt x="173" y="417"/>
                </a:lnTo>
                <a:lnTo>
                  <a:pt x="168" y="416"/>
                </a:lnTo>
                <a:lnTo>
                  <a:pt x="163" y="415"/>
                </a:lnTo>
                <a:lnTo>
                  <a:pt x="158" y="413"/>
                </a:lnTo>
                <a:lnTo>
                  <a:pt x="153" y="412"/>
                </a:lnTo>
                <a:lnTo>
                  <a:pt x="148" y="411"/>
                </a:lnTo>
                <a:lnTo>
                  <a:pt x="143" y="409"/>
                </a:lnTo>
                <a:lnTo>
                  <a:pt x="138" y="407"/>
                </a:lnTo>
                <a:lnTo>
                  <a:pt x="133" y="405"/>
                </a:lnTo>
                <a:lnTo>
                  <a:pt x="128" y="403"/>
                </a:lnTo>
                <a:lnTo>
                  <a:pt x="124" y="401"/>
                </a:lnTo>
                <a:lnTo>
                  <a:pt x="119" y="399"/>
                </a:lnTo>
                <a:lnTo>
                  <a:pt x="114" y="397"/>
                </a:lnTo>
                <a:lnTo>
                  <a:pt x="110" y="395"/>
                </a:lnTo>
                <a:lnTo>
                  <a:pt x="106" y="392"/>
                </a:lnTo>
                <a:lnTo>
                  <a:pt x="101" y="390"/>
                </a:lnTo>
                <a:lnTo>
                  <a:pt x="97" y="387"/>
                </a:lnTo>
                <a:lnTo>
                  <a:pt x="93" y="384"/>
                </a:lnTo>
                <a:lnTo>
                  <a:pt x="88" y="381"/>
                </a:lnTo>
                <a:lnTo>
                  <a:pt x="84" y="378"/>
                </a:lnTo>
                <a:lnTo>
                  <a:pt x="80" y="375"/>
                </a:lnTo>
                <a:lnTo>
                  <a:pt x="76" y="372"/>
                </a:lnTo>
                <a:lnTo>
                  <a:pt x="73" y="369"/>
                </a:lnTo>
                <a:lnTo>
                  <a:pt x="69" y="365"/>
                </a:lnTo>
                <a:lnTo>
                  <a:pt x="65" y="362"/>
                </a:lnTo>
                <a:lnTo>
                  <a:pt x="62" y="358"/>
                </a:lnTo>
                <a:lnTo>
                  <a:pt x="58" y="355"/>
                </a:lnTo>
                <a:lnTo>
                  <a:pt x="55" y="351"/>
                </a:lnTo>
                <a:lnTo>
                  <a:pt x="51" y="347"/>
                </a:lnTo>
                <a:lnTo>
                  <a:pt x="48" y="344"/>
                </a:lnTo>
                <a:lnTo>
                  <a:pt x="45" y="340"/>
                </a:lnTo>
                <a:lnTo>
                  <a:pt x="42" y="336"/>
                </a:lnTo>
                <a:lnTo>
                  <a:pt x="39" y="332"/>
                </a:lnTo>
                <a:lnTo>
                  <a:pt x="36" y="327"/>
                </a:lnTo>
                <a:lnTo>
                  <a:pt x="33" y="323"/>
                </a:lnTo>
                <a:lnTo>
                  <a:pt x="30" y="319"/>
                </a:lnTo>
                <a:lnTo>
                  <a:pt x="28" y="314"/>
                </a:lnTo>
                <a:lnTo>
                  <a:pt x="25" y="310"/>
                </a:lnTo>
                <a:lnTo>
                  <a:pt x="23" y="306"/>
                </a:lnTo>
                <a:lnTo>
                  <a:pt x="21" y="301"/>
                </a:lnTo>
                <a:lnTo>
                  <a:pt x="19" y="296"/>
                </a:lnTo>
                <a:lnTo>
                  <a:pt x="17" y="292"/>
                </a:lnTo>
                <a:lnTo>
                  <a:pt x="15" y="287"/>
                </a:lnTo>
                <a:lnTo>
                  <a:pt x="13" y="282"/>
                </a:lnTo>
                <a:lnTo>
                  <a:pt x="11" y="277"/>
                </a:lnTo>
                <a:lnTo>
                  <a:pt x="9" y="272"/>
                </a:lnTo>
                <a:lnTo>
                  <a:pt x="8" y="267"/>
                </a:lnTo>
                <a:lnTo>
                  <a:pt x="7" y="262"/>
                </a:lnTo>
                <a:lnTo>
                  <a:pt x="5" y="257"/>
                </a:lnTo>
                <a:lnTo>
                  <a:pt x="4" y="252"/>
                </a:lnTo>
                <a:lnTo>
                  <a:pt x="3" y="247"/>
                </a:lnTo>
                <a:lnTo>
                  <a:pt x="2" y="242"/>
                </a:lnTo>
                <a:lnTo>
                  <a:pt x="2" y="237"/>
                </a:lnTo>
                <a:lnTo>
                  <a:pt x="1" y="231"/>
                </a:lnTo>
                <a:lnTo>
                  <a:pt x="1" y="226"/>
                </a:lnTo>
                <a:lnTo>
                  <a:pt x="0" y="221"/>
                </a:lnTo>
                <a:lnTo>
                  <a:pt x="0" y="215"/>
                </a:lnTo>
                <a:lnTo>
                  <a:pt x="0" y="210"/>
                </a:lnTo>
                <a:lnTo>
                  <a:pt x="0" y="205"/>
                </a:lnTo>
                <a:lnTo>
                  <a:pt x="0" y="199"/>
                </a:lnTo>
                <a:lnTo>
                  <a:pt x="1" y="194"/>
                </a:lnTo>
                <a:lnTo>
                  <a:pt x="1" y="189"/>
                </a:lnTo>
                <a:lnTo>
                  <a:pt x="2" y="183"/>
                </a:lnTo>
                <a:lnTo>
                  <a:pt x="2" y="178"/>
                </a:lnTo>
                <a:lnTo>
                  <a:pt x="3" y="173"/>
                </a:lnTo>
                <a:lnTo>
                  <a:pt x="4" y="168"/>
                </a:lnTo>
                <a:lnTo>
                  <a:pt x="5" y="163"/>
                </a:lnTo>
                <a:lnTo>
                  <a:pt x="7" y="158"/>
                </a:lnTo>
                <a:lnTo>
                  <a:pt x="8" y="153"/>
                </a:lnTo>
                <a:lnTo>
                  <a:pt x="9" y="150"/>
                </a:lnTo>
                <a:lnTo>
                  <a:pt x="310" y="150"/>
                </a:lnTo>
                <a:close/>
              </a:path>
            </a:pathLst>
          </a:custGeom>
          <a:gradFill>
            <a:gsLst>
              <a:gs pos="0">
                <a:srgbClr val="AFC440">
                  <a:alpha val="16000"/>
                </a:srgbClr>
              </a:gs>
              <a:gs pos="100000">
                <a:srgbClr val="F3B26C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458200" y="2857500"/>
            <a:ext cx="3352800" cy="3429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0" b="1">
                <a:solidFill>
                  <a:srgbClr val="FFFFFF">
                    <a:alpha val="10000"/>
                  </a:srgbClr>
                </a:solidFill>
                <a:latin typeface="Trebuchet MS"/>
                <a:ea typeface="Trebuchet MS"/>
              </a:rPr>
              <a:t>01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10972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CHAPTER 01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609600" y="2781300"/>
            <a:ext cx="109728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Project Overview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09600" y="3800475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98488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Where the pain points came from, who the users are, and the single problem the system had to solve.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03 / 16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14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136 lines was the whole system&#10;        &lt;/Text&gt;&#10;        &lt;Box style={{ width: 72, height: 6, background: '#51277C', marginTop: 12 }} /&gt;&#10;    &lt;/Box&gt;&#10;&#10;    {/* ── zona B ── */}&#10;    &lt;Box style={{ height: 530, flexDirection: 'column', gap: 24 }}&gt;&#10;        {/* grafik */}&#10;        &lt;Box style={{ height: 250 }}&gt;&#10;            &lt;svg width={1150} height={250} viewBox='0 0 1150 250'&gt;&#10;                &lt;text&#10;                    x='0'&#10;                    y='20'&#10;                    fontFamily='Trebuchet MS'&#10;                    fontSize='16'&#10;                    fontWeight='bold'&#10;                    fill='#2A2333'&#10;                &gt;&#10;                    Composition of the source artefact&#10;                &lt;/text&gt;&#10;                &lt;text x='0' y='42' fontFamily='Verdana' fontSize='13' fill='#6B6478'&gt;&#10;                    data/output_jadwal_piket.txt · 136 lines · 5 weekly blocks · classes 1–5&#10;                &lt;/text&gt;&#10;&#10;                &lt;rect x='0' y='64' width='727' height='68' fill='#51277C' /&gt;&#10;                &lt;rect x='727' y='64' width='177' height='68' fill='#7A45A8' /&gt;&#10;                &lt;rect x='904' y='64' width='43' height='68' fill='#F3B26C' /&gt;&#10;                &lt;rect x='947' y='64' width='203' height='68' fill='#D9D2E3' /&gt;&#10;&#10;                &lt;text&#10;                    x='363'&#10;                    y='107'&#10;                    textAnchor='middle'&#10;                    fontFamily='Verdana'&#10;                    fontSize='16'&#10;                    fontWeight='bold'&#10;                    fill='#FFFFFF'&#10;                &gt;&#10;                    86 duty assignments&#10;                &lt;/text&gt;&#10;                &lt;text&#10;                    x='815'&#10;                    y='107'&#10;                    textAnchor='middle'&#10;                    fontFamily='Verdana'&#10;                    fontSize='14'&#10;                    fontWeight='bold'&#10;                    fill='#FFFFFF'&#10;                &gt;&#10;                    21 menus&#10;                &lt;/text&gt;&#10;                &lt;text x='975' y='107' textAnchor='middle' fontFamily='Verdana' fontSize='13' fill='#6B6478'&gt;&#10;                    blanks&#10;                &lt;/text&gt;&#10;&#10;                &lt;rect x='0' y='158' width='13' height='13' fill='#51277C' /&gt;&#10;                &lt;text x='22' y='169' fontFamily='Verdana' fontSize='13' fill='#6B6478'&gt;&#10;                    86 duty assignment lines (63%)&#10;                &lt;/text&gt;&#10;                &lt;rect x='300' y='158' width='13' height='13' fill='#7A45A8' /&gt;&#10;                &lt;text x='322' y='169' fontFamily='Verdana' fontSize='13' fill='#6B6478'&gt;&#10;                    21 menu lines (15%)&#10;                &lt;/text&gt;&#10;                &lt;rect x='520' y='158' width='13' height='13' fill='#F3B26C' /&gt;&#10;                &lt;text x='542' y='169' fontFamily='Verdana' fontSize='13' fill='#6B6478'&gt;&#10;                    5 hand-written week headers (4%)&#10;                &lt;/text&gt;&#10;                &lt;rect x='830' y='158' width='13' height='13' fill='#D9D2E3' /&gt;&#10;                &lt;text x='852' y='169' fontFamily='Verdana' fontSize='13' fill='#6B6478'&gt;&#10;                    24 blank / separator lines (18%)&#10;                &lt;/text&gt;&#10;&#10;                &lt;text x='0' y='215' fontFamily='Verdana' fontSize='13' fill='#6B6478'&gt;&#10;                    Measured line by line. 38 unique student names appear in those 86 assignment&#10;                    lines — and not one of them is linked to a parent record.&#10;                &lt;/text&gt;&#10;            &lt;/svg&gt;&#10;        &lt;/Box&gt;&#10;&#10;        {/* dua kartu */}&#10;        &lt;Box style={{ height: 256, flexDirection: 'row', gap: 20 }}&gt;&#10;            &lt;Box&#10;                style={{&#10;                    flex: 60,&#10;                    background: '#FFFFFF',&#10;                    borderRadius: 10,&#10;                    paddingTop: 22,&#10;                    paddingBottom: 22,&#10;                    paddingLeft: 24,&#10;                    paddingRight: 24,&#10;                    boxShadow: '0 4px 20px rgba(0,0,0,0.08)',&#10;                    borderTop: '3px solid #AFC440',&#10;                    flexDirection: 'column',&#10;                }}&#10;            &gt;&#10;                &lt;Text&#10;                    style={{&#10;                        fontSize: 20,&#10;                        fontWeight: 'bold',&#10;                        color: '#2A2333',&#10;                        fontFamily: 'Trebuchet MS',&#10;                    }}&#10;                &gt;&#10;                    What the format could not do&#10;                &lt;/Text&gt;&#10;                &lt;Box style={{ flexDirection: 'row', gap: 12, marginTop: 18, alignItems: 'flex-start' }}&gt;&#10;                    &lt;Box style={{ width: 6, height: 6, background: '#51277C', marginTop: 9 }} /&gt;&#10;                    &lt;Text style={{ fontSize: 16, color: '#6B6478', lineHeight: 1.5, flex: 1 }}&gt;&#10;                        No search — “when was jeruk served?” means reading all 21 menu lines&#10;                    &lt;/Text&gt;&#10;                &lt;/Box&gt;&#10;                &lt;Box style={{ flexDirection: 'row', gap: 12, marginTop: 12, alignItems: 'flex-start' }}&gt;&#10;                    &lt;Box style={{ width: 6, height: 6, background: '#51277C', marginTop: 9 }} /&gt;&#10;                    &lt;Text style={{ fontSize: 16, color: '#6B6478', lineHeight: 1.5, flex: 1 }}&gt;&#10;                        No history — the file is overwritten month to month&#10;                    &lt;/Text&gt;&#10;                &lt;/Box&gt;&#10;                &lt;Box style={{ flexDirection: 'row', gap: 12, marginTop: 12, alignItems: 'flex-start' }}&gt;&#10;                    &lt;Box style={{ width: 6, height: 6, background: '#51277C', marginTop: 9 }} /&gt;&#10;                    &lt;Text style={{ fontSize: 16, color: '#6B6478', lineHeight: 1.5, flex: 1 }}&gt;&#10;                        No duty identity — a name beside a class, with no parent record behind it&#10;                    &lt;/Text&gt;&#10;                &lt;/Box&gt;&#10;            &lt;/Box&gt;&#10;&#10;            &lt;Box&#10;                style={{&#10;                    flex: 40,&#10;                    background: 'rgba(81,39,124,0.06)',&#10;                    borderRadius: 10,&#10;                    paddingTop: 22,&#10;                    paddingBottom: 22,&#10;                    paddingLeft: 24,&#10;                    paddingRight: 24,&#10;                    borderTop: '3px solid #F3B26C',&#10;                    flexDirection: 'column',&#10;                }}&#10;            &gt;&#10;                &lt;Text&#10;                    style={{&#10;                        fontSize: 20,&#10;                        fontWeight: 'bold',&#10;                        color: '#51277C',&#10;                        fontFamily: 'Trebuchet MS',&#10;                    }}&#10;                &gt;&#10;                    The format caused it, not the school&#10;                &lt;/Text&gt;&#10;                &lt;Text style={{ fontSize: 16, color: '#6B6478', lineHeight: 1.5, marginTop: 16 }}&gt;&#10;                    Week headers are written by hand — and one was already wrong:&#10;                    &lt;span style={{ color: '#c4762a', fontWeight: 'bold' }}&gt; 14 - 18 Oktober 2026&lt;/span&gt;{' '}&#10;                    was labelled Mon–Fri, although 14 October 2026 is a Wednesday.&#10;                &lt;/Text&gt;&#10;                &lt;Box&#10;                    style={{&#10;                        marginTop: 'auto',&#10;                        flexDirection: 'row',&#10;                        gap: 10,&#10;                        alignItems: 'center',&#10;                    }}&#10;                &gt;&#10;                    &lt;Box style={{ width: 6, height: 20, background: '#F3B26C' }} /&gt;&#10;                    &lt;Text style={{ fontSize: 15, color: '#51277C' }}&gt;&#10;                        A manual spreadsheet cannot catch that.&#10;                    &lt;/Text&gt;&#10;                &lt;/Box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136 lines was the whole system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21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10953750" cy="2381250"/>
          </a:xfrm>
          <a:prstGeom prst="rect">
            <a:avLst/>
          </a:prstGeom>
          <a:ln/>
        </p:spPr>
      </p:pic>
      <p:sp>
        <p:nvSpPr>
          <p:cNvPr id="219" name=""/>
          <p:cNvSpPr/>
          <p:nvPr/>
        </p:nvSpPr>
        <p:spPr>
          <a:xfrm rot="0" flipH="0" flipV="0">
            <a:off x="609600" y="3876675"/>
            <a:ext cx="6467475" cy="2438400"/>
          </a:xfrm>
          <a:prstGeom prst="roundRect">
            <a:avLst>
              <a:gd name="adj" fmla="val 390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20" name=""/>
          <p:cNvSpPr/>
          <p:nvPr/>
        </p:nvSpPr>
        <p:spPr>
          <a:xfrm rot="0" flipH="0" flipV="0">
            <a:off x="609600" y="3876675"/>
            <a:ext cx="6467475" cy="2438400"/>
          </a:xfrm>
          <a:custGeom>
            <a:pathLst>
              <a:path w="679" h="256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38200" y="4086225"/>
            <a:ext cx="601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What the format could not do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38200" y="4572000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09650" y="4486275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No search — “when was jeruk served?” means reading all 21 menu lines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838200" y="4962525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1009650" y="4876800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No history — the file is overwritten month to month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838200" y="5353050"/>
            <a:ext cx="5715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1009650" y="5267325"/>
            <a:ext cx="58388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No duty identity — a name beside a class, with no parent record behind it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7267575" y="3876675"/>
            <a:ext cx="4314825" cy="2438400"/>
          </a:xfrm>
          <a:prstGeom prst="roundRect">
            <a:avLst>
              <a:gd name="adj" fmla="val 3906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29" name=""/>
          <p:cNvSpPr/>
          <p:nvPr/>
        </p:nvSpPr>
        <p:spPr>
          <a:xfrm rot="0" flipH="0" flipV="0">
            <a:off x="7267575" y="3876675"/>
            <a:ext cx="4314825" cy="2438400"/>
          </a:xfrm>
          <a:custGeom>
            <a:pathLst>
              <a:path w="453" h="256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7496175" y="4086225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51277C"/>
                </a:solidFill>
                <a:latin typeface="Trebuchet MS"/>
                <a:ea typeface="Trebuchet MS"/>
              </a:rPr>
              <a:t>The format caused it, not the school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7496175" y="4467225"/>
            <a:ext cx="3857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Week headers are written by hand — and one was already wrong:</a:t>
            </a:r>
            <a:r>
              <a:rPr lang="en-US" sz="1200" b="1">
                <a:solidFill>
                  <a:srgbClr val="C4762A"/>
                </a:solidFill>
                <a:latin typeface="Microsoft YaHei"/>
                <a:ea typeface="Microsoft YaHei"/>
              </a:rPr>
              <a:t xml:space="preserve"> 14 - 18 Oktober 2026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 xml:space="preserve"> 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was labelled Mon–Fri, although 14 October 2026 is a Wednesday.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7496175" y="5886450"/>
            <a:ext cx="57150" cy="19050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7648575" y="5895975"/>
            <a:ext cx="2790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1277C"/>
                </a:solidFill>
                <a:latin typeface="Microsoft YaHei"/>
                <a:ea typeface="Microsoft YaHei"/>
              </a:rPr>
              <a:t>A manual spreadsheet cannot catch that.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04 / 16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236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Eight moments in the school week&#10;        &lt;/Text&gt;&#10;        &lt;Box style={{ width: 72, height: 6, background: '#51277C', marginTop: 12 }} /&gt;&#10;    &lt;/Box&gt;&#10;&#10;    {/* ── zona B ── */}&#10;    &lt;Box style={{ height: 530, flexDirection: 'row', gap: 20 }}&gt;&#10;        {/* kolom lebar: delapan skenario */}&#10;        &lt;Box style={{ flex: 60, flexDirection: 'column', gap: 12 }}&gt;&#10;            &lt;Box style={{ flexDirection: 'row', gap: 24 }}&gt;&#10;                &lt;Box style={{ flex: 1, flexDirection: 'column' }}&gt;&#10;                    &lt;Text style={{ fontSize: 12, fontWeight: 'bold', color: '#c4762a', letterSpacing: 1 }}&gt;&#10;                        S1 · EVERY MORNING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Today’s snack&#10;                    &lt;/Text&gt;&#10;                    &lt;Text style={{ fontSize: 14, color: '#6B6478', lineHeight: 1.45, marginTop: 6 }}&gt;&#10;                        One screen, with the duty guardian’s WhatsApp link beside the menu.&#10;                    &lt;/Text&gt;&#10;                &lt;/Box&gt;&#10;                &lt;Box style={{ flex: 1, flexDirection: 'column' }}&gt;&#10;                    &lt;Text style={{ fontSize: 12, fontWeight: 'bold', color: '#c4762a', letterSpacing: 1 }}&gt;&#10;                        S2 · SUNDAY EVENING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Weekly planning&#10;                    &lt;/Text&gt;&#10;                    &lt;Text style={{ fontSize: 14, color: '#6B6478', lineHeight: 1.45, marginTop: 6 }}&gt;&#10;                        Menu and duty roster were read from two places; now one view, Mon–Fri.&#10;                    &lt;/Text&gt;&#10;                &lt;/Box&gt;&#10;            &lt;/Box&gt;&#10;&#10;            &lt;Box style={{ flexDirection: 'row', gap: 24 }}&gt;&#10;                &lt;Box style={{ flex: 1, flexDirection: 'column' }}&gt;&#10;                    &lt;Text style={{ fontSize: 12, fontWeight: 'bold', color: '#c4762a', letterSpacing: 1 }}&gt;&#10;                        S3 · WHEN A CLASS IS ON DUTY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Duty rotation&#10;                    &lt;/Text&gt;&#10;                    &lt;Text style={{ fontSize: 14, color: '#6B6478', lineHeight: 1.45, marginTop: 6 }}&gt;&#10;                        Duty is a typed relationship, chosen from that class’s own roster.&#10;                    &lt;/Text&gt;&#10;                &lt;/Box&gt;&#10;                &lt;Box style={{ flex: 1, flexDirection: 'column' }}&gt;&#10;                    &lt;Text style={{ fontSize: 12, fontWeight: 'bold', color: '#c4762a', letterSpacing: 1 }}&gt;&#10;                        S4 · WHEN A DATE IS OPEN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Claiming a date&#10;                    &lt;/Text&gt;&#10;                    &lt;Text style={{ fontSize: 14, color: '#6B6478', lineHeight: 1.45, marginTop: 6 }}&gt;&#10;                        Parents claim it themselves — race-safe at the database level.&#10;                    &lt;/Text&gt;&#10;                &lt;/Box&gt;&#10;            &lt;/Box&gt;&#10;&#10;            &lt;Box style={{ flexDirection: 'row', gap: 24 }}&gt;&#10;                &lt;Box style={{ flex: 1, flexDirection: 'column' }}&gt;&#10;                    &lt;Text style={{ fontSize: 12, fontWeight: 'bold', color: '#c4762a', letterSpacing: 1 }}&gt;&#10;                        S5 · ONCE A MONTH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Lock and publish&#10;                    &lt;/Text&gt;&#10;                    &lt;Text style={{ fontSize: 14, color: '#6B6478', lineHeight: 1.45, marginTop: 6 }}&gt;&#10;                        A three-state machine replaced “the file was sent or it was not”.&#10;                    &lt;/Text&gt;&#10;                &lt;/Box&gt;&#10;                &lt;Box style={{ flex: 1, flexDirection: 'column' }}&gt;&#10;                    &lt;Text style={{ fontSize: 12, fontWeight: 'bold', color: '#c4762a', letterSpacing: 1 }}&gt;&#10;                        S6 · MONTHLY MEETING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Is the duty load fair?&#10;                    &lt;/Text&gt;&#10;                    &lt;Text style={{ fontSize: 14, color: '#6B6478', lineHeight: 1.45, marginTop: 6 }}&gt;&#10;                        The report ranks every parent and names those who took none.&#10;                    &lt;/Text&gt;&#10;                &lt;/Box&gt;&#10;            &lt;/Box&gt;&#10;&#10;            &lt;Box style={{ flexDirection: 'row', gap: 24 }}&gt;&#10;                &lt;Box style={{ flex: 1, flexDirection: 'column' }}&gt;&#10;                    &lt;Text style={{ fontSize: 12, fontWeight: 'bold', color: '#c4762a', letterSpacing: 1 }}&gt;&#10;                        S7 · PLANNING NEXT MONTH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Menu reuse and history&#10;                    &lt;/Text&gt;&#10;                    &lt;Text style={{ fontSize: 14, color: '#6B6478', lineHeight: 1.45, marginTop: 6 }}&gt;&#10;                        A searchable catalog of 43 menus and 85 items, shared by all classes.&#10;                    &lt;/Text&gt;&#10;                &lt;/Box&gt;&#10;                &lt;Box style={{ flex: 1, flexDirection: 'column' }}&gt;&#10;                    &lt;Text style={{ fontSize: 12, fontWeight: 'bold', color: '#c4762a', letterSpacing: 1 }}&gt;&#10;                        S8 · EACH SCHOOL YEAR&#10;                    &lt;/Text&gt;&#10;                    &lt;Text&#10;                        style={{&#10;                            fontSize: 17,&#10;                            fontWeight: 'bold',&#10;                            color: '#2A2333',&#10;                            marginTop: 5,&#10;                            fontFamily: 'Trebuchet MS',&#10;                        }}&#10;                    &gt;&#10;                        Account lifecycle&#10;                    &lt;/Text&gt;&#10;                    &lt;Text style={{ fontSize: 14, color: '#6B6478', lineHeight: 1.45, marginTop: 6 }}&gt;&#10;                        Excel round-trip: export, edit, import — always through a dry run.&#10;                    &lt;/Text&gt;&#10;                &lt;/Box&gt;&#10;            &lt;/Box&gt;&#10;        &lt;/Box&gt;&#10;&#10;        {/* kolom sempit: pasangan penentu arsitektur */}&#10;        &lt;Box&#10;            style={{&#10;                flex: 40,&#10;                background: 'linear-gradient(135deg, #51277C 0%, #7A45A8 100%)',&#10;                borderRadius: 10,&#10;                paddingTop: 26,&#10;                paddingBottom: 26,&#10;                paddingLeft: 26,&#10;                paddingRight: 26,&#10;                flexDirection: 'column',&#10;            }}&#10;        &gt;&#10;            &lt;Text style={{ fontSize: 12, fontWeight: 'bold', color: '#AFC440', letterSpacing: 1.4 }}&gt;&#10;                THE PAIR THAT SHAPED IT&#10;            &lt;/Text&gt;&#10;            &lt;Text&#10;                style={{&#10;                    fontSize: 24,&#10;                    fontWeight: 'bold',&#10;                    color: '#FFFFFF',&#10;                    lineHeight: 1.3,&#10;                    marginTop: 12,&#10;                    fontFamily: 'Trebuchet MS',&#10;                }}&#10;            &gt;&#10;                S4 + S5, together&#10;            &lt;/Text&gt;&#10;            &lt;Box style={{ width: 56, height: 5, background: '#AFC440', marginTop: 16 }} /&gt;&#10;            &lt;Text&#10;                style={{&#10;                    fontSize: 16,&#10;                    color: 'rgba(255,255,255,0.88)',&#10;                    lineHeight: 1.6,&#10;                    marginTop: 18,&#10;                }}&#10;            &gt;&#10;                Claiming writes back into a schedule row. Publishing freezes rows. If both could&#10;                write freely, a parent could claim a slot in a month the school had already&#10;                announced.&#10;            &lt;/Text&gt;&#10;            &lt;Box style={{ marginTop: 'auto', flexDirection: 'row', gap: 10, alignItems: 'center' }}&gt;&#10;                &lt;Box style={{ width: 6, height: 20, background: '#F3B26C' }} /&gt;&#10;                &lt;Text style={{ fontSize: 15, color: '#F3B26C', fontWeight: 'bold' }}&gt;&#10;                    The status machine makes that impossible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Eight moments in the school week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S1 · EVERY MORNING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14287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Today’s snack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16859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One screen, with the duty guardian’s WhatsApp link beside the menu.</a:t>
            </a:r>
            <a:endParaRPr/>
          </a:p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3962400" y="12382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S2 · SUNDAY EVENING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3962400" y="14287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Weekly planning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962400" y="16859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Menu and duty roster were read from two places; now one view, Mon–Fri.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609600" y="22669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S3 · WHEN A CLASS IS ON DUTY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24574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Duty rotation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09600" y="27146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Duty is a typed relationship, chosen from that class’s own roster.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3962400" y="22669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S4 · WHEN A DATE IS OPEN</a:t>
            </a:r>
            <a:endParaRPr/>
          </a:p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3962400" y="24574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Claiming a date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3962400" y="27146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Parents claim it themselves — race-safe at the database level.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609600" y="32956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S5 · ONCE A MONTH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Lock and publish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37433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A three-state machine replaced “the file was sent or it was not”.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3962400" y="32956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S6 · MONTHLY MEETING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3962400" y="34861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Is the duty load fair?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3962400" y="37433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The report ranks every parent and names those who took none.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609600" y="4324350"/>
            <a:ext cx="3124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S7 · PLANNING NEXT MONTH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609600" y="4514850"/>
            <a:ext cx="3124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Menu reuse and history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609600" y="4772025"/>
            <a:ext cx="31242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A searchable catalog of 43 menus and 85 items, shared by all classes.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3962400" y="4324350"/>
            <a:ext cx="31146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4762A"/>
                </a:solidFill>
                <a:latin typeface="Microsoft YaHei"/>
                <a:ea typeface="Microsoft YaHei"/>
              </a:rPr>
              <a:t>S8 · EACH SCHOOL YEAR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3962400" y="4514850"/>
            <a:ext cx="3114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Account lifecycle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3962400" y="4772025"/>
            <a:ext cx="3114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Excel round-trip: export, edit, import — always through a dry run.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67575" y="1238250"/>
            <a:ext cx="4314825" cy="5048250"/>
          </a:xfrm>
          <a:prstGeom prst="roundRect">
            <a:avLst>
              <a:gd name="adj" fmla="val 2208"/>
            </a:avLst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515225" y="1485900"/>
            <a:ext cx="3819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05">
                <a:solidFill>
                  <a:srgbClr val="AFC440"/>
                </a:solidFill>
                <a:latin typeface="Microsoft YaHei"/>
                <a:ea typeface="Microsoft YaHei"/>
              </a:rPr>
              <a:t>THE PAIR THAT SHAPED IT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515225" y="1743075"/>
            <a:ext cx="3819525" cy="3619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800" b="1">
                <a:solidFill>
                  <a:srgbClr val="FFFFFF"/>
                </a:solidFill>
                <a:latin typeface="Trebuchet MS"/>
                <a:ea typeface="Trebuchet MS"/>
              </a:rPr>
              <a:t>S4 + S5, together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7515225" y="2257425"/>
            <a:ext cx="533400" cy="47625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7515225" y="2476500"/>
            <a:ext cx="3819525" cy="1171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FFFFFF">
                    <a:alpha val="88000"/>
                  </a:srgbClr>
                </a:solidFill>
                <a:latin typeface="Microsoft YaHei"/>
                <a:ea typeface="Microsoft YaHei"/>
              </a:rPr>
              <a:t>Claiming writes back into a schedule row. Publishing freezes rows. If both could write freely, a parent could claim a slot in a month the school had already announced.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7515225" y="5848350"/>
            <a:ext cx="57150" cy="19050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7667625" y="5857875"/>
            <a:ext cx="3095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3B26C"/>
                </a:solidFill>
                <a:latin typeface="Microsoft YaHei"/>
                <a:ea typeface="Microsoft YaHei"/>
              </a:rPr>
              <a:t>The status machine makes that impossible.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05 / 16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3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Three roles, one hard boundary&#10;        &lt;/Text&gt;&#10;        &lt;Box style={{ width: 72, height: 6, background: '#51277C', marginTop: 12 }} /&gt;&#10;    &lt;/Box&gt;&#10;&#10;    {/* ── zona B ── */}&#10;    &lt;Box style={{ height: 530, flexDirection: 'row', gap: 24 }}&gt;&#10;        {/* kiri: diagram */}&#10;        &lt;Box&#10;            style={{&#10;                flex: 55,&#10;                background: '#FFFFFF',&#10;                borderRadius: 10,&#10;                padding: 22,&#10;                boxShadow: '0 4px 20px rgba(0,0,0,0.08)',&#10;                borderTop: '3px solid #AFC440',&#10;                justifyContent: 'center',&#10;                alignItems: 'center',&#10;            }}&#10;        &gt;&#10;            &lt;svg width={520} height={440} viewBox='0 0 520 440'&gt;&#10;                &lt;text&#10;                    x='0'&#10;                    y='16'&#10;                    fontFamily='Trebuchet MS'&#10;                    fontSize='16'&#10;                    fontWeight='bold'&#10;                    fill='#2A2333'&#10;                &gt;&#10;                    Authority, drawn as reach&#10;                &lt;/text&gt;&#10;                &lt;text x='0' y='38' fontFamily='Verdana' fontSize='12' fill='#6B6478'&gt;&#10;                    Six classes. Two roles that touch exactly one of them.&#10;                &lt;/text&gt;&#10;&#10;                &lt;rect x='0' y='58' width='520' height='34' rx='4' fill='#51277C' /&gt;&#10;                &lt;text&#10;                    x='14'&#10;                    y='80'&#10;                    fontFamily='Trebuchet MS'&#10;                    fontSize='15'&#10;                    fontWeight='bold'&#10;                    fill='#FFFFFF'&#10;                &gt;&#10;                    Admin&#10;                &lt;/text&gt;&#10;                &lt;text x='506' y='80' textAnchor='end' fontFamily='Verdana' fontSize='12' fill='#FFFFFF'&gt;&#10;                    all six classes · lock and unlock&#10;                &lt;/text&gt;&#10;&#10;                &lt;text x='40' y='106' textAnchor='middle' fontFamily='Verdana' fontSize='12' fill='#6B6478'&gt;K1&lt;/text&gt;&#10;                &lt;text x='128' y='106' textAnchor='middle' fontFamily='Verdana' fontSize='12' fill='#6B6478'&gt;K2&lt;/text&gt;&#10;                &lt;text x='216' y='106' textAnchor='middle' fontFamily='Verdana' fontSize='12' fill='#6B6478'&gt;K3&lt;/text&gt;&#10;                &lt;text x='304' y='106' textAnchor='middle' fontFamily='Verdana' fontSize='12' fill='#6B6478'&gt;K4&lt;/text&gt;&#10;                &lt;text x='392' y='106' textAnchor='middle' fontFamily='Verdana' fontSize='12' fill='#6B6478'&gt;K5&lt;/text&gt;&#10;                &lt;text x='480' y='106' textAnchor='middle' fontFamily='Verdana' fontSize='12' fill='#6B6478'&gt;K6&lt;/text&gt;&#10;&#10;                &lt;rect x='0' y='114' width='80' height='170' fill='rgba(81,39,124,0.07)' stroke='rgba(81,39,124,0.22)' /&gt;&#10;                &lt;rect x='88' y='114' width='80' height='170' fill='#7A45A8' /&gt;&#10;                &lt;rect x='176' y='114' width='80' height='170' fill='rgba(81,39,124,0.07)' stroke='rgba(81,39,124,0.22)' /&gt;&#10;                &lt;rect x='264' y='114' width='80' height='170' fill='rgba(175,196,64,0.40)' stroke='#AFC440' strokeWidth='1.5' /&gt;&#10;                &lt;rect x='352' y='114' width='80' height='170' fill='rgba(81,39,124,0.07)' stroke='rgba(81,39,124,0.22)' /&gt;&#10;                &lt;rect x='440' y='114' width='80' height='170' fill='rgba(81,39,124,0.07)' stroke='rgba(81,39,124,0.22)' /&gt;&#10;&#10;                &lt;text&#10;                    x='128'&#10;                    y='205'&#10;                    textAnchor='middle'&#10;                    fontFamily='Trebuchet MS'&#10;                    fontSize='14'&#10;                    fontWeight='bold'&#10;                    fill='#FFFFFF'&#10;                &gt;&#10;                    Korlas&#10;                &lt;/text&gt;&#10;                &lt;text&#10;                    x='304'&#10;                    y='205'&#10;                    textAnchor='middle'&#10;                    fontFamily='Trebuchet MS'&#10;                    fontSize='14'&#10;                    fontWeight='bold'&#10;                    fill='#576420'&#10;                &gt;&#10;                    Parent&#10;                &lt;/text&gt;&#10;&#10;                &lt;rect&#10;                    x='80'&#10;                    y='112'&#10;                    width='96'&#10;                    height='174'&#10;                    fill='none'&#10;                    stroke='#F3B26C'&#10;                    strokeWidth='2'&#10;                    strokeDasharray='6 4'&#10;                /&gt;&#10;                &lt;text&#10;                    x='128'&#10;                    y='304'&#10;                    textAnchor='middle'&#10;                    fontFamily='Verdana'&#10;                    fontSize='12'&#10;                    fontWeight='bold'&#10;                    fill='#c4762a'&#10;                &gt;&#10;                    the boundary&#10;                &lt;/text&gt;&#10;&#10;                &lt;text x='0' y='362' fontFamily='Verdana' fontSize='13' fill='#6B6478'&gt;&#10;                    Korlas may create, lock and publish inside its own class — nowhere else.&#10;                &lt;/text&gt;&#10;                &lt;text x='0' y='386' fontFamily='Verdana' fontSize='13' fill='#6B6478'&gt;&#10;                    A cross-class write is refused with 403 forbidden_class.&#10;                &lt;/text&gt;&#10;                &lt;text x='0' y='410' fontFamily='Verdana' fontSize='13' fill='#6B6478'&gt;&#10;                    Unlock is admin-only, even inside a korlas’s own class.&#10;                &lt;/text&gt;&#10;            &lt;/svg&gt;&#10;        &lt;/Box&gt;&#10;&#10;        {/* kanan: tiga poin */}&#10;        &lt;Box style={{ flex: 45, flexDirection: 'column', gap: 12 }}&gt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2A2333',&#10;                        fontFamily: 'Trebuchet MS',&#10;                    }}&#10;                &gt;&#10;                    Enforced twice — two different jobs&#10;                &lt;/Text&gt;&#10;                &lt;Text style={{ fontSize: 15, color: '#6B6478', lineHeight: 1.5, marginTop: 8 }}&gt;&#10;                    requireRole() in the API is the boundary. RoleGate in the UI only hides buttons,&#10;                    and is documented as cosmetic.&#10;                &lt;/Text&gt;&#10;            &lt;/Box&gt;&#10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2A2333',&#10;                        fontFamily: 'Trebuchet MS',&#10;                    }}&#10;                &gt;&#10;                    Scope comes from the database row&#10;                &lt;/Text&gt;&#10;                &lt;Text style={{ fontSize: 15, color: '#6B6478', lineHeight: 1.5, marginTop: 8 }}&gt;&#10;                    On PUT and DELETE the class is read from the row, never from client input — so a&#10;                    parameter cannot hijack another class.&#10;                &lt;/Text&gt;&#10;            &lt;/Box&gt;&#10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2A2333',&#10;                        fontFamily: 'Trebuchet MS',&#10;                    }}&#10;                &gt;&#10;                    The class list has no table&#10;                &lt;/Text&gt;&#10;                &lt;Text style={{ fontSize: 15, color: '#6B6478', lineHeight: 1.5, marginTop: 8 }}&gt;&#10;                    Classes are derived from students ∪ users ∪ schedules. A table would only add a&#10;                    way to desynchronise.&#10;                &lt;/Text&gt;&#10;            &lt;/Box&gt;&#10;&#10;            &lt;Box&#10;                style={{&#10;                    background: 'rgba(81,39,124,0.06)',&#10;                    borderRadius: 10,&#10;                    paddingTop: 16,&#10;                    paddingBottom: 16,&#10;                    paddingLeft: 20,&#10;                    paddingRight: 20,&#10;                    borderTop: '3px solid #F3B26C',&#10;                    flexDirection: 'row',&#10;                    gap: 12,&#10;                    alignItems: 'center',&#10;                    marginTop: 'auto',&#10;                }}&#10;            &gt;&#10;                &lt;Box style={{ width: 6, height: 22, background: '#F3B26C' }} /&gt;&#10;                &lt;Text style={{ fontSize: 16, color: '#51277C', lineHeight: 1.4, flex: 1 }}&gt;&#10;                    Powerful inside one class — powerless outside it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Three roles, one hard boundary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85925"/>
            <a:ext cx="4953000" cy="4191000"/>
          </a:xfrm>
          <a:prstGeom prst="rect">
            <a:avLst/>
          </a:prstGeom>
          <a:ln/>
        </p:spPr>
      </p:pic>
      <p:sp>
        <p:nvSpPr>
          <p:cNvPr id="280" name=""/>
          <p:cNvSpPr/>
          <p:nvPr/>
        </p:nvSpPr>
        <p:spPr>
          <a:xfrm rot="0" flipH="0" flipV="0">
            <a:off x="6743700" y="1266825"/>
            <a:ext cx="4838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1" name=""/>
          <p:cNvSpPr/>
          <p:nvPr/>
        </p:nvSpPr>
        <p:spPr>
          <a:xfrm rot="0" flipH="0" flipV="0">
            <a:off x="6743700" y="1266825"/>
            <a:ext cx="4838700" cy="1162050"/>
          </a:xfrm>
          <a:custGeom>
            <a:pathLst>
              <a:path w="508" h="12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Enforced twice — two different jobs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934200" y="1714500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requireRole() in the API is the boundary. RoleGate in the UI only hides buttons, and is documented as cosmetic.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743700" y="2543175"/>
            <a:ext cx="4838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743700" y="2543175"/>
            <a:ext cx="4838700" cy="1162050"/>
          </a:xfrm>
          <a:custGeom>
            <a:pathLst>
              <a:path w="508" h="12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6934200" y="271462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Scope comes from the database row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6934200" y="2990850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On PUT and DELETE the class is read from the row, never from client input — so a parameter cannot hijack another class.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6743700" y="3819525"/>
            <a:ext cx="483870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9" name=""/>
          <p:cNvSpPr/>
          <p:nvPr/>
        </p:nvSpPr>
        <p:spPr>
          <a:xfrm rot="0" flipH="0" flipV="0">
            <a:off x="6743700" y="3819525"/>
            <a:ext cx="4838700" cy="1162050"/>
          </a:xfrm>
          <a:custGeom>
            <a:pathLst>
              <a:path w="508" h="12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6934200" y="39909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The class list has no table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6934200" y="4267200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Classes are derived from students ∪ users ∪ schedules. A table would only add a way to desynchronise.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6743700" y="5724525"/>
            <a:ext cx="4838700" cy="590550"/>
          </a:xfrm>
          <a:prstGeom prst="roundRect">
            <a:avLst>
              <a:gd name="adj" fmla="val 16129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6743700" y="5724525"/>
            <a:ext cx="4838700" cy="590550"/>
          </a:xfrm>
          <a:custGeom>
            <a:pathLst>
              <a:path w="508" h="62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294" name=""/>
          <p:cNvSpPr/>
          <p:nvPr/>
        </p:nvSpPr>
        <p:spPr>
          <a:xfrm rot="0" flipH="0" flipV="0">
            <a:off x="6934200" y="5905500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105650" y="5876925"/>
            <a:ext cx="4286250" cy="2571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1200">
                <a:solidFill>
                  <a:srgbClr val="51277C"/>
                </a:solidFill>
                <a:latin typeface="Microsoft YaHei"/>
                <a:ea typeface="Microsoft YaHei"/>
              </a:rPr>
              <a:t>Powerful inside one class — powerless outside it.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06 / 16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8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The core problem&#10;        &lt;/Text&gt;&#10;        &lt;Box style={{ width: 72, height: 6, background: '#51277C', marginTop: 12 }} /&gt;&#10;    &lt;/Box&gt;&#10;&#10;    {/* ── zona B ── */}&#10;    &lt;Box&#10;        style={{&#10;            height: 530,&#10;            position: 'relative',&#10;            flexDirection: 'column',&#10;            justifyContent: 'center',&#10;        }}&#10;    &gt;&#10;        {/* ikon dokumen di belakang */}&#10;        &lt;Box style={{ position: 'absolute', top: 30, left: 430, opacity: 0.09 }}&gt;&#10;            &lt;svg width={300} height={300} viewBox='0 0 300 300'&gt;&#10;                &lt;rect&#10;                    x='70'&#10;                    y='18'&#10;                    width='160'&#10;                    height='200'&#10;                    rx='10'&#10;                    fill='none'&#10;                    stroke='#51277C'&#10;                    strokeWidth='7'&#10;                /&gt;&#10;                &lt;line x1='100' y1='62' x2='200' y2='62' stroke='#51277C' strokeWidth='7' /&gt;&#10;                &lt;line x1='100' y1='96' x2='200' y2='96' stroke='#51277C' strokeWidth='7' /&gt;&#10;                &lt;line x1='100' y1='130' x2='170' y2='130' stroke='#51277C' strokeWidth='7' /&gt;&#10;                &lt;rect x='104' y='176' width='92' height='70' rx='10' fill='#51277C' /&gt;&#10;                &lt;path&#10;                    d='M120 176 v-14 a30 30 0 0 1 60 0 v14'&#10;                    fill='none'&#10;                    stroke='#51277C'&#10;                    strokeWidth='9'&#10;                /&gt;&#10;            &lt;/svg&gt;&#10;        &lt;/Box&gt;&#10;&#10;        {/* kalimat inti */}&#10;        &lt;Box style={{ position: 'relative', zIndex: 1, alignItems: 'center' }}&gt;&#10;            &lt;Text&#10;                style={{&#10;                    fontSize: 64,&#10;                    fontWeight: 'bold',&#10;                    color: '#2A2333',&#10;                    lineHeight: 1.05,&#10;                    textAlign: 'center',&#10;                    fontFamily: 'Trebuchet MS',&#10;                }}&#10;            &gt;&#10;                A shared obligation,&#10;                &lt;br /&gt;&#10;                in a private document.&#10;            &lt;/Text&gt;&#10;            &lt;Box style={{ width: 96, height: 7, background: '#AFC440', marginTop: 32 }} /&gt;&#10;        &lt;/Box&gt;&#10;&#10;        {/* dua belahan masalah */}&#10;        &lt;Box&#10;            style={{&#10;                position: 'relative',&#10;                zIndex: 1,&#10;                flexDirection: 'row',&#10;                gap: 20,&#10;                marginTop: 40,&#10;            }}&#10;        &gt;&#10;            &lt;Box&#10;                style={{&#10;                    flex: 1,&#10;                    background: '#FFFFFF',&#10;                    borderRadius: 10,&#10;                    paddingTop: 20,&#10;                    paddingBottom: 20,&#10;                    paddingLeft: 22,&#10;                    paddingRight: 22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9,&#10;                        fontWeight: 'bold',&#10;                        color: '#51277C',&#10;                        fontFamily: 'Trebuchet MS',&#10;                    }}&#10;                &gt;&#10;                    The read half&#10;                &lt;/Text&gt;&#10;                &lt;Text style={{ fontSize: 16, color: '#6B6478', lineHeight: 1.5, marginTop: 8 }}&gt;&#10;                    Parents had no reliable way to know their turn. Closing it means authentication —&#10;                    each family sees only its own child’s class — and a per-class data model.&#10;                &lt;/Text&gt;&#10;            &lt;/Box&gt;&#10;&#10;            &lt;Box&#10;                style={{&#10;                    flex: 1,&#10;                    background: 'rgba(81,39,124,0.06)',&#10;                    borderRadius: 10,&#10;                    paddingTop: 20,&#10;                    paddingBottom: 20,&#10;                    paddingLeft: 22,&#10;                    paddingRight: 22,&#10;                    borderTop: '3px solid #F3B26C',&#10;                    flexDirection: 'column',&#10;                }}&#10;            &gt;&#10;                &lt;Text&#10;                    style={{&#10;                        fontSize: 19,&#10;                        fontWeight: 'bold',&#10;                        color: '#c4762a',&#10;                        fontFamily: 'Trebuchet MS',&#10;                    }}&#10;                &gt;&#10;                    The write half&#10;                &lt;/Text&gt;&#10;                &lt;Text style={{ fontSize: 16, color: '#6B6478', lineHeight: 1.5, marginTop: 8 }}&gt;&#10;                    One admin could not maintain six classes. Closing it means a delegated role with&#10;                    a hard boundary, plus a lock/publish gate.&#10;                &lt;/Text&gt;&#10;            &lt;/Box&gt;&#10;        &lt;/Box&gt;&#10;&#10;        {/* penutup */}&#10;        &lt;Box&#10;            style={{&#10;                position: 'relative',&#10;                zIndex: 1,&#10;                marginTop: 28,&#10;                flexDirection: 'row',&#10;                alignItems: 'center',&#10;                gap: 14,&#10;                background: '#FFFFFF',&#10;                borderRadius: 10,&#10;                paddingTop: 16,&#10;                paddingBottom: 16,&#10;                paddingLeft: 22,&#10;                paddingRight: 22,&#10;                boxShadow: '0 4px 20px rgba(0,0,0,0.08)',&#10;            }}&#10;        &gt;&#10;            &lt;Text&#10;                style={{&#10;                    fontSize: 16,&#10;                    color: '#51277C',&#10;                    fontWeight: 'bold',&#10;                    fontFamily: 'Trebuchet MS',&#10;                }}&#10;            &gt;&#10;                Why the obvious fix fails&#10;            &lt;/Text&gt;&#10;            &lt;Box style={{ width: 1, height: 22, background: 'rgba(81,39,124,0.24)' }} /&gt;&#10;            &lt;Text style={{ fontSize: 16, color: '#6B6478', flex: 1 }}&gt;&#10;                A shared spreadsheet has no notion of who may edit which class, no published state,&#10;                and no claim record — so “who has never taken a turn” stays unanswerable.&#10;            &lt;/Text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7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The core problem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07 / 16</a:t>
            </a:r>
            <a:endParaRPr/>
          </a:p>
        </p:txBody>
      </p:sp>
      <p:pic>
        <p:nvPicPr>
          <p:cNvPr id="304" name=""/>
          <p:cNvPicPr>
            <a:picLocks noChangeAspect="1"/>
          </p:cNvPicPr>
          <p:nvPr/>
        </p:nvPicPr>
        <p:blipFill>
          <a:blip>
            <a:alphaModFix amt="9000"/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705350" y="1524000"/>
            <a:ext cx="2857500" cy="2857500"/>
          </a:xfrm>
          <a:prstGeom prst="rect">
            <a:avLst/>
          </a:prstGeom>
          <a:ln/>
        </p:spPr>
      </p:pic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2838450" y="1381125"/>
            <a:ext cx="6524625" cy="1543050"/>
          </a:xfrm>
          <a:prstGeom prst="rect"/>
        </p:spPr>
        <p:txBody>
          <a:bodyPr wrap="none" lIns="0" tIns="0" rIns="0" bIns="0"/>
          <a:p>
            <a:pPr algn="ctr">
              <a:lnSpc>
                <a:spcPct val="105000"/>
              </a:lnSpc>
            </a:pPr>
            <a:r>
              <a:rPr lang="en-US" sz="4800" b="1">
                <a:solidFill>
                  <a:srgbClr val="2A2333"/>
                </a:solidFill>
                <a:latin typeface="Trebuchet MS"/>
                <a:ea typeface="Trebuchet MS"/>
              </a:rPr>
              <a:t>A shared obligation,</a:t>
            </a:r>
            <a:endParaRPr/>
          </a:p>
          <a:p>
            <a:pPr algn="ctr">
              <a:lnSpc>
                <a:spcPct val="105000"/>
              </a:lnSpc>
            </a:pPr>
            <a:r>
              <a:rPr lang="en-US" sz="4800" b="1">
                <a:solidFill>
                  <a:srgbClr val="2A2333"/>
                </a:solidFill>
                <a:latin typeface="Trebuchet MS"/>
                <a:ea typeface="Trebuchet MS"/>
              </a:rPr>
              <a:t>in a private document.</a:t>
            </a:r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5638800" y="3228975"/>
            <a:ext cx="914400" cy="66675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307" name=""/>
          <p:cNvSpPr/>
          <p:nvPr/>
        </p:nvSpPr>
        <p:spPr>
          <a:xfrm rot="0" flipH="0" flipV="0">
            <a:off x="609600" y="3705225"/>
            <a:ext cx="5391150" cy="1533525"/>
          </a:xfrm>
          <a:prstGeom prst="roundRect">
            <a:avLst>
              <a:gd name="adj" fmla="val 62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609600" y="3705225"/>
            <a:ext cx="5391150" cy="1533525"/>
          </a:xfrm>
          <a:custGeom>
            <a:pathLst>
              <a:path w="566" h="161">
                <a:moveTo>
                  <a:pt x="556" y="0"/>
                </a:moveTo>
                <a:cubicBezTo>
                  <a:pt x="561" y="0"/>
                  <a:pt x="565" y="3"/>
                  <a:pt x="566" y="8"/>
                </a:cubicBezTo>
                <a:cubicBezTo>
                  <a:pt x="565" y="5"/>
                  <a:pt x="562" y="3"/>
                  <a:pt x="559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556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819150" y="38957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51277C"/>
                </a:solidFill>
                <a:latin typeface="Trebuchet MS"/>
                <a:ea typeface="Trebuchet MS"/>
              </a:rPr>
              <a:t>The read half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19150" y="4191000"/>
            <a:ext cx="497205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Parents had no reliable way to know their turn. Closing it means authentication — each family sees only its own child’s class — and a per-class data model.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6191250" y="3705225"/>
            <a:ext cx="5391150" cy="1533525"/>
          </a:xfrm>
          <a:prstGeom prst="roundRect">
            <a:avLst>
              <a:gd name="adj" fmla="val 6211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312" name=""/>
          <p:cNvSpPr/>
          <p:nvPr/>
        </p:nvSpPr>
        <p:spPr>
          <a:xfrm rot="0" flipH="0" flipV="0">
            <a:off x="6191250" y="3705225"/>
            <a:ext cx="5391150" cy="1533525"/>
          </a:xfrm>
          <a:custGeom>
            <a:pathLst>
              <a:path w="566" h="161">
                <a:moveTo>
                  <a:pt x="556" y="0"/>
                </a:moveTo>
                <a:cubicBezTo>
                  <a:pt x="561" y="0"/>
                  <a:pt x="565" y="3"/>
                  <a:pt x="566" y="8"/>
                </a:cubicBezTo>
                <a:cubicBezTo>
                  <a:pt x="565" y="5"/>
                  <a:pt x="562" y="3"/>
                  <a:pt x="559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556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6400800" y="3895725"/>
            <a:ext cx="49720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762A"/>
                </a:solidFill>
                <a:latin typeface="Trebuchet MS"/>
                <a:ea typeface="Trebuchet MS"/>
              </a:rPr>
              <a:t>The write half</a:t>
            </a:r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400800" y="4191000"/>
            <a:ext cx="497205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One admin could not maintain six classes. Closing it means a delegated role with a hard boundary, plus a lock/publish gate.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609600" y="5476875"/>
            <a:ext cx="10972800" cy="676275"/>
          </a:xfrm>
          <a:prstGeom prst="roundRect">
            <a:avLst>
              <a:gd name="adj" fmla="val 140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9150" y="5724525"/>
            <a:ext cx="1762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Trebuchet MS"/>
                <a:ea typeface="Trebuchet MS"/>
              </a:rPr>
              <a:t>Why the obvious fix fails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2714625" y="5715000"/>
            <a:ext cx="9525" cy="209550"/>
          </a:xfrm>
          <a:prstGeom prst="rect">
            <a:avLst/>
          </a:prstGeom>
          <a:solidFill>
            <a:srgbClr val="51277C">
              <a:alpha val="24000"/>
            </a:srgbClr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2857500" y="5629275"/>
            <a:ext cx="8515350" cy="371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A shared spreadsheet has no notion of who may edit which class, no published state, and no claim record — so “who has never taken a turn” stays unanswerable.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19" name="" descr="&lt;Slide&#10;    style={{&#10;        width: '1280px',&#10;        height: '720px',&#10;        background: 'linear-gradient(135deg, #51277C 0%, #7A45A8 100%)',&#10;        flexDirection: 'column',&#10;        paddingTop: 20,&#10;        paddingBottom: 20,&#10;        paddingLeft: 64,&#10;        paddingRight: 64,&#10;        position: 'relative',&#10;        overflow: 'hidden',&#10;    }}&#10;&gt;&#10;    {/* visual latar: bidang bertingkat */}&#10;    &lt;Box style={{ position: 'absolute', top: 0, left: 0, width: 1280, height: 720 }}&gt;&#10;        &lt;svg width={1280} height={720} viewBox='0 0 1280 720'&gt;&#10;            &lt;rect&#10;                x='700'&#10;                y='120'&#10;                width='380'&#10;                height='380'&#10;                rx='24'&#10;                fill='none'&#10;                stroke='#FFFFFF'&#10;                strokeWidth='2'&#10;                opacity='0.22'&#10;            /&gt;&#10;            &lt;rect&#10;                x='760'&#10;                y='180'&#10;                width='380'&#10;                height='380'&#10;                rx='24'&#10;                fill='none'&#10;                stroke='#FFFFFF'&#10;                strokeWidth='2'&#10;                opacity='0.17'&#10;            /&gt;&#10;            &lt;rect&#10;                x='820'&#10;                y='240'&#10;                width='380'&#10;                height='380'&#10;                rx='24'&#10;                fill='none'&#10;                stroke='#FFFFFF'&#10;                strokeWidth='2'&#10;                opacity='0.12'&#10;            /&gt;&#10;            &lt;rect x='700' y='120' width='72' height='8' fill='#AFC440' opacity='0.9' /&gt;&#10;        &lt;/svg&gt;&#10;    &lt;/Box&gt;&#10;&#10;    {/* teks menumpang di kiri */}&#10;    &lt;Box&#10;        style={{&#10;            position: 'relative',&#10;            zIndex: 1,&#10;            flex: 1,&#10;            justifyContent: 'center',&#10;            maxWidth: 640,&#10;        }}&#10;    &gt;&#10;        &lt;Text style={{ fontSize: 18, fontWeight: 'bold', color: '#AFC440', letterSpacing: 4 }}&gt;&#10;            CHAPTER 02&#10;        &lt;/Text&gt;&#10;        &lt;Text&#10;            style={{&#10;                fontSize: 60,&#10;                fontWeight: 'bold',&#10;                color: '#FFFFFF',&#10;                lineHeight: 1.15,&#10;                marginTop: 20,&#10;                fontFamily: 'Trebuchet MS',&#10;            }}&#10;        &gt;&#10;            Solution Design&#10;        &lt;/Text&gt;&#10;        &lt;Box style={{ width: 72, height: 6, background: '#AFC440', marginTop: 24 }} /&gt;&#10;        &lt;Text&#10;            style={{&#10;                fontSize: 20,&#10;                color: 'rgba(255,255,255,0.84)',&#10;                lineHeight: 1.6,&#10;                marginTop: 26,&#10;                fontFamily: 'Verdana',&#10;            }}&#10;        &gt;&#10;            A three-state schedule machine, a two-layer authority model, a nine-domain API — and the&#10;            prompt loop that generated all of it.&#10;        &lt;/Text&gt;&#10;    &lt;/Box&gt;&#10;&#10;    {/* footer */}&#10;    &lt;Box&#10;        style={{&#10;            position: 'relative',&#10;            zIndex: 1,&#10;            height: 40,&#10;            flexDirection: 'row',&#10;            justifyContent: 'space-between',&#10;            alignItems: 'center',&#10;        }}&#10;    &gt;&#10;        &lt;Text style={{ fontSize: 14, color: 'rgba(255,255,255,0.55)' }}&gt;&#10;            Pizza Snack Play · Visualization Project Description&#10;        &lt;/Text&gt;&#10;        &lt;Text style={{ fontSize: 14, color: 'rgba(255,255,255,0.55)' }}&gt;08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32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09600" y="1828800"/>
            <a:ext cx="60960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CHAPTER 02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09600" y="2228850"/>
            <a:ext cx="6096000" cy="7905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Solution Design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09600" y="3248025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609600" y="3552825"/>
            <a:ext cx="609600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A three-state schedule machine, a two-layer authority model, a nine-domain API — and the prompt loop that generated all of it.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08 / 16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28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draft → locked → published&#10;        &lt;/Text&gt;&#10;        &lt;Box style={{ width: 72, height: 6, background: '#51277C', marginTop: 12 }} /&gt;&#10;    &lt;/Box&gt;&#10;&#10;    {/* ── zona B ── */}&#10;    &lt;Box style={{ height: 530, flexDirection: 'row', gap: 20 }}&gt;&#10;        {/* kiri: tiga aturan */}&#10;        &lt;Box style={{ flex: 40, flexDirection: 'column', gap: 12 }}&gt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F3B26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c4762a',&#10;                        fontFamily: 'Trebuchet MS',&#10;                    }}&#10;                &gt;&#10;                    The rule that matters most&#10;                &lt;/Text&gt;&#10;                &lt;Text style={{ fontSize: 15, color: '#6B6478', lineHeight: 1.5, marginTop: 8 }}&gt;&#10;                    Publishing refuses with 409 drafts_remaining when any row is still a draft — and&#10;                    names the offending classes. A half-published class is structurally impossible.&#10;                &lt;/Text&gt;&#10;            &lt;/Box&gt;&#10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F3B26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c4762a',&#10;                        fontFamily: 'Trebuchet MS',&#10;                    }}&#10;                &gt;&#10;                    The one deliberate exception&#10;                &lt;/Text&gt;&#10;                &lt;Text style={{ fontSize: 15, color: '#6B6478', lineHeight: 1.5, marginTop: 8 }}&gt;&#10;                    On a locked row the duty officer alone may still be set — duty is often filled&#10;                    after announcement. A mixed patch is still refused.&#10;                &lt;/Text&gt;&#10;            &lt;/Box&gt;&#10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51277C',&#10;                        fontFamily: 'Trebuchet MS',&#10;                    }}&#10;                &gt;&#10;                    Two bulk semantics, kept different&#10;                &lt;/Text&gt;&#10;                &lt;Text style={{ fontSize: 15, color: '#6B6478', lineHeight: 1.5, marginTop: 8 }}&gt;&#10;                    Range operations fail loudly with 409. Selected-row operations skip and report —&#10;                    because ticking rows is an explicit choice.&#10;                &lt;/Text&gt;&#10;            &lt;/Box&gt;&#10;        &lt;/Box&gt;&#10;&#10;        {/* kanan: mesin status */}&#10;        &lt;Box&#10;            style={{&#10;                flex: 60,&#10;                background: '#FFFFFF',&#10;                borderRadius: 10,&#10;                padding: 22,&#10;                boxShadow: '0 4px 20px rgba(0,0,0,0.08)',&#10;                borderTop: '3px solid #AFC440',&#10;                justifyContent: 'center',&#10;                alignItems: 'center',&#10;            }}&#10;        &gt;&#10;            &lt;svg width={620} height={420} viewBox='0 0 620 420'&gt;&#10;                &lt;text&#10;                    x='0'&#10;                    y='18'&#10;                    fontFamily='Trebuchet MS'&#10;                    fontSize='16'&#10;                    fontWeight='bold'&#10;                    fill='#2A2333'&#10;                &gt;&#10;                    The schedule lifecycle&#10;                &lt;/text&gt;&#10;                &lt;text x='0' y='40' fontFamily='Verdana' fontSize='12' fill='#6B6478'&gt;&#10;                    Every row starts in draft. Publication is the only way out.&#10;                &lt;/text&gt;&#10;&#10;                &lt;rect x='0' y='66' width='170' height='80' rx='8' fill='#FFFFFF' stroke='#51277C' strokeWidth='1.6' /&gt;&#10;                &lt;text&#10;                    x='85'&#10;                    y='104'&#10;                    textAnchor='middle'&#10;                    fontFamily='Trebuchet MS'&#10;                    fontSize='20'&#10;                    fontWeight='bold'&#10;                    fill='#51277C'&#10;                &gt;&#10;                    draft&#10;                &lt;/text&gt;&#10;                &lt;text x='85' y='128' textAnchor='middle' fontFamily='Verdana' fontSize='12' fill='#6B6478'&gt;&#10;                    fully editable&#10;                &lt;/text&gt;&#10;&#10;                &lt;rect x='225' y='66' width='170' height='80' rx='8' fill='#FFFFFF' stroke='#51277C' strokeWidth='1.6' /&gt;&#10;                &lt;text&#10;                    x='310'&#10;                    y='104'&#10;                    textAnchor='middle'&#10;                    fontFamily='Trebuchet MS'&#10;                    fontSize='20'&#10;                    fontWeight='bold'&#10;                    fill='#51277C'&#10;                &gt;&#10;                    locked&#10;                &lt;/text&gt;&#10;                &lt;text x='310' y='128' textAnchor='middle' fontFamily='Verdana' fontSize='12' fill='#6B6478'&gt;&#10;                    frozen&#10;                &lt;/text&gt;&#10;&#10;                &lt;rect x='450' y='66' width='170' height='80' rx='8' fill='#F3B26C' stroke='#d97f2f' strokeWidth='1.6' /&gt;&#10;                &lt;text&#10;                    x='535'&#10;                    y='104'&#10;                    textAnchor='middle'&#10;                    fontFamily='Trebuchet MS'&#10;                    fontSize='20'&#10;                    fontWeight='bold'&#10;                    fill='#3c1e0c'&#10;                &gt;&#10;                    published&#10;                &lt;/text&gt;&#10;                &lt;text x='535' y='128' textAnchor='middle' fontFamily='Verdana' fontSize='12' fill='#6f3c1c'&gt;&#10;                    visible to parents&#10;                &lt;/text&gt;&#10;&#10;                &lt;line x1='174' y1='106' x2='221' y2='106' stroke='#51277C' strokeWidth='1.6' /&gt;&#10;                &lt;polygon points='221,106 213,101 213,111' fill='#51277C' /&gt;&#10;                &lt;text x='197' y='94' textAnchor='middle' fontFamily='Verdana' fontSize='12' fontWeight='bold' fill='#6B6478'&gt;&#10;                    lock&#10;                &lt;/text&gt;&#10;&#10;                &lt;line x1='399' y1='106' x2='446' y2='106' stroke='#51277C' strokeWidth='1.6' /&gt;&#10;                &lt;polygon points='446,106 438,101 438,111' fill='#51277C' /&gt;&#10;                &lt;text x='422' y='94' textAnchor='middle' fontFamily='Verdana' fontSize='12' fontWeight='bold' fill='#6B6478'&gt;&#10;                    publish&#10;                &lt;/text&gt;&#10;&#10;                &lt;path&#10;                    d='M535 150 L535 196 L85 196 L85 150'&#10;                    fill='none'&#10;                    stroke='#F3B26C'&#10;                    strokeWidth='1.6'&#10;                    strokeDasharray='6 4'&#10;                /&gt;&#10;                &lt;polygon points='85,150 80,159 90,159' fill='#F3B26C' /&gt;&#10;                &lt;text&#10;                    x='310'&#10;                    y='216'&#10;                    textAnchor='middle'&#10;                    fontFamily='Verdana'&#10;                    fontSize='12'&#10;                    fontWeight='bold'&#10;                    fill='#c4762a'&#10;                &gt;&#10;                    unlock — admin only&#10;                &lt;/text&gt;&#10;&#10;                &lt;line x1='0' y1='246' x2='620' y2='246' stroke='rgba(81,39,124,0.18)' /&gt;&#10;&#10;                &lt;text x='0' y='278' fontFamily='Verdana' fontSize='13' fill='#6B6478'&gt;&#10;                    publish → 409 drafts_remaining, offending classes named&#10;                &lt;/text&gt;&#10;                &lt;text x='0' y='306' fontFamily='Verdana' fontSize='13' fill='#6B6478'&gt;&#10;                    PUT / DELETE on a locked row → 409 not_editable&#10;                &lt;/text&gt;&#10;                &lt;text x='0' y='334' fontFamily='Verdana' fontSize='13' fill='#6B6478'&gt;&#10;                    exception: the duty officer alone may still be set&#10;                &lt;/text&gt;&#10;                &lt;text x='0' y='362' fontFamily='Verdana' fontSize='13' fill='#6B6478'&gt;&#10;                    the status predicate lives in the SQL WHERE clause&#10;                &lt;/text&gt;&#10;                &lt;text x='0' y='396' fontFamily='Verdana' fontSize='13' fontWeight='bold' fill='#51277C'&gt;&#10;                    Set by setStatusByIds() — not by the caller.&#10;                &lt;/text&gt;&#10;            &lt;/svg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09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draft → locked → published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609600" y="1266825"/>
            <a:ext cx="4314825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3" name=""/>
          <p:cNvSpPr/>
          <p:nvPr/>
        </p:nvSpPr>
        <p:spPr>
          <a:xfrm rot="0" flipH="0" flipV="0">
            <a:off x="609600" y="1266825"/>
            <a:ext cx="4314825" cy="1419225"/>
          </a:xfrm>
          <a:custGeom>
            <a:pathLst>
              <a:path w="453" h="149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1438275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The rule that matters most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00100" y="1714500"/>
            <a:ext cx="39338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Publishing refuses with 409 drafts_remaining when any row is still a draft — and names the offending classes. A half-published class is structurally impossible.</a:t>
            </a:r>
            <a:endParaRPr/>
          </a:p>
        </p:txBody>
      </p:sp>
      <p:sp>
        <p:nvSpPr>
          <p:cNvPr id="336" name=""/>
          <p:cNvSpPr/>
          <p:nvPr/>
        </p:nvSpPr>
        <p:spPr>
          <a:xfrm rot="0" flipH="0" flipV="0">
            <a:off x="609600" y="2800350"/>
            <a:ext cx="4314825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7" name=""/>
          <p:cNvSpPr/>
          <p:nvPr/>
        </p:nvSpPr>
        <p:spPr>
          <a:xfrm rot="0" flipH="0" flipV="0">
            <a:off x="609600" y="2800350"/>
            <a:ext cx="4314825" cy="1419225"/>
          </a:xfrm>
          <a:custGeom>
            <a:pathLst>
              <a:path w="453" h="149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338" name="" descr="{&quot;isTemplate&quot;:true,&quot;type&quot;:&quot;text&quot;}"/>
          <p:cNvSpPr txBox="1"/>
          <p:nvPr/>
        </p:nvSpPr>
        <p:spPr>
          <a:xfrm rot="0" flipH="0" flipV="0">
            <a:off x="800100" y="2971800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The one deliberate exception</a:t>
            </a:r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00100" y="3248025"/>
            <a:ext cx="39338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On a locked row the duty officer alone may still be set — duty is often filled after announcement. A mixed patch is still refused.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609600" y="4333875"/>
            <a:ext cx="4314825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1" name=""/>
          <p:cNvSpPr/>
          <p:nvPr/>
        </p:nvSpPr>
        <p:spPr>
          <a:xfrm rot="0" flipH="0" flipV="0">
            <a:off x="609600" y="4333875"/>
            <a:ext cx="4314825" cy="1419225"/>
          </a:xfrm>
          <a:custGeom>
            <a:pathLst>
              <a:path w="453" h="149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00100" y="4505325"/>
            <a:ext cx="3933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51277C"/>
                </a:solidFill>
                <a:latin typeface="Trebuchet MS"/>
                <a:ea typeface="Trebuchet MS"/>
              </a:rPr>
              <a:t>Two bulk semantics, kept different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00100" y="4781550"/>
            <a:ext cx="3933825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Range operations fail loudly with 409. Selected-row operations skip and report — because ticking rows is an explicit choice.</a:t>
            </a:r>
            <a:endParaRPr/>
          </a:p>
        </p:txBody>
      </p:sp>
      <p:sp>
        <p:nvSpPr>
          <p:cNvPr id="344" name=""/>
          <p:cNvSpPr/>
          <p:nvPr/>
        </p:nvSpPr>
        <p:spPr>
          <a:xfrm rot="0" flipH="0" flipV="0">
            <a:off x="5114925" y="1266825"/>
            <a:ext cx="6467475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5" name=""/>
          <p:cNvSpPr/>
          <p:nvPr/>
        </p:nvSpPr>
        <p:spPr>
          <a:xfrm rot="0" flipH="0" flipV="0">
            <a:off x="5114925" y="1266825"/>
            <a:ext cx="6467475" cy="5048250"/>
          </a:xfrm>
          <a:custGeom>
            <a:pathLst>
              <a:path w="679" h="530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34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5400675" y="1781175"/>
            <a:ext cx="5905500" cy="4000500"/>
          </a:xfrm>
          <a:prstGeom prst="rect">
            <a:avLst/>
          </a:prstGeom>
          <a:ln/>
        </p:spPr>
      </p:pic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09 / 16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9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Nine domains, 65 endpoints&#10;        &lt;/Text&gt;&#10;        &lt;Box style={{ width: 72, height: 6, background: '#51277C', marginTop: 12 }} /&gt;&#10;    &lt;/Box&gt;&#10;&#10;    {/* ── zona B ── */}&#10;    &lt;Box style={{ height: 530, flexDirection: 'row', gap: 24 }}&gt;&#10;        {/* kiri: tumpukan lapisan */}&#10;        &lt;Box&#10;            style={{&#10;                flex: 55,&#10;                background: '#FFFFFF',&#10;                borderRadius: 10,&#10;                padding: 22,&#10;                boxShadow: '0 4px 20px rgba(0,0,0,0.08)',&#10;                borderTop: '3px solid #AFC440',&#10;                justifyContent: 'center',&#10;                alignItems: 'center',&#10;            }}&#10;        &gt;&#10;            &lt;svg width={560} height={440} viewBox='0 0 560 440'&gt;&#10;                &lt;text x='0' y='14' fontFamily='Trebuchet MS' fontSize='14' fontWeight='bold' fill='#2A2333'&gt;&#10;                    Browser — React 19 SPA&#10;                &lt;/text&gt;&#10;                &lt;text x='560' y='14' textAnchor='end' fontFamily='Verdana' fontSize='12' fill='#6B6478'&gt;&#10;                    HTTPS · JWT Bearer · /api&#10;                &lt;/text&gt;&#10;&#10;                &lt;rect x='0' y='48' width='560' height='296' rx='10' fill='rgba(81,39,124,0.06)' stroke='rgba(81,39,124,0.30)' strokeWidth='1.4' strokeDasharray='7 5' /&gt;&#10;                &lt;text x='16' y='72' fontFamily='Trebuchet MS' fontSize='13' fontWeight='bold' fill='#51277C'&gt;&#10;                    Cloudflare Worker · Hono router&#10;                &lt;/text&gt;&#10;&#10;                &lt;rect x='16' y='86' width='528' height='48' rx='6' fill='#FFFFFF' stroke='rgba(81,39,124,0.24)' /&gt;&#10;                &lt;text x='32' y='115' fontFamily='Verdana' fontSize='13' fontWeight='bold' fill='#2A2333'&gt;&#10;                    middleware/&#10;                &lt;/text&gt;&#10;                &lt;text x='528' y='115' textAnchor='end' fontFamily='Verdana' fontSize='12' fill='#6B6478'&gt;&#10;                    JWT verification · role guard · class scope&#10;                &lt;/text&gt;&#10;&#10;                &lt;rect x='16' y='142' width='528' height='48' rx='6' fill='#FFFFFF' stroke='#51277C' strokeWidth='1.8' /&gt;&#10;                &lt;text x='32' y='171' fontFamily='Verdana' fontSize='13' fontWeight='bold' fill='#2A2333'&gt;&#10;                    route.ts&#10;                &lt;/text&gt;&#10;                &lt;text x='528' y='171' textAnchor='end' fontFamily='Verdana' fontSize='12' fontWeight='bold' fill='#c4762a'&gt;&#10;                    requireRole() — the real boundary&#10;                &lt;/text&gt;&#10;&#10;                &lt;rect x='16' y='198' width='528' height='48' rx='6' fill='#FFFFFF' stroke='rgba(81,39,124,0.24)' /&gt;&#10;                &lt;text x='32' y='227' fontFamily='Verdana' fontSize='13' fontWeight='bold' fill='#2A2333'&gt;&#10;                    controller + service&#10;                &lt;/text&gt;&#10;                &lt;text x='528' y='227' textAnchor='end' fontFamily='Verdana' fontSize='12' fill='#6B6478'&gt;&#10;                    DTO shaping · business rules · publish gate&#10;                &lt;/text&gt;&#10;&#10;                &lt;rect x='16' y='254' width='528' height='48' rx='6' fill='#FFFFFF' stroke='rgba(81,39,124,0.24)' /&gt;&#10;                &lt;text x='32' y='283' fontFamily='Verdana' fontSize='13' fontWeight='bold' fill='#2A2333'&gt;&#10;                    repository.ts&#10;                &lt;/text&gt;&#10;                &lt;text x='528' y='283' textAnchor='end' fontFamily='Verdana' fontSize='12' fill='#6B6478'&gt;&#10;                    SQL only · status predicate in the WHERE&#10;                &lt;/text&gt;&#10;&#10;                &lt;line x1='280' y1='348' x2='280' y2='368' stroke='#51277C' strokeWidth='1.6' /&gt;&#10;                &lt;polygon points='280,372 275,362 285,362' fill='#51277C' /&gt;&#10;&#10;                &lt;rect x='0' y='376' width='560' height='48' rx='8' fill='#FFFFFF' stroke='#AFC440' strokeWidth='1.8' /&gt;&#10;                &lt;text x='280' y='405' textAnchor='middle' fontFamily='Trebuchet MS' fontSize='14' fontWeight='bold' fill='#576420'&gt;&#10;                    Cloudflare D1 · 13 tables · 9 migrations&#10;                &lt;/text&gt;&#10;            &lt;/svg&gt;&#10;        &lt;/Box&gt;&#10;&#10;        {/* kanan: angka + alasan */}&#10;        &lt;Box style={{ flex: 45, flexDirection: 'column', gap: 14 }}&gt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2A2333',&#10;                        fontFamily: 'Trebuchet MS',&#10;                    }}&#10;                &gt;&#10;                    65 endpoints, 9 domains&#10;                &lt;/Text&gt;&#10;                &lt;Box style={{ flexDirection: 'row', gap: 18, marginTop: 14 }}&gt;&#10;                    &lt;Box style={{ flexDirection: 'column' }}&gt;&#10;                        &lt;Text style={{ fontSize: 24, fontWeight: 'bold', color: '#51277C', fontFamily: 'Trebuchet MS' }}&gt;&#10;                            29&#10;                        &lt;/Text&gt;&#10;                        &lt;Text style={{ fontSize: 12, color: '#6B6478', marginTop: 2 }}&gt;GET&lt;/Text&gt;&#10;                    &lt;/Box&gt;&#10;                    &lt;Box style={{ flexDirection: 'column' }}&gt;&#10;                        &lt;Text style={{ fontSize: 24, fontWeight: 'bold', color: '#51277C', fontFamily: 'Trebuchet MS' }}&gt;&#10;                            22&#10;                        &lt;/Text&gt;&#10;                        &lt;Text style={{ fontSize: 12, color: '#6B6478', marginTop: 2 }}&gt;POST&lt;/Text&gt;&#10;                    &lt;/Box&gt;&#10;                    &lt;Box style={{ flexDirection: 'column' }}&gt;&#10;                        &lt;Text style={{ fontSize: 24, fontWeight: 'bold', color: '#51277C', fontFamily: 'Trebuchet MS' }}&gt;&#10;                            7&#10;                        &lt;/Text&gt;&#10;                        &lt;Text style={{ fontSize: 12, color: '#6B6478', marginTop: 2 }}&gt;PUT&lt;/Text&gt;&#10;                    &lt;/Box&gt;&#10;                    &lt;Box style={{ flexDirection: 'column' }}&gt;&#10;                        &lt;Text style={{ fontSize: 24, fontWeight: 'bold', color: '#51277C', fontFamily: 'Trebuchet MS' }}&gt;&#10;                            7&#10;                        &lt;/Text&gt;&#10;                        &lt;Text style={{ fontSize: 12, color: '#6B6478', marginTop: 2 }}&gt;DELETE&lt;/Text&gt;&#10;                    &lt;/Box&gt;&#10;                &lt;/Box&gt;&#10;                &lt;Text style={{ fontSize: 13, color: '#6B6478', marginTop: 12, lineHeight: 1.45 }}&gt;&#10;                    auth · catalog · claims · classes · laporan · parents · profile · schedules · stats&#10;                &lt;/Text&gt;&#10;            &lt;/Box&gt;&#10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AFC440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2A2333',&#10;                        fontFamily: 'Trebuchet MS',&#10;                    }}&#10;                &gt;&#10;                    Why four layers&#10;                &lt;/Text&gt;&#10;                &lt;Text style={{ fontSize: 15, color: '#6B6478', lineHeight: 1.5, marginTop: 8 }}&gt;&#10;                    Authority in route.ts, scope in classScope, rules in service, status predicates in&#10;                    the WHERE clause. A reviewer looking for a rule knows which file to open.&#10;                &lt;/Text&gt;&#10;            &lt;/Box&gt;&#10;&#10;            &lt;Box&#10;                style={{&#10;                    background: 'rgba(81,39,124,0.06)',&#10;                    borderRadius: 10,&#10;                    paddingTop: 18,&#10;                    paddingBottom: 18,&#10;                    paddingLeft: 20,&#10;                    paddingRight: 20,&#10;                    borderTop: '3px solid #F3B26C',&#10;                    flexDirection: 'column',&#10;                    marginTop: 'auto',&#10;                }}&#10;            &gt;&#10;                &lt;Text style={{ fontSize: 15, color: '#51277C', lineHeight: 1.5 }}&gt;&#10;                    The whole school fits in the Cloudflare free tier — Workers, D1, and a PWA&#10;                    install. No server, no licence, no app store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10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Nine domains, 65 endpoints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23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95350" y="1685925"/>
            <a:ext cx="5334000" cy="4191000"/>
          </a:xfrm>
          <a:prstGeom prst="rect">
            <a:avLst/>
          </a:prstGeom>
          <a:ln/>
        </p:spPr>
      </p:pic>
      <p:sp>
        <p:nvSpPr>
          <p:cNvPr id="26" name=""/>
          <p:cNvSpPr/>
          <p:nvPr/>
        </p:nvSpPr>
        <p:spPr>
          <a:xfrm rot="0" flipH="0" flipV="0">
            <a:off x="6743700" y="1266825"/>
            <a:ext cx="4838700" cy="147637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743700" y="1266825"/>
            <a:ext cx="4838700" cy="1476375"/>
          </a:xfrm>
          <a:custGeom>
            <a:pathLst>
              <a:path w="508" h="155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65 endpoints, 9 domains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6934200" y="1771650"/>
            <a:ext cx="276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29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6934200" y="2066925"/>
            <a:ext cx="276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GET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7381875" y="1771650"/>
            <a:ext cx="295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22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381875" y="2066925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POST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848600" y="177165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7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7848600" y="20669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PUT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8248650" y="1771650"/>
            <a:ext cx="4000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1277C"/>
                </a:solidFill>
                <a:latin typeface="Trebuchet MS"/>
                <a:ea typeface="Trebuchet MS"/>
              </a:rPr>
              <a:t>7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8248650" y="2066925"/>
            <a:ext cx="40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DELETE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934200" y="2324100"/>
            <a:ext cx="445770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75">
                <a:solidFill>
                  <a:srgbClr val="6B6478"/>
                </a:solidFill>
                <a:latin typeface="Microsoft YaHei"/>
                <a:ea typeface="Microsoft YaHei"/>
              </a:rPr>
              <a:t>auth · catalog · claims · classes · laporan · parents · profile · schedules · stats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6743700" y="2876550"/>
            <a:ext cx="4838700" cy="1419225"/>
          </a:xfrm>
          <a:prstGeom prst="roundRect">
            <a:avLst>
              <a:gd name="adj" fmla="val 6711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9" name=""/>
          <p:cNvSpPr/>
          <p:nvPr/>
        </p:nvSpPr>
        <p:spPr>
          <a:xfrm rot="0" flipH="0" flipV="0">
            <a:off x="6743700" y="2876550"/>
            <a:ext cx="4838700" cy="1419225"/>
          </a:xfrm>
          <a:custGeom>
            <a:pathLst>
              <a:path w="508" h="149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934200" y="3048000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A2333"/>
                </a:solidFill>
                <a:latin typeface="Trebuchet MS"/>
                <a:ea typeface="Trebuchet MS"/>
              </a:rPr>
              <a:t>Why four layers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934200" y="3324225"/>
            <a:ext cx="4457700" cy="771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Authority in route.ts, scope in classScope, rules in service, status predicates in the WHERE clause. A reviewer looking for a rule knows which file to open.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6743700" y="5429250"/>
            <a:ext cx="4838700" cy="885825"/>
          </a:xfrm>
          <a:prstGeom prst="roundRect">
            <a:avLst>
              <a:gd name="adj" fmla="val 10753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6743700" y="5429250"/>
            <a:ext cx="4838700" cy="885825"/>
          </a:xfrm>
          <a:custGeom>
            <a:pathLst>
              <a:path w="508" h="93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6934200" y="5600700"/>
            <a:ext cx="44577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51277C"/>
                </a:solidFill>
                <a:latin typeface="Microsoft YaHei"/>
                <a:ea typeface="Microsoft YaHei"/>
              </a:rPr>
              <a:t>The whole school fits in the Cloudflare free tier — Workers, D1, and a PWA install. No server, no licence, no app store.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10 / 16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7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How prompts drive the generation&#10;        &lt;/Text&gt;&#10;        &lt;Box style={{ width: 72, height: 6, background: '#51277C', marginTop: 12 }} /&gt;&#10;    &lt;/Box&gt;&#10;&#10;    {/* ── zona B ── */}&#10;    &lt;Box style={{ height: 530, flexDirection: 'column', gap: 24 }}&gt;&#10;        {/* diagram loop */}&#10;        &lt;Box style={{ height: 270 }}&gt;&#10;            &lt;svg width={1150} height={270} viewBox='0 0 1150 270'&gt;&#10;                &lt;text x='0' y='16' fontFamily='Trebuchet MS' fontSize='16' fontWeight='bold' fill='#2A2333'&gt;&#10;                    The loop&#10;                &lt;/text&gt;&#10;                &lt;text x='0' y='38' fontFamily='Verdana' fontSize='12' fill='#6B6478'&gt;&#10;                    The prompt is the specification. A verifier is named before any code is written.&#10;                &lt;/text&gt;&#10;&#10;                &lt;rect x='20' y='58' width='190' height='126' rx='8' fill='#FFFFFF' stroke='rgba(81,39,124,0.28)' strokeWidth='1.4' /&gt;&#10;                &lt;text x='36' y='84' fontFamily='Verdana' fontSize='12' fontWeight='bold' fill='#c4762a'&gt;01&lt;/text&gt;&#10;                &lt;text x='36' y='110' fontFamily='Trebuchet MS' fontSize='17' fontWeight='bold' fill='#2A2333'&gt;Domain truth&lt;/text&gt;&#10;                &lt;text x='36' y='136' fontFamily='Verdana' fontSize='12.5' fill='#6B6478'&gt;A human supplies what the AI cannot know:&lt;/text&gt;&#10;                &lt;text x='36' y='154' fontFamily='Verdana' fontSize='12.5' fill='#6B6478'&gt;the real schedule, roles, boundaries.&lt;/text&gt;&#10;&#10;                &lt;rect x='250' y='58' width='190' height='126' rx='8' fill='#FFFFFF' stroke='#51277C' strokeWidth='1.8' /&gt;&#10;                &lt;text x='266' y='84' fontFamily='Verdana' fontSize='12' fontWeight='bold' fill='#c4762a'&gt;02&lt;/text&gt;&#10;                &lt;text x='266' y='110' fontFamily='Trebuchet MS' fontSize='17' fontWeight='bold' fill='#51277C'&gt;Prompt&lt;/text&gt;&#10;                &lt;text x='266' y='136' fontFamily='Verdana' fontSize='12.5' fill='#6B6478'&gt;Five slots: intent, constraint, evidence,&lt;/text&gt;&#10;                &lt;text x='266' y='154' fontFamily='Verdana' fontSize='12.5' fill='#6B6478'&gt;acceptance, artefacts.&lt;/text&gt;&#10;&#10;                &lt;rect x='480' y='58' width='190' height='126' rx='8' fill='#FFFFFF' stroke='rgba(81,39,124,0.28)' strokeWidth='1.4' /&gt;&#10;                &lt;text x='496' y='84' fontFamily='Verdana' fontSize='12' fontWeight='bold' fill='#c4762a'&gt;03&lt;/text&gt;&#10;                &lt;text x='496' y='110' fontFamily='Trebuchet MS' fontSize='17' fontWeight='bold' fill='#2A2333'&gt;AI generates&lt;/text&gt;&#10;                &lt;text x='496' y='136' fontFamily='Verdana' fontSize='12.5' fill='#6B6478'&gt;Migration, API, UI, documentation —&lt;/text&gt;&#10;                &lt;text x='496' y='154' fontFamily='Verdana' fontSize='12.5' fill='#6B6478'&gt;and the test that will judge it.&lt;/text&gt;&#10;&#10;                &lt;rect x='710' y='58' width='190' height='126' rx='8' fill='#FFFFFF' stroke='rgba(81,39,124,0.28)' strokeWidth='1.4' /&gt;&#10;                &lt;text x='726' y='84' fontFamily='Verdana' fontSize='12' fontWeight='bold' fill='#c4762a'&gt;04&lt;/text&gt;&#10;                &lt;text x='726' y='110' fontFamily='Trebuchet MS' fontSize='17' fontWeight='bold' fill='#2A2333'&gt;Verifier runs&lt;/text&gt;&#10;                &lt;text x='726' y='136' fontFamily='Verdana' fontSize='12.5' fill='#6B6478'&gt;tsc, eslint, vite build, and the&lt;/text&gt;&#10;                &lt;text x='726' y='154' fontFamily='Verdana' fontSize='12.5' fill='#6B6478'&gt;suite named in slot four.&lt;/text&gt;&#10;&#10;                &lt;rect x='940' y='58' width='190' height='126' rx='8' fill='#FFFFFF' stroke='rgba(81,39,124,0.28)' strokeWidth='1.4' /&gt;&#10;                &lt;text x='956' y='84' fontFamily='Verdana' fontSize='12' fontWeight='bold' fill='#c4762a'&gt;05&lt;/text&gt;&#10;                &lt;text x='956' y='110' fontFamily='Trebuchet MS' fontSize='17' fontWeight='bold' fill='#2A2333'&gt;Commit &amp;amp; record&lt;/text&gt;&#10;                &lt;text x='956' y='136' fontFamily='Verdana' fontSize='12.5' fill='#6B6478'&gt;Code, PRD changelog entry and&lt;/text&gt;&#10;                &lt;text x='956' y='154' fontFamily='Verdana' fontSize='12.5' fill='#6B6478'&gt;project memory, together.&lt;/text&gt;&#10;&#10;                &lt;line x1='214' y1='121' x2='246' y2='121' stroke='#51277C' strokeWidth='1.6' /&gt;&#10;                &lt;polygon points='246,121 238,116 238,126' fill='#51277C' /&gt;&#10;                &lt;line x1='444' y1='121' x2='476' y2='121' stroke='#51277C' strokeWidth='1.6' /&gt;&#10;                &lt;polygon points='476,121 468,116 468,126' fill='#51277C' /&gt;&#10;                &lt;line x1='674' y1='121' x2='706' y2='121' stroke='#51277C' strokeWidth='1.6' /&gt;&#10;                &lt;polygon points='706,121 698,116 698,126' fill='#51277C' /&gt;&#10;                &lt;line x1='904' y1='121' x2='936' y2='121' stroke='#51277C' strokeWidth='1.6' /&gt;&#10;                &lt;polygon points='936,121 928,116 928,126' fill='#51277C' /&gt;&#10;&#10;                &lt;path d='M1035 184 L1035 226 L115 226 L115 184' fill='none' stroke='#F3B26C' strokeWidth='1.8' strokeDasharray='6 4' /&gt;&#10;                &lt;polygon points='115,184 109,194 121,194' fill='#F3B26C' /&gt;&#10;                &lt;text x='575' y='248' textAnchor='middle' fontFamily='Verdana' fontSize='12.5' fontWeight='bold' fill='#c4762a'&gt;&#10;                    on failure — correct the prompt, and write the constraint into memory so it cannot recur&#10;                &lt;/text&gt;&#10;            &lt;/svg&gt;&#10;        &lt;/Box&gt;&#10;&#10;        {/* dua kartu */}&#10;        &lt;Box style={{ height: 236, flexDirection: 'row', gap: 20 }}&gt;&#10;            &lt;Box&#10;                style={{&#10;                    flex: 60,&#10;                    background: '#FFFFFF',&#10;                    borderRadius: 10,&#10;                    paddingTop: 22,&#10;                    paddingBottom: 22,&#10;                    paddingLeft: 24,&#10;                    paddingRight: 24,&#10;                    boxShadow: '0 4px 20px rgba(0,0,0,0.08)',&#10;                    borderTop: '3px solid #51277C',&#10;                    flexDirection: 'column',&#10;                }}&#10;            &gt;&#10;                &lt;Text&#10;                    style={{&#10;                        fontSize: 20,&#10;                        fontWeight: 'bold',&#10;                        color: '#2A2333',&#10;                        fontFamily: 'Trebuchet MS',&#10;                    }}&#10;                &gt;&#10;                    Slot 4 is what makes the loop converge&#10;                &lt;/Text&gt;&#10;                &lt;Text style={{ fontSize: 16, color: '#6B6478', lineHeight: 1.55, marginTop: 12 }}&gt;&#10;                    A prompt that does not name its verifier produces code that passes nothing in&#10;                    particular. A prompt that names&#10;                    &lt;span style={{ color: '#51277C', fontWeight: 'bold' }}&gt; 409 drafts_remaining &lt;/span&gt;&#10;                    produces a test that will still be running a year later.&#10;                &lt;/Text&gt;&#10;            &lt;/Box&gt;&#10;&#10;            &lt;Box&#10;                style={{&#10;                    flex: 40,&#10;                    background: 'rgba(81,39,124,0.06)',&#10;                    borderRadius: 10,&#10;                    paddingTop: 22,&#10;                    paddingBottom: 22,&#10;                    paddingLeft: 24,&#10;                    paddingRight: 24,&#10;                    borderTop: '3px solid #F3B26C',&#10;                    flexDirection: 'column',&#10;                }}&#10;            &gt;&#10;                &lt;Text&#10;                    style={{&#10;                        fontSize: 20,&#10;                        fontWeight: 'bold',&#10;                        color: '#c4762a',&#10;                        fontFamily: 'Trebuchet MS',&#10;                    }}&#10;                &gt;&#10;                    A prompt refused by its own constraint&#10;                &lt;/Text&gt;&#10;                &lt;Text style={{ fontSize: 16, color: '#6B6478', lineHeight: 1.55, marginTop: 12 }}&gt;&#10;                    “Add a composite foreign key on the duty officer” was rejected: the constraint slot&#10;                    required the migration to succeed in production, and a table rebuild cannot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11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How prompts drive the generation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pic>
        <p:nvPicPr>
          <p:cNvPr id="5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238250"/>
            <a:ext cx="10953750" cy="2571750"/>
          </a:xfrm>
          <a:prstGeom prst="rect">
            <a:avLst/>
          </a:prstGeom>
          <a:ln/>
        </p:spPr>
      </p:pic>
      <p:sp>
        <p:nvSpPr>
          <p:cNvPr id="52" name=""/>
          <p:cNvSpPr/>
          <p:nvPr/>
        </p:nvSpPr>
        <p:spPr>
          <a:xfrm rot="0" flipH="0" flipV="0">
            <a:off x="609600" y="4067175"/>
            <a:ext cx="6467475" cy="2247900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609600" y="4067175"/>
            <a:ext cx="6467475" cy="2247900"/>
          </a:xfrm>
          <a:custGeom>
            <a:pathLst>
              <a:path w="679" h="236">
                <a:moveTo>
                  <a:pt x="669" y="0"/>
                </a:moveTo>
                <a:cubicBezTo>
                  <a:pt x="674" y="0"/>
                  <a:pt x="678" y="3"/>
                  <a:pt x="679" y="8"/>
                </a:cubicBezTo>
                <a:cubicBezTo>
                  <a:pt x="678" y="5"/>
                  <a:pt x="675" y="3"/>
                  <a:pt x="672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69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38200" y="4276725"/>
            <a:ext cx="6010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2A2333"/>
                </a:solidFill>
                <a:latin typeface="Trebuchet MS"/>
                <a:ea typeface="Trebuchet MS"/>
              </a:rPr>
              <a:t>Slot 4 is what makes the loop converge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38200" y="4619625"/>
            <a:ext cx="6010275" cy="857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A prompt that does not name its verifier produces code that passes nothing in particular. A prompt that names</a:t>
            </a:r>
            <a:r>
              <a:rPr lang="en-US" sz="1200" b="1">
                <a:solidFill>
                  <a:srgbClr val="51277C"/>
                </a:solidFill>
                <a:latin typeface="Microsoft YaHei"/>
                <a:ea typeface="Microsoft YaHei"/>
              </a:rPr>
              <a:t xml:space="preserve"> 409 drafts_remaining </a:t>
            </a: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produces a test that will still be running a year later.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267575" y="4067175"/>
            <a:ext cx="4314825" cy="2247900"/>
          </a:xfrm>
          <a:prstGeom prst="roundRect">
            <a:avLst>
              <a:gd name="adj" fmla="val 4237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7267575" y="4067175"/>
            <a:ext cx="4314825" cy="2247900"/>
          </a:xfrm>
          <a:custGeom>
            <a:pathLst>
              <a:path w="453" h="236">
                <a:moveTo>
                  <a:pt x="443" y="0"/>
                </a:moveTo>
                <a:cubicBezTo>
                  <a:pt x="448" y="0"/>
                  <a:pt x="452" y="3"/>
                  <a:pt x="453" y="8"/>
                </a:cubicBezTo>
                <a:cubicBezTo>
                  <a:pt x="452" y="5"/>
                  <a:pt x="449" y="3"/>
                  <a:pt x="446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3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496175" y="4276725"/>
            <a:ext cx="38576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4762A"/>
                </a:solidFill>
                <a:latin typeface="Trebuchet MS"/>
                <a:ea typeface="Trebuchet MS"/>
              </a:rPr>
              <a:t>A prompt refused by its own constraint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496175" y="4619625"/>
            <a:ext cx="3857625" cy="11430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200">
                <a:solidFill>
                  <a:srgbClr val="6B6478"/>
                </a:solidFill>
                <a:latin typeface="Microsoft YaHei"/>
                <a:ea typeface="Microsoft YaHei"/>
              </a:rPr>
              <a:t>“Add a composite foreign key on the duty officer” was rejected: the constraint slot required the migration to succeed in production, and a table rebuild cannot.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11 / 16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Prompt anatomy and guardrails&#10;        &lt;/Text&gt;&#10;        &lt;Box style={{ width: 72, height: 6, background: '#51277C', marginTop: 12 }} /&gt;&#10;    &lt;/Box&gt;&#10;&#10;    {/* ── zona B ── */}&#10;    &lt;Box style={{ height: 530, flexDirection: 'row', gap: 24 }}&gt;&#10;        {/* kiri: kartu prompt */}&#10;        &lt;Box&#10;            style={{&#10;                flex: 55,&#10;                background: '#FFFFFF',&#10;                borderRadius: 10,&#10;                padding: 22,&#10;                boxShadow: '0 4px 20px rgba(0,0,0,0.08)',&#10;                borderTop: '3px solid #AFC440',&#10;                justifyContent: 'center',&#10;                alignItems: 'center',&#10;            }}&#10;        &gt;&#10;            &lt;svg width={520} height={440} viewBox='0 0 520 440'&gt;&#10;                &lt;rect x='0' y='0' width='520' height='300' rx='10' fill='#FFFFFF' stroke='rgba(81,39,124,0.30)' strokeWidth='1.4' /&gt;&#10;                &lt;text x='18' y='28' fontFamily='Trebuchet MS' fontSize='13' fontWeight='bold' fill='#51277C'&gt;&#10;                    PROMPT&#10;                &lt;/text&gt;&#10;                &lt;text x='502' y='28' textAnchor='end' fontFamily='Verdana' fontSize='12' fill='#6B6478'&gt;&#10;                    one feature, one prompt&#10;                &lt;/text&gt;&#10;                &lt;line x1='0' y1='44' x2='520' y2='44' stroke='rgba(81,39,124,0.20)' /&gt;&#10;&#10;                &lt;rect x='18' y='56' width='24' height='24' rx='4' fill='#51277C' /&gt;&#10;                &lt;text x='30' y='73' textAnchor='middle' fontFamily='Verdana' fontSize='12' fontWeight='bold' fill='#FFFFFF'&gt;1&lt;/text&gt;&#10;                &lt;text x='54' y='66' fontFamily='Verdana' fontSize='13' fontWeight='bold' fill='#2A2333'&gt;Intent — what changes for the user?&lt;/text&gt;&#10;                &lt;text x='54' y='84' fontFamily='Verdana' fontSize='11.5' fill='#6B6478'&gt;“Admin must publish all six classes in one action.”&lt;/text&gt;&#10;&#10;                &lt;rect x='18' y='102' width='24' height='24' rx='4' fill='#51277C' /&gt;&#10;                &lt;text x='30' y='119' textAnchor='middle' fontFamily='Verdana' fontSize='12' fontWeight='bold' fill='#FFFFFF'&gt;2&lt;/text&gt;&#10;                &lt;text x='54' y='112' fontFamily='Verdana' fontSize='13' fontWeight='bold' fill='#2A2333'&gt;Constraint — what must not break?&lt;/text&gt;&#10;                &lt;text x='54' y='130' fontFamily='Verdana' fontSize='11.5' fill='#6B6478'&gt;“Korlas may lock their own class. Do not add a class table.”&lt;/text&gt;&#10;&#10;                &lt;rect x='18' y='148' width='24' height='24' rx='4' fill='#51277C' /&gt;&#10;                &lt;text x='30' y='165' textAnchor='middle' fontFamily='Verdana' fontSize='12' fontWeight='bold' fill='#FFFFFF'&gt;3&lt;/text&gt;&#10;                &lt;text x='54' y='158' fontFamily='Verdana' fontSize='13' fontWeight='bold' fill='#2A2333'&gt;Evidence — what decides the design?&lt;/text&gt;&#10;                &lt;text x='54' y='176' fontFamily='Verdana' fontSize='11.5' fill='#6B6478'&gt;“Read resolveBulkClasses before choosing where scope resolves.”&lt;/text&gt;&#10;&#10;                &lt;rect x='18' y='194' width='24' height='24' rx='4' fill='#51277C' /&gt;&#10;                &lt;text x='30' y='211' textAnchor='middle' fontFamily='Verdana' fontSize='12' fontWeight='bold' fill='#FFFFFF'&gt;4&lt;/text&gt;&#10;                &lt;text x='54' y='204' fontFamily='Verdana' fontSize='13' fontWeight='bold' fill='#2A2333'&gt;Acceptance — how will we know it worked?&lt;/text&gt;&#10;                &lt;text x='54' y='222' fontFamily='Verdana' fontSize='11.5' fill='#6B6478'&gt;“409 drafts_remaining names the class; test section 23 covers it.”&lt;/text&gt;&#10;&#10;                &lt;rect x='18' y='240' width='24' height='24' rx='4' fill='#51277C' /&gt;&#10;                &lt;text x='30' y='257' textAnchor='middle' fontFamily='Verdana' fontSize='12' fontWeight='bold' fill='#FFFFFF'&gt;5&lt;/text&gt;&#10;                &lt;text x='54' y='250' fontFamily='Verdana' fontSize='13' fontWeight='bold' fill='#2A2333'&gt;Artefacts — what else must be updated?&lt;/text&gt;&#10;                &lt;text x='54' y='268' fontFamily='Verdana' fontSize='11.5' fill='#6B6478'&gt;“PRD, README, UAT_Result, test-api.mjs.”&lt;/text&gt;&#10;&#10;                &lt;rect x='0' y='316' width='520' height='56' rx='8' fill='rgba(243,178,108,0.20)' stroke='#F3B26C' strokeWidth='1.4' /&gt;&#10;                &lt;text x='18' y='340' fontFamily='Verdana' fontSize='12.5' fontWeight='bold' fill='#8a4a1e'&gt;&#10;                    “Add a composite foreign key on the duty officer”&#10;                &lt;/text&gt;&#10;                &lt;text x='18' y='359' fontFamily='Verdana' fontSize='12' fill='#8a4a1e'&gt;&#10;                    Rejected by slot 2 — the constraint could not survive production.&#10;                &lt;/text&gt;&#10;&#10;                &lt;text x='0' y='404' fontFamily='Verdana' fontSize='12.5' fill='#6B6478'&gt;&#10;                    Every slot is visible in the PRD changelog, v1.1 → v1.21.&#10;                &lt;/text&gt;&#10;            &lt;/svg&gt;&#10;        &lt;/Box&gt;&#10;&#10;        {/* kanan: guardrails */}&#10;        &lt;Box style={{ flex: 45, flexDirection: 'column', gap: 14 }}&gt;&#10;            &lt;Box&#10;                style={{&#10;                    background: '#FFFFFF',&#10;                    borderRadius: 10,&#10;                    paddingTop: 18,&#10;                    paddingBottom: 18,&#10;                    paddingLeft: 20,&#10;                    paddingRight: 20,&#10;                    boxShadow: '0 4px 20px rgba(0,0,0,0.08)',&#10;                    borderTop: '3px solid #F3B26C',&#10;                    flexDirection: 'column',&#10;                }}&#10;            &gt;&#10;                &lt;Text&#10;                    style={{&#10;                        fontSize: 17,&#10;                        fontWeight: 'bold',&#10;                        color: '#c4762a',&#10;                        fontFamily: 'Trebuchet MS',&#10;                    }}&#10;                &gt;&#10;                    Six guardrails carried inside prompts&#10;                &lt;/Text&gt;&#10;                &lt;Box style={{ flexDirection: 'row', gap: 10, marginTop: 12 }}&gt;&#10;                    &lt;Box style={{ width: 5, height: 5, background: '#F3B26C', marginTop: 8 }} /&gt;&#10;                    &lt;Text style={{ fontSize: 14, color: '#6B6478', lineHeight: 1.45, flex: 1 }}&gt;&#10;                        Never accept a duty name from the client — duty is a relationship, not a string&#10;                    &lt;/Text&gt;&#10;                &lt;/Box&gt;&#10;                &lt;Box style={{ flexDirection: 'row', gap: 10, marginTop: 9 }}&gt;&#10;                    &lt;Box style={{ width: 5, height: 5, background: '#F3B26C', marginTop: 8 }} /&gt;&#10;                    &lt;Text style={{ fontSize: 14, color: '#6B6478', lineHeight: 1.45, flex: 1 }}&gt;&#10;                        Never rebuild a table inside a D1 migration&#10;                    &lt;/Text&gt;&#10;                &lt;/Box&gt;&#10;                &lt;Box style={{ flexDirection: 'row', gap: 10, marginTop: 9 }}&gt;&#10;                    &lt;Box style={{ width: 5, height: 5, background: '#F3B26C', marginTop: 8 }} /&gt;&#10;                    &lt;Text style={{ fontSize: 14, color: '#6B6478', lineHeight: 1.45, flex: 1 }}&gt;&#10;                        Never let 409 become skipped on a range operation&#10;                    &lt;/Text&gt;&#10;                &lt;/Box&gt;&#10;                &lt;Box style={{ flexDirection: 'row', gap: 10, marginTop: 9 }}&gt;&#10;                    &lt;Box style={{ width: 5, height: 5, background: '#F3B26C', marginTop: 8 }} /&gt;&#10;                    &lt;Text style={{ fontSize: 14, color: '#6B6478', lineHeight: 1.45, flex: 1 }}&gt;&#10;                        Never let the UI be the only enforcement&#10;                    &lt;/Text&gt;&#10;                &lt;/Box&gt;&#10;                &lt;Box style={{ flexDirection: 'row', gap: 10, marginTop: 9 }}&gt;&#10;                    &lt;Box style={{ width: 5, height: 5, background: '#F3B26C', marginTop: 8 }} /&gt;&#10;                    &lt;Text style={{ fontSize: 14, color: '#6B6478', lineHeight: 1.45, flex: 1 }}&gt;&#10;                        Always build before deploy — wrangler uploads dist/ as-is&#10;                    &lt;/Text&gt;&#10;                &lt;/Box&gt;&#10;                &lt;Box style={{ flexDirection: 'row', gap: 10, marginTop: 9 }}&gt;&#10;                    &lt;Box style={{ width: 5, height: 5, background: '#F3B26C', marginTop: 8 }} /&gt;&#10;                    &lt;Text style={{ fontSize: 14, color: '#6B6478', lineHeight: 1.45, flex: 1 }}&gt;&#10;                        Never trust piped wrangler output — parse the whole JSON&#10;                    &lt;/Text&gt;&#10;                &lt;/Box&gt;&#10;            &lt;/Box&gt;&#10;&#10;            &lt;Box&#10;                style={{&#10;                    background: 'rgba(81,39,124,0.06)',&#10;                    borderRadius: 10,&#10;                    paddingTop: 18,&#10;                    paddingBottom: 18,&#10;                    paddingLeft: 20,&#10;                    paddingRight: 20,&#10;                    borderTop: '3px solid #51277C',&#10;                    flexDirection: 'column',&#10;                    marginTop: 'auto',&#10;                }}&#10;            &gt;&#10;                &lt;Text&#10;                    style={{&#10;                        fontSize: 16,&#10;                        fontWeight: 'bold',&#10;                        color: '#51277C',&#10;                        fontFamily: 'Trebuchet MS',&#10;                    }}&#10;                &gt;&#10;                    Why the generation is auditable&#10;                &lt;/Text&gt;&#10;                &lt;Text style={{ fontSize: 14, color: '#6B6478', lineHeight: 1.5, marginTop: 8 }}&gt;&#10;                    PRD changelog v1.1 → v1.21 · 113 commits · project memory. Several changelog&#10;                    entries explicitly retract earlier claims, so the record shows its own errors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12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Prompt anatomy and guardrails</a:t>
            </a:r>
            <a:endParaRPr/>
          </a:p>
        </p:txBody>
      </p:sp>
      <p:sp>
        <p:nvSpPr>
          <p:cNvPr id="65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66" name=""/>
          <p:cNvSpPr/>
          <p:nvPr/>
        </p:nvSpPr>
        <p:spPr>
          <a:xfrm rot="0" flipH="0" flipV="0">
            <a:off x="609600" y="1266825"/>
            <a:ext cx="5905500" cy="504825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609600" y="1266825"/>
            <a:ext cx="5905500" cy="5048250"/>
          </a:xfrm>
          <a:custGeom>
            <a:pathLst>
              <a:path w="620" h="530">
                <a:moveTo>
                  <a:pt x="610" y="0"/>
                </a:moveTo>
                <a:cubicBezTo>
                  <a:pt x="615" y="0"/>
                  <a:pt x="619" y="3"/>
                  <a:pt x="620" y="8"/>
                </a:cubicBezTo>
                <a:cubicBezTo>
                  <a:pt x="619" y="5"/>
                  <a:pt x="616" y="3"/>
                  <a:pt x="613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610" y="0"/>
                </a:lnTo>
                <a:close/>
              </a:path>
            </a:pathLst>
          </a:custGeom>
          <a:solidFill>
            <a:srgbClr val="AFC440"/>
          </a:solidFill>
          <a:ln/>
        </p:spPr>
        <p:txBody>
          <a:bodyPr/>
          <a:p/>
        </p:txBody>
      </p:sp>
      <p:pic>
        <p:nvPicPr>
          <p:cNvPr id="6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85850" y="1685925"/>
            <a:ext cx="4953000" cy="4191000"/>
          </a:xfrm>
          <a:prstGeom prst="rect">
            <a:avLst/>
          </a:prstGeom>
          <a:ln/>
        </p:spPr>
      </p:pic>
      <p:sp>
        <p:nvSpPr>
          <p:cNvPr id="69" name=""/>
          <p:cNvSpPr/>
          <p:nvPr/>
        </p:nvSpPr>
        <p:spPr>
          <a:xfrm rot="0" flipH="0" flipV="0">
            <a:off x="6743700" y="1266825"/>
            <a:ext cx="4838700" cy="2771775"/>
          </a:xfrm>
          <a:prstGeom prst="roundRect">
            <a:avLst>
              <a:gd name="adj" fmla="val 343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743700" y="1266825"/>
            <a:ext cx="4838700" cy="2771775"/>
          </a:xfrm>
          <a:custGeom>
            <a:pathLst>
              <a:path w="508" h="291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6934200" y="1438275"/>
            <a:ext cx="445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4762A"/>
                </a:solidFill>
                <a:latin typeface="Trebuchet MS"/>
                <a:ea typeface="Trebuchet MS"/>
              </a:rPr>
              <a:t>Six guardrails carried inside prompts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6934200" y="18288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077075" y="1752600"/>
            <a:ext cx="431482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Never accept a duty name from the client — duty is a relationship, not a string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934200" y="23812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077075" y="230505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Never rebuild a table inside a D1 migration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934200" y="27051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77075" y="262890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Never let 409 become skipped on a range operation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934200" y="30289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077075" y="295275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Never let the UI be the only enforcement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934200" y="335280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077075" y="327660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Always build before deploy — wrangler uploads dist/ as-is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934200" y="3676650"/>
            <a:ext cx="47625" cy="47625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7077075" y="3600450"/>
            <a:ext cx="431482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Never trust piped wrangler output — parse the whole JSON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6743700" y="4953000"/>
            <a:ext cx="4838700" cy="1362075"/>
          </a:xfrm>
          <a:prstGeom prst="roundRect">
            <a:avLst>
              <a:gd name="adj" fmla="val 6993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85" name=""/>
          <p:cNvSpPr/>
          <p:nvPr/>
        </p:nvSpPr>
        <p:spPr>
          <a:xfrm rot="0" flipH="0" flipV="0">
            <a:off x="6743700" y="4953000"/>
            <a:ext cx="4838700" cy="1362075"/>
          </a:xfrm>
          <a:custGeom>
            <a:pathLst>
              <a:path w="508" h="143">
                <a:moveTo>
                  <a:pt x="498" y="0"/>
                </a:moveTo>
                <a:cubicBezTo>
                  <a:pt x="503" y="0"/>
                  <a:pt x="507" y="3"/>
                  <a:pt x="508" y="8"/>
                </a:cubicBezTo>
                <a:cubicBezTo>
                  <a:pt x="507" y="5"/>
                  <a:pt x="504" y="3"/>
                  <a:pt x="501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98" y="0"/>
                </a:lnTo>
                <a:close/>
              </a:path>
            </a:pathLst>
          </a:custGeom>
          <a:solidFill>
            <a:srgbClr val="51277C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934200" y="5124450"/>
            <a:ext cx="4457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51277C"/>
                </a:solidFill>
                <a:latin typeface="Trebuchet MS"/>
                <a:ea typeface="Trebuchet MS"/>
              </a:rPr>
              <a:t>Why the generation is auditable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6934200" y="5391150"/>
            <a:ext cx="4457700" cy="723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PRD changelog v1.1 → v1.21 · 113 commits · project memory. Several changelog entries explicitly retract earlier claims, so the record shows its own errors.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12 / 16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0" name="" descr="&lt;Slide&#10;    style={{&#10;        width: '1280px',&#10;        height: '720px',&#10;        background: 'linear-gradient(135deg, #51277C 0%, #7A45A8 100%)',&#10;        flexDirection: 'column',&#10;        paddingTop: 20,&#10;        paddingBottom: 20,&#10;        paddingLeft: 64,&#10;        paddingRight: 64,&#10;        position: 'relative',&#10;        overflow: 'hidden',&#10;    }}&#10;&gt;&#10;    {/* visual latar: batang menanjak */}&#10;    &lt;Box style={{ position: 'absolute', top: 0, left: 0, width: 1280, height: 720 }}&gt;&#10;        &lt;svg width={1280} height={720} viewBox='0 0 1280 720'&gt;&#10;            &lt;rect x='900' y='560' width='34' height='60' fill='#FFFFFF' opacity='0.12' /&gt;&#10;            &lt;rect x='950' y='520' width='34' height='100' fill='#FFFFFF' opacity='0.12' /&gt;&#10;            &lt;rect x='1000' y='480' width='34' height='140' fill='#FFFFFF' opacity='0.12' /&gt;&#10;            &lt;rect x='1050' y='440' width='34' height='180' fill='#FFFFFF' opacity='0.12' /&gt;&#10;            &lt;rect x='1100' y='400' width='34' height='220' fill='#FFFFFF' opacity='0.12' /&gt;&#10;            &lt;rect x='1150' y='360' width='34' height='260' fill='#FFFFFF' opacity='0.12' /&gt;&#10;            &lt;rect x='1150' y='344' width='34' height='10' fill='#AFC440' opacity='0.85' /&gt;&#10;        &lt;/svg&gt;&#10;    &lt;/Box&gt;&#10;&#10;    {/* isi */}&#10;    &lt;Box&#10;        style={{&#10;            position: 'relative',&#10;            zIndex: 1,&#10;            flex: 1,&#10;            justifyContent: 'center',&#10;            alignItems: 'center',&#10;        }}&#10;    &gt;&#10;        &lt;Text style={{ fontSize: 18, fontWeight: 'bold', color: '#AFC440', letterSpacing: 4 }}&gt;&#10;            CHAPTER 03&#10;        &lt;/Text&gt;&#10;        &lt;Text&#10;            style={{&#10;                fontSize: 60,&#10;                fontWeight: 'bold',&#10;                color: '#FFFFFF',&#10;                lineHeight: 1.15,&#10;                marginTop: 20,&#10;                textAlign: 'center',&#10;                fontFamily: 'Trebuchet MS',&#10;            }}&#10;        &gt;&#10;            Business Value&#10;        &lt;/Text&gt;&#10;        &lt;Box style={{ width: 72, height: 6, background: '#AFC440', marginTop: 24 }} /&gt;&#10;        &lt;Text&#10;            style={{&#10;                fontSize: 20,&#10;                color: 'rgba(255,255,255,0.84)',&#10;                lineHeight: 1.6,&#10;                marginTop: 26,&#10;                maxWidth: 720,&#10;                textAlign: 'center',&#10;                fontFamily: 'Verdana',&#10;            }}&#10;        &gt;&#10;            Measured metrics rather than estimates, ten before/after impact pairs each with its&#10;            verifier, and the limits stated on the same page as the claims.&#10;        &lt;/Text&gt;&#10;    &lt;/Box&gt;&#10;&#10;    {/* footer */}&#10;    &lt;Box&#10;        style={{&#10;            position: 'relative',&#10;            zIndex: 1,&#10;            height: 40,&#10;            flexDirection: 'row',&#10;            justifyContent: 'space-between',&#10;            alignItems: 'center',&#10;        }}&#10;    &gt;&#10;        &lt;Text style={{ fontSize: 14, color: 'rgba(255,255,255,0.55)' }}&gt;&#10;            Pizza Snack Play · Visualization Project Description&#10;        &lt;/Text&gt;&#10;        &lt;Text style={{ fontSize: 14, color: 'rgba(255,255,255,0.55)' }}&gt;13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pic>
        <p:nvPicPr>
          <p:cNvPr id="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5362575" y="2009775"/>
            <a:ext cx="1466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300">
                <a:solidFill>
                  <a:srgbClr val="AFC440"/>
                </a:solidFill>
                <a:latin typeface="Microsoft YaHei"/>
                <a:ea typeface="Microsoft YaHei"/>
              </a:rPr>
              <a:t>CHAPTER 03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162425" y="2409825"/>
            <a:ext cx="3876675" cy="790575"/>
          </a:xfrm>
          <a:prstGeom prst="rect"/>
        </p:spPr>
        <p:txBody>
          <a:bodyPr wrap="none" lIns="0" tIns="0" rIns="0" bIns="0"/>
          <a:p>
            <a:pPr algn="ctr">
              <a:lnSpc>
                <a:spcPct val="114999"/>
              </a:lnSpc>
            </a:pPr>
            <a:r>
              <a:rPr lang="en-US" sz="4500" b="1">
                <a:solidFill>
                  <a:srgbClr val="FFFFFF"/>
                </a:solidFill>
                <a:latin typeface="Trebuchet MS"/>
                <a:ea typeface="Trebuchet MS"/>
              </a:rPr>
              <a:t>Business Value</a:t>
            </a:r>
            <a:endParaRPr/>
          </a:p>
        </p:txBody>
      </p:sp>
      <p:sp>
        <p:nvSpPr>
          <p:cNvPr id="95" name=""/>
          <p:cNvSpPr/>
          <p:nvPr/>
        </p:nvSpPr>
        <p:spPr>
          <a:xfrm rot="0" flipH="0" flipV="0">
            <a:off x="5753100" y="342900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3733800"/>
            <a:ext cx="10972800" cy="733425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Measured metrics rather than estimates, ten before/after impact pairs each with its verifier, and the limits stated on the same page as the claims.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13 / 16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9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Three numbers, three judgements&#10;        &lt;/Text&gt;&#10;        &lt;Box style={{ width: 72, height: 6, background: '#51277C', marginTop: 12 }} /&gt;&#10;    &lt;/Box&gt;&#10;&#10;    {/* ── zona B ── */}&#10;    &lt;Box style={{ height: 530, flexDirection: 'column', justifyContent: 'center' }}&gt;&#10;        {/* tiga angka raksasa */}&#10;        &lt;Box style={{ flexDirection: 'row', gap: 36 }}&gt;&#10;            &lt;Box style={{ flex: 1, flexDirection: 'column' }}&gt;&#10;                &lt;Text&#10;                    style={{&#10;                        fontSize: 84,&#10;                        fontWeight: 'bold',&#10;                        color: '#51277C',&#10;                        lineHeight: 1.05,&#10;                        fontFamily: 'Trebuchet MS',&#10;                    }}&#10;                &gt;&#10;                    113&#10;                &lt;/Text&gt;&#10;                &lt;Text style={{ fontSize: 15, fontWeight: 'bold', color: '#2A2333', marginTop: 10 }}&gt;&#10;                    commits in 31 days&#10;                &lt;/Text&gt;&#10;                &lt;Text style={{ fontSize: 15, color: '#6B6478', lineHeight: 1.5, marginTop: 8 }}&gt;&#10;                    Across 17 active days — an average of 6.6 commits on a day the project moved.&#10;                &lt;/Text&gt;&#10;            &lt;/Box&gt;&#10;&#10;            &lt;Box style={{ flex: 1, flexDirection: 'column' }}&gt;&#10;                &lt;Text&#10;                    style={{&#10;                        fontSize: 84,&#10;                        fontWeight: 'bold',&#10;                        color: '#51277C',&#10;                        lineHeight: 1.05,&#10;                        fontFamily: 'Trebuchet MS',&#10;                    }}&#10;                &gt;&#10;                    540&#10;                &lt;/Text&gt;&#10;                &lt;Text style={{ fontSize: 15, fontWeight: 'bold', color: '#2A2333', marginTop: 10 }}&gt;&#10;                    integration assertions&#10;                &lt;/Text&gt;&#10;                &lt;Text style={{ fontSize: 15, color: '#6B6478', lineHeight: 1.5, marginTop: 8 }}&gt;&#10;                    Plus 85 unit tests and 21 UAT cases. Every business rule has a named verifier.&#10;                &lt;/Text&gt;&#10;            &lt;/Box&gt;&#10;&#10;            &lt;Box style={{ flex: 1, flexDirection: 'column' }}&gt;&#10;                &lt;Text&#10;                    style={{&#10;                        fontSize: 84,&#10;                        fontWeight: 'bold',&#10;                        color: '#c4762a',&#10;                        lineHeight: 1.05,&#10;                        fontFamily: 'Trebuchet MS',&#10;                    }}&#10;                &gt;&#10;                    0&#10;                &lt;/Text&gt;&#10;                &lt;Text style={{ fontSize: 15, fontWeight: 'bold', color: '#2A2333', marginTop: 10 }}&gt;&#10;                    marginal infrastructure cost&#10;                &lt;/Text&gt;&#10;                &lt;Text style={{ fontSize: 15, color: '#6B6478', lineHeight: 1.5, marginTop: 8 }}&gt;&#10;                    Workers and D1 on the free tier. A snack programme has no software budget.&#10;                &lt;/Text&gt;&#10;            &lt;/Box&gt;&#10;        &lt;/Box&gt;&#10;&#10;        {/* strip tick */}&#10;        &lt;Box style={{ marginTop: 44 }}&gt;&#10;            &lt;Text style={{ fontSize: 16, fontWeight: 'bold', color: '#2A2333' }}&gt;&#10;                Commits per active day&#10;            &lt;/Text&gt;&#10;            &lt;Box style={{ marginTop: 10 }}&gt;&#10;                &lt;svg width={1150} height={150} viewBox='0 0 1150 150'&gt;&#10;                    &lt;line x1='0' y1='112' x2='1150' y2='112' stroke='rgba(81,39,124,0.28)' strokeWidth='1.2' /&gt;&#10;&#10;                    &lt;rect x='13' y='49' width='52' height='63' fill='#51277C' /&gt;&#10;                    &lt;rect x='80' y='22' width='52' height='90' fill='#51277C' /&gt;&#10;                    &lt;rect x='147' y='22' width='52' height='90' fill='#51277C' /&gt;&#10;                    &lt;rect x='214' y='91' width='52' height='21' fill='#51277C' /&gt;&#10;                    &lt;rect x='281' y='106' width='52' height='6' fill='#51277C' /&gt;&#10;                    &lt;rect x='348' y='54' width='52' height='58' fill='#51277C' /&gt;&#10;                    &lt;rect x='415' y='106' width='52' height='6' fill='#51277C' /&gt;&#10;                    &lt;rect x='482' y='96' width='52' height='16' fill='#51277C' /&gt;&#10;                    &lt;rect x='549' y='54' width='52' height='58' fill='#51277C' /&gt;&#10;                    &lt;rect x='616' y='86' width='52' height='26' fill='#51277C' /&gt;&#10;                    &lt;rect x='683' y='101' width='52' height='11' fill='#51277C' /&gt;&#10;                    &lt;rect x='750' y='96' width='52' height='16' fill='#51277C' /&gt;&#10;                    &lt;rect x='817' y='101' width='52' height='11' fill='#51277C' /&gt;&#10;                    &lt;rect x='884' y='80' width='52' height='32' fill='#51277C' /&gt;&#10;                    &lt;rect x='951' y='96' width='52' height='16' fill='#51277C' /&gt;&#10;                    &lt;rect x='1018' y='49' width='52' height='63' fill='#51277C' /&gt;&#10;                    &lt;rect x='1085' y='96' width='52' height='16' fill='#51277C' /&gt;&#10;&#10;                    &lt;line x1='0' y1='77' x2='1150' y2='77' stroke='#AFC440' strokeWidth='1.4' strokeDasharray='6 4' /&gt;&#10;                    &lt;text x='1150' y='70' textAnchor='end' fontFamily='Verdana' fontSize='12' fontWeight='bold' fill='#576420'&gt;&#10;                        average 6.6&#10;                    &lt;/text&gt;&#10;&#10;                    &lt;text x='39' y='130' textAnchor='middle' fontFamily='Verdana' fontSize='10' fill='#6B6478'&gt;09-17&lt;/text&gt;&#10;                    &lt;text x='106' y='130' textAnchor='middle' fontFamily='Verdana' fontSize='10' fill='#6B6478'&gt;09-18&lt;/text&gt;&#10;                    &lt;text x='173' y='130' textAnchor='middle' fontFamily='Verdana' fontSize='10' fill='#6B6478'&gt;09-19&lt;/text&gt;&#10;                    &lt;text x='240' y='130' textAnchor='middle' fontFamily='Verdana' fontSize='10' fill='#6B6478'&gt;09-20&lt;/text&gt;&#10;                    &lt;text x='307' y='130' textAnchor='middle' fontFamily='Verdana' fontSize='10' fill='#6B6478'&gt;09-21&lt;/text&gt;&#10;                    &lt;text x='374' y='130' textAnchor='middle' fontFamily='Verdana' fontSize='10' fill='#6B6478'&gt;09-22&lt;/text&gt;&#10;                    &lt;text x='441' y='130' textAnchor='middle' fontFamily='Verdana' fontSize='10' fill='#6B6478'&gt;09-23&lt;/text&gt;&#10;                    &lt;text x='508' y='130' textAnchor='middle' fontFamily='Verdana' fontSize='10' fill='#6B6478'&gt;09-27&lt;/text&gt;&#10;                    &lt;text x='575' y='130' textAnchor='middle' fontFamily='Verdana' fontSize='10' fill='#6B6478'&gt;09-28&lt;/text&gt;&#10;                    &lt;text x='642' y='130' textAnchor='middle' fontFamily='Verdana' fontSize='10' fill='#6B6478'&gt;09-30&lt;/text&gt;&#10;                    &lt;text x='709' y='130' textAnchor='middle' fontFamily='Verdana' fontSize='10' fill='#6B6478'&gt;10-01&lt;/text&gt;&#10;                    &lt;text x='776' y='130' textAnchor='middle' fontFamily='Verdana' fontSize='10' fill='#6B6478'&gt;10-07&lt;/text&gt;&#10;                    &lt;text x='843' y='130' textAnchor='middle' fontFamily='Verdana' fontSize='10' fill='#6B6478'&gt;10-08&lt;/text&gt;&#10;                    &lt;text x='910' y='130' textAnchor='middle' fontFamily='Verdana' fontSize='10' fill='#6B6478'&gt;10-12&lt;/text&gt;&#10;                    &lt;text x='977' y='130' textAnchor='middle' fontFamily='Verdana' fontSize='10' fill='#6B6478'&gt;10-14&lt;/text&gt;&#10;                    &lt;text x='1044' y='130' textAnchor='middle' fontFamily='Verdana' fontSize='10' fill='#6B6478'&gt;10-15&lt;/text&gt;&#10;                    &lt;text x='1111' y='130' textAnchor='middle' fontFamily='Verdana' fontSize='10' fill='#6B6478'&gt;10-16&lt;/text&gt;&#10;                &lt;/svg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14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Three numbers, three judgements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096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51277C"/>
                </a:solidFill>
                <a:latin typeface="Trebuchet MS"/>
                <a:ea typeface="Trebuchet MS"/>
              </a:rPr>
              <a:t>113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096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commits in 31 days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096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Across 17 active days — an average of 6.6 commits on a day the project moved.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3815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51277C"/>
                </a:solidFill>
                <a:latin typeface="Trebuchet MS"/>
                <a:ea typeface="Trebuchet MS"/>
              </a:rPr>
              <a:t>540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3815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integration assertions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43815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Plus 85 unit tests and 21 UAT cases. Every business rule has a named verifier.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53400" y="1762125"/>
            <a:ext cx="3429000" cy="1009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6300" b="1">
                <a:solidFill>
                  <a:srgbClr val="C4762A"/>
                </a:solidFill>
                <a:latin typeface="Trebuchet MS"/>
                <a:ea typeface="Trebuchet MS"/>
              </a:rPr>
              <a:t>0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8153400" y="2867025"/>
            <a:ext cx="3429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A2333"/>
                </a:solidFill>
                <a:latin typeface="Microsoft YaHei"/>
                <a:ea typeface="Microsoft YaHei"/>
              </a:rPr>
              <a:t>marginal infrastructure cost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153400" y="3114675"/>
            <a:ext cx="3429000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125">
                <a:solidFill>
                  <a:srgbClr val="6B6478"/>
                </a:solidFill>
                <a:latin typeface="Microsoft YaHei"/>
                <a:ea typeface="Microsoft YaHei"/>
              </a:rPr>
              <a:t>Workers and D1 on the free tier. A snack programme has no software budget.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09600" y="4048125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A2333"/>
                </a:solidFill>
                <a:latin typeface="Microsoft YaHei"/>
                <a:ea typeface="Microsoft YaHei"/>
              </a:rPr>
              <a:t>Commits per active day</a:t>
            </a:r>
            <a:endParaRPr/>
          </a:p>
        </p:txBody>
      </p:sp>
      <p:pic>
        <p:nvPicPr>
          <p:cNvPr id="1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4333875"/>
            <a:ext cx="10953750" cy="1428750"/>
          </a:xfrm>
          <a:prstGeom prst="rect">
            <a:avLst/>
          </a:prstGeom>
          <a:ln/>
        </p:spPr>
      </p:pic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14 / 16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16" name="" descr="&lt;Slide&#10;    style={{&#10;        width: '1280px',&#10;        height: '720px',&#10;        background: '#FAF7F2',&#10;        flexDirection: 'column',&#10;        paddingTop: 20,&#10;        paddingBottom: 20,&#10;        paddingLeft: 64,&#10;        paddingRight: 64,&#10;        position: 'relative',&#10;    }}&#10;&gt;&#10;    {/* ── zona A ── */}&#10;    &lt;Box style={{ height: 110, justifyContent: 'flex-start' }}&gt;&#10;        &lt;Text&#10;            style={{&#10;                fontSize: 34,&#10;                fontWeight: 'bold',&#10;                color: '#2A2333',&#10;                lineHeight: 1.3,&#10;                fontFamily: 'Trebuchet MS',&#10;            }}&#10;        &gt;&#10;            Impact, before and after&#10;        &lt;/Text&gt;&#10;        &lt;Box style={{ width: 72, height: 6, background: '#51277C', marginTop: 12 }} /&gt;&#10;    &lt;/Box&gt;&#10;&#10;    {/* ── zona B ── */}&#10;    &lt;Box style={{ height: 530, flexDirection: 'row', gap: 24 }}&gt;&#10;        {/* kiri: pasangan before/after */}&#10;        &lt;Box style={{ flex: 60, flexDirection: 'column' }}&gt;&#10;            &lt;Box style={{ flexDirection: 'row', paddingBottom: 10 }}&gt;&#10;                &lt;Box style={{ width: 150 }}&gt;&#10;                    &lt;Text style={{ fontSize: 12, fontWeight: 'bold', color: '#6B6478', letterSpacing: 0.8 }}&gt;&#10;                        IMPACT&#10;                    &lt;/Text&gt;&#10;                &lt;/Box&gt;&#10;                &lt;Box style={{ flex: 1 }}&gt;&#10;                    &lt;Text style={{ fontSize: 12, fontWeight: 'bold', color: '#6B6478', letterSpacing: 0.8 }}&gt;&#10;                        BEFORE&#10;                    &lt;/Text&gt;&#10;                &lt;/Box&gt;&#10;                &lt;Box style={{ flex: 1 }}&gt;&#10;                    &lt;Text style={{ fontSize: 12, fontWeight: 'bold', color: '#576420', letterSpacing: 0.8 }}&gt;&#10;                        AFTER&#10;                    &lt;/Text&gt;&#10;                &lt;/Box&gt;&#10;            &lt;/Box&gt;&#10;            &lt;Box style={{ height: 1, background: 'rgba(81,39,124,0.22)' }} /&gt;&#10;&#10;            &lt;Box style={{ flexDirection: 'row', paddingTop: 16, paddingBottom: 16 }}&gt;&#10;                &lt;Box style={{ width: 150, paddingRight: 12 }}&gt;&#10;                    &lt;Text style={{ fontSize: 15, fontWeight: 'bold', color: '#51277C' }}&gt;I1&lt;/Text&gt;&#10;                    &lt;Text style={{ fontSize: 14, color: '#2A2333', lineHeight: 1.35, marginTop: 3 }}&gt;&#10;                        Today’s snack&#10;                    &lt;/Text&gt;&#10;                &lt;/Box&gt;&#10;                &lt;Box style={{ flex: 1, paddingRight: 14 }}&gt;&#10;                    &lt;Text style={{ fontSize: 14, color: '#6B6478', lineHeight: 1.45 }}&gt;&#10;                        Open a text file, locate the date, read a line&#10;                    &lt;/Text&gt;&#10;                &lt;/Box&gt;&#10;                &lt;Box style={{ flex: 1 }}&gt;&#10;                    &lt;Text style={{ fontSize: 14, color: '#576420', lineHeight: 1.45 }}&gt;&#10;                        One screen after login — with the duty guardian’s WhatsApp link&#10;                    &lt;/Text&gt;&#10;                    &lt;Text style={{ fontSize: 12, color: '#6B6478', marginTop: 5 }}&gt;&#10;                        check-hari-ini-layout.mjs&#10;                    &lt;/Text&gt;&#10;                &lt;/Box&gt;&#10;            &lt;/Box&gt;&#10;            &lt;Box style={{ height: 1, background: 'rgba(81,39,124,0.14)' }} /&gt;&#10;&#10;            &lt;Box style={{ flexDirection: 'row', paddingTop: 16, paddingBottom: 16 }}&gt;&#10;                &lt;Box style={{ width: 150, paddingRight: 12 }}&gt;&#10;                    &lt;Text style={{ fontSize: 15, fontWeight: 'bold', color: '#51277C' }}&gt;I4&lt;/Text&gt;&#10;                    &lt;Text style={{ fontSize: 14, color: '#2A2333', lineHeight: 1.35, marginTop: 3 }}&gt;&#10;                        Half-published classes&#10;                    &lt;/Text&gt;&#10;                &lt;/Box&gt;&#10;                &lt;Box style={{ flex: 1, paddingRight: 14 }}&gt;&#10;                    &lt;Text style={{ fontSize: 14, color: '#6B6478', lineHeight: 1.45 }}&gt;&#10;                        Not detectable — a file is sent or it is not&#10;                    &lt;/Text&gt;&#10;                &lt;/Box&gt;&#10;                &lt;Box style={{ flex: 1 }}&gt;&#10;                    &lt;Text style={{ fontSize: 14, color: '#576420', lineHeight: 1.45, fontWeight: 'bold' }}&gt;&#10;                        Impossible. Publish refuses with 409 and names the class&#10;                    &lt;/Text&gt;&#10;                    &lt;Text style={{ fontSize: 12, color: '#6B6478', marginTop: 5 }}&gt;&#10;                        test-status.mjs · 22 assertions&#10;                    &lt;/Text&gt;&#10;                &lt;/Box&gt;&#10;            &lt;/Box&gt;&#10;            &lt;Box style={{ height: 1, background: 'rgba(81,39,124,0.14)' }} /&gt;&#10;&#10;            &lt;Box style={{ flexDirection: 'row', paddingTop: 16, paddingBottom: 16 }}&gt;&#10;                &lt;Box style={{ width: 150, paddingRight: 12 }}&gt;&#10;                    &lt;Text style={{ fontSize: 15, fontWeight: 'bold', color: '#51277C' }}&gt;I5&lt;/Text&gt;&#10;                    &lt;Text style={{ fontSize: 14, color: '#2A2333', lineHeight: 1.35, marginTop: 3 }}&gt;&#10;                        Duty fairness&#10;                    &lt;/Text&gt;&#10;                &lt;/Box&gt;&#10;                &lt;Box style={{ flex: 1, paddingRight: 14 }}&gt;&#10;                    &lt;Text style={{ fontSize: 14, color: '#6B6478', lineHeight: 1.45 }}&gt;&#10;                        A feeling, unverifiable — the file records duty, not claims&#10;                    &lt;/Text&gt;&#10;                &lt;/Box&gt;&#10;                &lt;Box style={{ flex: 1 }}&gt;&#10;                    &lt;Text style={{ fontSize: 14, color: '#576420', lineHeight: 1.45 }}&gt;&#10;                        A report ranking every parent by duties taken, plus who took none&#10;                    &lt;/Text&gt;&#10;                    &lt;Text style={{ fontSize: 12, color: '#6B6478', marginTop: 5 }}&gt;&#10;                        GET /api/laporan · claims-based&#10;                    &lt;/Text&gt;&#10;                &lt;/Box&gt;&#10;            &lt;/Box&gt;&#10;            &lt;Box style={{ height: 1, background: 'rgba(81,39,124,0.14)' }} /&gt;&#10;&#10;            &lt;Box style={{ flexDirection: 'row', paddingTop: 16, paddingBottom: 16 }}&gt;&#10;                &lt;Box style={{ width: 150, paddingRight: 12 }}&gt;&#10;                    &lt;Text style={{ fontSize: 15, fontWeight: 'bold', color: '#51277C' }}&gt;I6&lt;/Text&gt;&#10;                    &lt;Text style={{ fontSize: 14, color: '#2A2333', lineHeight: 1.35, marginTop: 3 }}&gt;&#10;                        Claiming a date&#10;                    &lt;/Text&gt;&#10;                &lt;/Box&gt;&#10;                &lt;Box style={{ flex: 1, paddingRight: 14 }}&gt;&#10;                    &lt;Text style={{ fontSize: 14, color: '#6B6478', lineHeight: 1.45 }}&gt;&#10;                        The first reply in a group chat wins, untracked&#10;                    &lt;/Text&gt;&#10;                &lt;/Box&gt;&#10;                &lt;Box style={{ flex: 1 }}&gt;&#10;                    &lt;Text style={{ fontSize: 14, color: '#576420', lineHeight: 1.45 }}&gt;&#10;                        Race-safe at the database level via UNIQUE(schedule_id)&#10;                    &lt;/Text&gt;&#10;                    &lt;Text style={{ fontSize: 12, color: '#6B6478', marginTop: 5 }}&gt;&#10;                        test-claim-cross-class.mjs · 9 assertions&#10;                    &lt;/Text&gt;&#10;                &lt;/Box&gt;&#10;            &lt;/Box&gt;&#10;        &lt;/Box&gt;&#10;&#10;        {/* kanan: batas yang jujur */}&#10;        &lt;Box&#10;            style={{&#10;                flex: 40,&#10;                background: 'rgba(81,39,124,0.06)',&#10;                borderRadius: 10,&#10;                paddingTop: 20,&#10;                paddingBottom: 20,&#10;                paddingLeft: 22,&#10;                paddingRight: 22,&#10;                borderTop: '3px solid #F3B26C',&#10;                flexDirection: 'column',&#10;            }}&#10;        &gt;&#10;            &lt;Text&#10;                style={{&#10;                    fontSize: 19,&#10;                    fontWeight: 'bold',&#10;                    color: '#c4762a',&#10;                    fontFamily: 'Trebuchet MS',&#10;                }}&#10;            &gt;&#10;                Honest limits&#10;            &lt;/Text&gt;&#10;            &lt;Text style={{ fontSize: 14, color: '#6B6478', lineHeight: 1.45, marginTop: 10 }}&gt;&#10;                PDF export is not built — Excel is; the print-oriented PDF is still open.&#10;            &lt;/Text&gt;&#10;            &lt;Text style={{ fontSize: 14, color: '#6B6478', lineHeight: 1.45, marginTop: 9 }}&gt;&#10;                No push notifications. The app must be opened to be read.&#10;            &lt;/Text&gt;&#10;            &lt;Text style={{ fontSize: 14, color: '#6B6478', lineHeight: 1.45, marginTop: 9 }}&gt;&#10;                No student accounts — duty is modelled as a family obligation.&#10;            &lt;/Text&gt;&#10;            &lt;Text style={{ fontSize: 14, color: '#6B6478', lineHeight: 1.45, marginTop: 9 }}&gt;&#10;                No offline data: a stale schedule is worse than no schedule.&#10;            &lt;/Text&gt;&#10;            &lt;Text style={{ fontSize: 14, color: '#6B6478', lineHeight: 1.45, marginTop: 9 }}&gt;&#10;                No usage analytics, so adoption is measurable but not yet measured.&#10;            &lt;/Text&gt;&#10;            &lt;Text style={{ fontSize: 14, color: '#6B6478', lineHeight: 1.45, marginTop: 9 }}&gt;&#10;                import_logs is written but not surfaced.&#10;            &lt;/Text&gt;&#10;            &lt;Text style={{ fontSize: 14, color: '#6B6478', lineHeight: 1.45, marginTop: 9 }}&gt;&#10;                Single-school: no school_id column, so multi-tenancy would be a migration.&#10;            &lt;/Text&gt;&#10;            &lt;Box style={{ marginTop: 'auto', flexDirection: 'row', gap: 10, alignItems: 'center' }}&gt;&#10;                &lt;Box style={{ width: 6, height: 22, background: '#F3B26C' }} /&gt;&#10;                &lt;Text style={{ fontSize: 14, color: '#51277C', lineHeight: 1.4, flex: 1 }}&gt;&#10;                    A description that claims no gaps is not a description of a real system.&#10;                &lt;/Text&gt;&#10;            &lt;/Box&gt;&#10;        &lt;/Box&gt;&#10;    &lt;/Box&gt;&#10;&#10;    {/* ── zona C ── */}&#10;    &lt;Box&#10;        style={{&#10;            height: 40,&#10;            flexDirection: 'row',&#10;            justifyContent: 'space-between',&#10;            alignItems: 'center',&#10;        }}&#10;    &gt;&#10;        &lt;Text style={{ fontSize: 14, color: '#6B6478' }}&gt;&#10;            Pizza Snack Play · Visualization Project Description&#10;        &lt;/Text&gt;&#10;        &lt;Text style={{ fontSize: 14, color: '#6B6478' }}&gt;15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7F2"/>
          </a:solidFill>
          <a:ln/>
        </p:spPr>
        <p:txBody>
          <a:bodyPr/>
          <a:p/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190500"/>
            <a:ext cx="10972800" cy="51435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2550" b="1">
                <a:solidFill>
                  <a:srgbClr val="2A2333"/>
                </a:solidFill>
                <a:latin typeface="Trebuchet MS"/>
                <a:ea typeface="Trebuchet MS"/>
              </a:rPr>
              <a:t>Impact, before and after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819150"/>
            <a:ext cx="685800" cy="57150"/>
          </a:xfrm>
          <a:prstGeom prst="rect">
            <a:avLst/>
          </a:prstGeom>
          <a:solidFill>
            <a:srgbClr val="51277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609600" y="1238250"/>
            <a:ext cx="1428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6B6478"/>
                </a:solidFill>
                <a:latin typeface="Microsoft YaHei"/>
                <a:ea typeface="Microsoft YaHei"/>
              </a:rPr>
              <a:t>IMPACT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2038350" y="1238250"/>
            <a:ext cx="2514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6B6478"/>
                </a:solidFill>
                <a:latin typeface="Microsoft YaHei"/>
                <a:ea typeface="Microsoft YaHei"/>
              </a:rPr>
              <a:t>BEFORE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4552950" y="123825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60">
                <a:solidFill>
                  <a:srgbClr val="576420"/>
                </a:solidFill>
                <a:latin typeface="Microsoft YaHei"/>
                <a:ea typeface="Microsoft YaHei"/>
              </a:rPr>
              <a:t>AFTER</a:t>
            </a:r>
            <a:endParaRPr/>
          </a:p>
        </p:txBody>
      </p:sp>
      <p:sp>
        <p:nvSpPr>
          <p:cNvPr id="123" name=""/>
          <p:cNvSpPr/>
          <p:nvPr/>
        </p:nvSpPr>
        <p:spPr>
          <a:xfrm rot="0" flipH="0" flipV="0">
            <a:off x="609600" y="1476375"/>
            <a:ext cx="6448425" cy="9525"/>
          </a:xfrm>
          <a:prstGeom prst="rect">
            <a:avLst/>
          </a:prstGeom>
          <a:solidFill>
            <a:srgbClr val="51277C">
              <a:alpha val="22000"/>
            </a:srgbClr>
          </a:solidFill>
          <a:ln/>
        </p:spPr>
        <p:txBody>
          <a:bodyPr/>
          <a:p/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I1</a:t>
            </a:r>
            <a:endParaRPr/>
          </a:p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1838325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Today’s snack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2038350" y="163830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Open a text file, locate the date, read a line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4552950" y="163830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One screen after login — with the duty guardian’s WhatsApp link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4552950" y="215265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check-hari-ini-layout.mjs</a:t>
            </a:r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609600" y="2447925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09600" y="260985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I4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314450" cy="4381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Half-published classes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2038350" y="260985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Not detectable — a file is sent or it is not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4552950" y="260985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 b="1">
                <a:solidFill>
                  <a:srgbClr val="576420"/>
                </a:solidFill>
                <a:latin typeface="Microsoft YaHei"/>
                <a:ea typeface="Microsoft YaHei"/>
              </a:rPr>
              <a:t>Impossible. Publish refuses with 409 and names the class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552950" y="312420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test-status.mjs · 22 assertions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09600" y="3419475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358140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I5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3781425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Duty fairness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2038350" y="358140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A feeling, unverifiable — the file records duty, not claims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552950" y="358140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A report ranking every parent by duties taken, plus who took none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552950" y="409575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GET /api/laporan · claims-based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609600" y="4391025"/>
            <a:ext cx="6448425" cy="9525"/>
          </a:xfrm>
          <a:prstGeom prst="rect">
            <a:avLst/>
          </a:prstGeom>
          <a:solidFill>
            <a:srgbClr val="51277C">
              <a:alpha val="14000"/>
            </a:srgbClr>
          </a:solidFill>
          <a:ln/>
        </p:spPr>
        <p:txBody>
          <a:bodyPr/>
          <a:p/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09600" y="4552950"/>
            <a:ext cx="1314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51277C"/>
                </a:solidFill>
                <a:latin typeface="Microsoft YaHei"/>
                <a:ea typeface="Microsoft YaHei"/>
              </a:rPr>
              <a:t>I6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609600" y="4752975"/>
            <a:ext cx="1314450" cy="2190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050">
                <a:solidFill>
                  <a:srgbClr val="2A2333"/>
                </a:solidFill>
                <a:latin typeface="Microsoft YaHei"/>
                <a:ea typeface="Microsoft YaHei"/>
              </a:rPr>
              <a:t>Claiming a date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2038350" y="4552950"/>
            <a:ext cx="2381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The first reply in a group chat wins, untracked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4552950" y="4552950"/>
            <a:ext cx="25050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576420"/>
                </a:solidFill>
                <a:latin typeface="Microsoft YaHei"/>
                <a:ea typeface="Microsoft YaHei"/>
              </a:rPr>
              <a:t>Race-safe at the database level via UNIQUE(schedule_id)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4552950" y="5067300"/>
            <a:ext cx="2505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6B6478"/>
                </a:solidFill>
                <a:latin typeface="Microsoft YaHei"/>
                <a:ea typeface="Microsoft YaHei"/>
              </a:rPr>
              <a:t>test-claim-cross-class.mjs · 9 assertions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286625" y="1266825"/>
            <a:ext cx="4295775" cy="5048250"/>
          </a:xfrm>
          <a:prstGeom prst="roundRect">
            <a:avLst>
              <a:gd name="adj" fmla="val 2217"/>
            </a:avLst>
          </a:prstGeom>
          <a:solidFill>
            <a:srgbClr val="51277C">
              <a:alpha val="6000"/>
            </a:srgbClr>
          </a:solidFill>
          <a:ln/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7286625" y="1266825"/>
            <a:ext cx="4295775" cy="5048250"/>
          </a:xfrm>
          <a:custGeom>
            <a:pathLst>
              <a:path w="451" h="530">
                <a:moveTo>
                  <a:pt x="441" y="0"/>
                </a:moveTo>
                <a:cubicBezTo>
                  <a:pt x="446" y="0"/>
                  <a:pt x="450" y="3"/>
                  <a:pt x="451" y="8"/>
                </a:cubicBezTo>
                <a:cubicBezTo>
                  <a:pt x="450" y="5"/>
                  <a:pt x="447" y="3"/>
                  <a:pt x="444" y="3"/>
                </a:cubicBezTo>
                <a:lnTo>
                  <a:pt x="7" y="3"/>
                </a:lnTo>
                <a:cubicBezTo>
                  <a:pt x="4" y="3"/>
                  <a:pt x="1" y="5"/>
                  <a:pt x="0" y="8"/>
                </a:cubicBezTo>
                <a:cubicBezTo>
                  <a:pt x="1" y="3"/>
                  <a:pt x="5" y="0"/>
                  <a:pt x="10" y="0"/>
                </a:cubicBezTo>
                <a:lnTo>
                  <a:pt x="441" y="0"/>
                </a:lnTo>
                <a:close/>
              </a:path>
            </a:pathLst>
          </a:custGeom>
          <a:solidFill>
            <a:srgbClr val="F3B26C"/>
          </a:solidFill>
          <a:ln/>
        </p:spPr>
        <p:txBody>
          <a:bodyPr/>
          <a:p/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96175" y="1457325"/>
            <a:ext cx="38766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4762A"/>
                </a:solidFill>
                <a:latin typeface="Trebuchet MS"/>
                <a:ea typeface="Trebuchet MS"/>
              </a:rPr>
              <a:t>Honest limits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496175" y="17716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PDF export is not built — Excel is; the print-oriented PDF is still open.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496175" y="2324100"/>
            <a:ext cx="3876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No push notifications. The app must be opened to be read.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96175" y="26479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No student accounts — duty is modelled as a family obligation.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96175" y="3200400"/>
            <a:ext cx="3876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No offline data: a stale schedule is worse than no schedule.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496175" y="35242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No usage analytics, so adoption is measurable but not yet measured.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496175" y="4076700"/>
            <a:ext cx="3876675" cy="238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import_logs is written but not surfaced.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96175" y="4400550"/>
            <a:ext cx="3876675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Single-school: no school_id column, so multi-tenancy would be a migration.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7496175" y="5762625"/>
            <a:ext cx="57150" cy="209550"/>
          </a:xfrm>
          <a:prstGeom prst="rect">
            <a:avLst/>
          </a:prstGeom>
          <a:solidFill>
            <a:srgbClr val="F3B26C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48575" y="5638800"/>
            <a:ext cx="3724275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lang="en-US" sz="1050">
                <a:solidFill>
                  <a:srgbClr val="51277C"/>
                </a:solidFill>
                <a:latin typeface="Microsoft YaHei"/>
                <a:ea typeface="Microsoft YaHei"/>
              </a:rPr>
              <a:t>A description that claims no gaps is not a description of a real system.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6478"/>
                </a:solidFill>
                <a:latin typeface="Microsoft YaHei"/>
                <a:ea typeface="Microsoft YaHei"/>
              </a:rPr>
              <a:t>15 / 16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1" name="" descr="&lt;Slide&#10;    style={{&#10;        width: '1280px',&#10;        height: '720px',&#10;        background: 'linear-gradient(135deg, #51277C 0%, #7A45A8 100%)',&#10;        flexDirection: 'column',&#10;        paddingTop: 20,&#10;        paddingBottom: 20,&#10;        paddingLeft: 64,&#10;        paddingRight: 64,&#10;        position: 'relative',&#10;        overflow: 'hidden',&#10;    }}&#10;&gt;&#10;    {/* visual latar */}&#10;    &lt;Box&#10;        style={{&#10;            position: 'absolute',&#10;            top: -190,&#10;            right: -140,&#10;            width: 560,&#10;            height: 560,&#10;            borderRadius: 280,&#10;            background: 'linear-gradient(135deg, #AFC440 0%, #F3B26C 100%)',&#10;            opacity: 0.16,&#10;        }}&#10;    /&gt;&#10;    &lt;Box&#10;        style={{&#10;            position: 'absolute',&#10;            bottom: -230,&#10;            left: -150,&#10;            width: 620,&#10;            height: 620,&#10;            borderRadius: 310,&#10;            background: '#FFFFFF',&#10;            opacity: 0.06,&#10;        }}&#10;    /&gt;&#10;&#10;    {/* isi */}&#10;    &lt;Box&#10;        style={{&#10;            position: 'relative',&#10;            zIndex: 1,&#10;            flex: 1,&#10;            justifyContent: 'center',&#10;            alignItems: 'center',&#10;        }}&#10;    &gt;&#10;        &lt;Box&#10;            style={{&#10;                width: 264,&#10;                height: 264,&#10;                borderRadius: 132,&#10;                background: 'rgba(255,255,255,0.14)',&#10;                justifyContent: 'center',&#10;                alignItems: 'center',&#10;            }}&#10;        &gt;&#10;            &lt;Image&#10;                src='assets/app_logo.png'&#10;                style={{ width: 196, height: 190, objectFit: 'contain' }}&#10;            /&gt;&#10;        &lt;/Box&gt;&#10;&#10;        &lt;Text&#10;            style={{&#10;                fontSize: 46,&#10;                fontWeight: 'bold',&#10;                color: '#FFFFFF',&#10;                lineHeight: 1.2,&#10;                marginTop: 40,&#10;                textAlign: 'center',&#10;                fontFamily: 'Trebuchet MS',&#10;            }}&#10;        &gt;&#10;            A shared obligation, finally queryable.&#10;        &lt;/Text&gt;&#10;&#10;        &lt;Box style={{ width: 72, height: 6, background: '#AFC440', marginTop: 26 }} /&gt;&#10;&#10;        &lt;Text&#10;            style={{&#10;                fontSize: 18,&#10;                color: 'rgba(255,255,255,0.84)',&#10;                lineHeight: 1.6,&#10;                marginTop: 26,&#10;                textAlign: 'center',&#10;                maxWidth: 760,&#10;                fontFamily: 'Verdana',&#10;            }}&#10;        &gt;&#10;            In production for one school, built in 31 days by prompt — and every number in this deck&#10;            can be traced to a file in the repository.&#10;        &lt;/Text&gt;&#10;&#10;        &lt;Box&#10;            style={{&#10;                marginTop: 34,&#10;                background: 'rgba(255,255,255,0.12)',&#10;                borderRadius: 999,&#10;                paddingTop: 12,&#10;                paddingBottom: 12,&#10;                paddingLeft: 26,&#10;                paddingRight: 26,&#10;            }}&#10;        &gt;&#10;            &lt;Text style={{ fontSize: 15, color: '#FFFFFF', fontFamily: 'Verdana' }}&gt;&#10;                pizza-snack-play.topidesta.workers.dev&#10;            &lt;/Text&gt;&#10;        &lt;/Box&gt;&#10;    &lt;/Box&gt;&#10;&#10;    {/* footer */}&#10;    &lt;Box&#10;        style={{&#10;            position: 'relative',&#10;            zIndex: 1,&#10;            height: 40,&#10;            flexDirection: 'row',&#10;            justifyContent: 'space-between',&#10;            alignItems: 'center',&#10;        }}&#10;    &gt;&#10;        &lt;Text style={{ fontSize: 14, color: 'rgba(255,255,255,0.55)' }}&gt;&#10;            Pizza Snack Play · Visualization Project Description&#10;        &lt;/Text&gt;&#10;        &lt;Text style={{ fontSize: 14, color: 'rgba(255,255,255,0.55)' }}&gt;16 / 16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51277C"/>
              </a:gs>
              <a:gs pos="100000">
                <a:srgbClr val="7A45A8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3" name=""/>
          <p:cNvSpPr/>
          <p:nvPr/>
        </p:nvSpPr>
        <p:spPr>
          <a:xfrm rot="0" flipH="0" flipV="0">
            <a:off x="8191500" y="-1809750"/>
            <a:ext cx="5334000" cy="5334000"/>
          </a:xfrm>
          <a:custGeom>
            <a:pathLst>
              <a:path w="560" h="560">
                <a:moveTo>
                  <a:pt x="420" y="522"/>
                </a:moveTo>
                <a:lnTo>
                  <a:pt x="419" y="523"/>
                </a:lnTo>
                <a:lnTo>
                  <a:pt x="413" y="526"/>
                </a:lnTo>
                <a:lnTo>
                  <a:pt x="407" y="529"/>
                </a:lnTo>
                <a:lnTo>
                  <a:pt x="401" y="532"/>
                </a:lnTo>
                <a:lnTo>
                  <a:pt x="395" y="535"/>
                </a:lnTo>
                <a:lnTo>
                  <a:pt x="389" y="538"/>
                </a:lnTo>
                <a:lnTo>
                  <a:pt x="383" y="541"/>
                </a:lnTo>
                <a:lnTo>
                  <a:pt x="376" y="543"/>
                </a:lnTo>
                <a:lnTo>
                  <a:pt x="370" y="545"/>
                </a:lnTo>
                <a:lnTo>
                  <a:pt x="363" y="547"/>
                </a:lnTo>
                <a:lnTo>
                  <a:pt x="357" y="549"/>
                </a:lnTo>
                <a:lnTo>
                  <a:pt x="350" y="551"/>
                </a:lnTo>
                <a:lnTo>
                  <a:pt x="343" y="553"/>
                </a:lnTo>
                <a:lnTo>
                  <a:pt x="336" y="554"/>
                </a:lnTo>
                <a:lnTo>
                  <a:pt x="330" y="556"/>
                </a:lnTo>
                <a:lnTo>
                  <a:pt x="323" y="557"/>
                </a:lnTo>
                <a:lnTo>
                  <a:pt x="316" y="558"/>
                </a:lnTo>
                <a:lnTo>
                  <a:pt x="309" y="559"/>
                </a:lnTo>
                <a:lnTo>
                  <a:pt x="302" y="559"/>
                </a:lnTo>
                <a:lnTo>
                  <a:pt x="294" y="560"/>
                </a:lnTo>
                <a:lnTo>
                  <a:pt x="287" y="560"/>
                </a:lnTo>
                <a:lnTo>
                  <a:pt x="280" y="560"/>
                </a:lnTo>
                <a:lnTo>
                  <a:pt x="273" y="560"/>
                </a:lnTo>
                <a:lnTo>
                  <a:pt x="266" y="560"/>
                </a:lnTo>
                <a:lnTo>
                  <a:pt x="258" y="559"/>
                </a:lnTo>
                <a:lnTo>
                  <a:pt x="251" y="559"/>
                </a:lnTo>
                <a:lnTo>
                  <a:pt x="244" y="558"/>
                </a:lnTo>
                <a:lnTo>
                  <a:pt x="237" y="557"/>
                </a:lnTo>
                <a:lnTo>
                  <a:pt x="230" y="556"/>
                </a:lnTo>
                <a:lnTo>
                  <a:pt x="224" y="554"/>
                </a:lnTo>
                <a:lnTo>
                  <a:pt x="217" y="553"/>
                </a:lnTo>
                <a:lnTo>
                  <a:pt x="210" y="551"/>
                </a:lnTo>
                <a:lnTo>
                  <a:pt x="203" y="549"/>
                </a:lnTo>
                <a:lnTo>
                  <a:pt x="197" y="547"/>
                </a:lnTo>
                <a:lnTo>
                  <a:pt x="190" y="545"/>
                </a:lnTo>
                <a:lnTo>
                  <a:pt x="184" y="543"/>
                </a:lnTo>
                <a:lnTo>
                  <a:pt x="177" y="541"/>
                </a:lnTo>
                <a:lnTo>
                  <a:pt x="171" y="538"/>
                </a:lnTo>
                <a:lnTo>
                  <a:pt x="165" y="535"/>
                </a:lnTo>
                <a:lnTo>
                  <a:pt x="159" y="532"/>
                </a:lnTo>
                <a:lnTo>
                  <a:pt x="153" y="529"/>
                </a:lnTo>
                <a:lnTo>
                  <a:pt x="147" y="526"/>
                </a:lnTo>
                <a:lnTo>
                  <a:pt x="141" y="523"/>
                </a:lnTo>
                <a:lnTo>
                  <a:pt x="135" y="519"/>
                </a:lnTo>
                <a:lnTo>
                  <a:pt x="129" y="516"/>
                </a:lnTo>
                <a:lnTo>
                  <a:pt x="123" y="512"/>
                </a:lnTo>
                <a:lnTo>
                  <a:pt x="118" y="508"/>
                </a:lnTo>
                <a:lnTo>
                  <a:pt x="113" y="504"/>
                </a:lnTo>
                <a:lnTo>
                  <a:pt x="107" y="500"/>
                </a:lnTo>
                <a:lnTo>
                  <a:pt x="102" y="496"/>
                </a:lnTo>
                <a:lnTo>
                  <a:pt x="97" y="492"/>
                </a:lnTo>
                <a:lnTo>
                  <a:pt x="92" y="487"/>
                </a:lnTo>
                <a:lnTo>
                  <a:pt x="87" y="483"/>
                </a:lnTo>
                <a:lnTo>
                  <a:pt x="82" y="478"/>
                </a:lnTo>
                <a:lnTo>
                  <a:pt x="77" y="473"/>
                </a:lnTo>
                <a:lnTo>
                  <a:pt x="73" y="468"/>
                </a:lnTo>
                <a:lnTo>
                  <a:pt x="68" y="463"/>
                </a:lnTo>
                <a:lnTo>
                  <a:pt x="64" y="458"/>
                </a:lnTo>
                <a:lnTo>
                  <a:pt x="60" y="453"/>
                </a:lnTo>
                <a:lnTo>
                  <a:pt x="56" y="447"/>
                </a:lnTo>
                <a:lnTo>
                  <a:pt x="52" y="442"/>
                </a:lnTo>
                <a:lnTo>
                  <a:pt x="48" y="437"/>
                </a:lnTo>
                <a:lnTo>
                  <a:pt x="44" y="431"/>
                </a:lnTo>
                <a:lnTo>
                  <a:pt x="41" y="425"/>
                </a:lnTo>
                <a:lnTo>
                  <a:pt x="37" y="419"/>
                </a:lnTo>
                <a:lnTo>
                  <a:pt x="34" y="413"/>
                </a:lnTo>
                <a:lnTo>
                  <a:pt x="31" y="407"/>
                </a:lnTo>
                <a:lnTo>
                  <a:pt x="28" y="401"/>
                </a:lnTo>
                <a:lnTo>
                  <a:pt x="25" y="395"/>
                </a:lnTo>
                <a:lnTo>
                  <a:pt x="22" y="389"/>
                </a:lnTo>
                <a:lnTo>
                  <a:pt x="19" y="383"/>
                </a:lnTo>
                <a:lnTo>
                  <a:pt x="17" y="376"/>
                </a:lnTo>
                <a:lnTo>
                  <a:pt x="15" y="370"/>
                </a:lnTo>
                <a:lnTo>
                  <a:pt x="13" y="363"/>
                </a:lnTo>
                <a:lnTo>
                  <a:pt x="11" y="357"/>
                </a:lnTo>
                <a:lnTo>
                  <a:pt x="9" y="350"/>
                </a:lnTo>
                <a:lnTo>
                  <a:pt x="7" y="343"/>
                </a:lnTo>
                <a:lnTo>
                  <a:pt x="6" y="336"/>
                </a:lnTo>
                <a:lnTo>
                  <a:pt x="4" y="330"/>
                </a:lnTo>
                <a:lnTo>
                  <a:pt x="3" y="323"/>
                </a:lnTo>
                <a:lnTo>
                  <a:pt x="2" y="316"/>
                </a:lnTo>
                <a:lnTo>
                  <a:pt x="1" y="309"/>
                </a:lnTo>
                <a:lnTo>
                  <a:pt x="1" y="302"/>
                </a:lnTo>
                <a:lnTo>
                  <a:pt x="0" y="294"/>
                </a:lnTo>
                <a:lnTo>
                  <a:pt x="0" y="287"/>
                </a:lnTo>
                <a:lnTo>
                  <a:pt x="0" y="280"/>
                </a:lnTo>
                <a:lnTo>
                  <a:pt x="0" y="273"/>
                </a:lnTo>
                <a:lnTo>
                  <a:pt x="0" y="266"/>
                </a:lnTo>
                <a:lnTo>
                  <a:pt x="1" y="258"/>
                </a:lnTo>
                <a:lnTo>
                  <a:pt x="1" y="251"/>
                </a:lnTo>
                <a:lnTo>
                  <a:pt x="2" y="244"/>
                </a:lnTo>
                <a:lnTo>
                  <a:pt x="3" y="237"/>
                </a:lnTo>
                <a:lnTo>
                  <a:pt x="4" y="230"/>
                </a:lnTo>
                <a:lnTo>
                  <a:pt x="6" y="224"/>
                </a:lnTo>
                <a:lnTo>
                  <a:pt x="7" y="217"/>
                </a:lnTo>
                <a:lnTo>
                  <a:pt x="9" y="210"/>
                </a:lnTo>
                <a:lnTo>
                  <a:pt x="11" y="203"/>
                </a:lnTo>
                <a:lnTo>
                  <a:pt x="13" y="197"/>
                </a:lnTo>
                <a:lnTo>
                  <a:pt x="15" y="190"/>
                </a:lnTo>
                <a:lnTo>
                  <a:pt x="15" y="190"/>
                </a:lnTo>
                <a:lnTo>
                  <a:pt x="420" y="190"/>
                </a:lnTo>
                <a:close/>
              </a:path>
            </a:pathLst>
          </a:custGeom>
          <a:gradFill>
            <a:gsLst>
              <a:gs pos="0">
                <a:srgbClr val="AFC440">
                  <a:alpha val="16000"/>
                </a:srgbClr>
              </a:gs>
              <a:gs pos="100000">
                <a:srgbClr val="F3B26C">
                  <a:alpha val="16000"/>
                </a:srgbClr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64" name=""/>
          <p:cNvSpPr/>
          <p:nvPr/>
        </p:nvSpPr>
        <p:spPr>
          <a:xfrm rot="0" flipH="0" flipV="0">
            <a:off x="-1428750" y="3143250"/>
            <a:ext cx="5905500" cy="5905500"/>
          </a:xfrm>
          <a:custGeom>
            <a:pathLst>
              <a:path w="620" h="620">
                <a:moveTo>
                  <a:pt x="318" y="0"/>
                </a:moveTo>
                <a:lnTo>
                  <a:pt x="326" y="0"/>
                </a:lnTo>
                <a:lnTo>
                  <a:pt x="334" y="1"/>
                </a:lnTo>
                <a:lnTo>
                  <a:pt x="342" y="2"/>
                </a:lnTo>
                <a:lnTo>
                  <a:pt x="349" y="2"/>
                </a:lnTo>
                <a:lnTo>
                  <a:pt x="357" y="4"/>
                </a:lnTo>
                <a:lnTo>
                  <a:pt x="365" y="5"/>
                </a:lnTo>
                <a:lnTo>
                  <a:pt x="372" y="6"/>
                </a:lnTo>
                <a:lnTo>
                  <a:pt x="380" y="8"/>
                </a:lnTo>
                <a:lnTo>
                  <a:pt x="387" y="10"/>
                </a:lnTo>
                <a:lnTo>
                  <a:pt x="395" y="12"/>
                </a:lnTo>
                <a:lnTo>
                  <a:pt x="402" y="14"/>
                </a:lnTo>
                <a:lnTo>
                  <a:pt x="409" y="16"/>
                </a:lnTo>
                <a:lnTo>
                  <a:pt x="417" y="19"/>
                </a:lnTo>
                <a:lnTo>
                  <a:pt x="424" y="22"/>
                </a:lnTo>
                <a:lnTo>
                  <a:pt x="431" y="24"/>
                </a:lnTo>
                <a:lnTo>
                  <a:pt x="438" y="27"/>
                </a:lnTo>
                <a:lnTo>
                  <a:pt x="444" y="31"/>
                </a:lnTo>
                <a:lnTo>
                  <a:pt x="451" y="34"/>
                </a:lnTo>
                <a:lnTo>
                  <a:pt x="458" y="37"/>
                </a:lnTo>
                <a:lnTo>
                  <a:pt x="464" y="41"/>
                </a:lnTo>
                <a:lnTo>
                  <a:pt x="471" y="45"/>
                </a:lnTo>
                <a:lnTo>
                  <a:pt x="477" y="49"/>
                </a:lnTo>
                <a:lnTo>
                  <a:pt x="483" y="53"/>
                </a:lnTo>
                <a:lnTo>
                  <a:pt x="489" y="57"/>
                </a:lnTo>
                <a:lnTo>
                  <a:pt x="495" y="62"/>
                </a:lnTo>
                <a:lnTo>
                  <a:pt x="501" y="66"/>
                </a:lnTo>
                <a:lnTo>
                  <a:pt x="507" y="71"/>
                </a:lnTo>
                <a:lnTo>
                  <a:pt x="513" y="76"/>
                </a:lnTo>
                <a:lnTo>
                  <a:pt x="518" y="81"/>
                </a:lnTo>
                <a:lnTo>
                  <a:pt x="524" y="86"/>
                </a:lnTo>
                <a:lnTo>
                  <a:pt x="529" y="91"/>
                </a:lnTo>
                <a:lnTo>
                  <a:pt x="534" y="96"/>
                </a:lnTo>
                <a:lnTo>
                  <a:pt x="539" y="102"/>
                </a:lnTo>
                <a:lnTo>
                  <a:pt x="544" y="107"/>
                </a:lnTo>
                <a:lnTo>
                  <a:pt x="549" y="113"/>
                </a:lnTo>
                <a:lnTo>
                  <a:pt x="554" y="119"/>
                </a:lnTo>
                <a:lnTo>
                  <a:pt x="558" y="125"/>
                </a:lnTo>
                <a:lnTo>
                  <a:pt x="563" y="131"/>
                </a:lnTo>
                <a:lnTo>
                  <a:pt x="567" y="137"/>
                </a:lnTo>
                <a:lnTo>
                  <a:pt x="571" y="143"/>
                </a:lnTo>
                <a:lnTo>
                  <a:pt x="575" y="149"/>
                </a:lnTo>
                <a:lnTo>
                  <a:pt x="579" y="156"/>
                </a:lnTo>
                <a:lnTo>
                  <a:pt x="583" y="162"/>
                </a:lnTo>
                <a:lnTo>
                  <a:pt x="586" y="169"/>
                </a:lnTo>
                <a:lnTo>
                  <a:pt x="589" y="176"/>
                </a:lnTo>
                <a:lnTo>
                  <a:pt x="593" y="182"/>
                </a:lnTo>
                <a:lnTo>
                  <a:pt x="596" y="189"/>
                </a:lnTo>
                <a:lnTo>
                  <a:pt x="598" y="196"/>
                </a:lnTo>
                <a:lnTo>
                  <a:pt x="601" y="203"/>
                </a:lnTo>
                <a:lnTo>
                  <a:pt x="604" y="211"/>
                </a:lnTo>
                <a:lnTo>
                  <a:pt x="606" y="218"/>
                </a:lnTo>
                <a:lnTo>
                  <a:pt x="608" y="225"/>
                </a:lnTo>
                <a:lnTo>
                  <a:pt x="610" y="233"/>
                </a:lnTo>
                <a:lnTo>
                  <a:pt x="612" y="240"/>
                </a:lnTo>
                <a:lnTo>
                  <a:pt x="614" y="248"/>
                </a:lnTo>
                <a:lnTo>
                  <a:pt x="615" y="255"/>
                </a:lnTo>
                <a:lnTo>
                  <a:pt x="616" y="263"/>
                </a:lnTo>
                <a:lnTo>
                  <a:pt x="618" y="271"/>
                </a:lnTo>
                <a:lnTo>
                  <a:pt x="618" y="278"/>
                </a:lnTo>
                <a:lnTo>
                  <a:pt x="619" y="286"/>
                </a:lnTo>
                <a:lnTo>
                  <a:pt x="620" y="294"/>
                </a:lnTo>
                <a:lnTo>
                  <a:pt x="620" y="302"/>
                </a:lnTo>
                <a:lnTo>
                  <a:pt x="620" y="310"/>
                </a:lnTo>
                <a:lnTo>
                  <a:pt x="620" y="318"/>
                </a:lnTo>
                <a:lnTo>
                  <a:pt x="620" y="326"/>
                </a:lnTo>
                <a:lnTo>
                  <a:pt x="619" y="334"/>
                </a:lnTo>
                <a:lnTo>
                  <a:pt x="618" y="342"/>
                </a:lnTo>
                <a:lnTo>
                  <a:pt x="618" y="349"/>
                </a:lnTo>
                <a:lnTo>
                  <a:pt x="616" y="357"/>
                </a:lnTo>
                <a:lnTo>
                  <a:pt x="615" y="365"/>
                </a:lnTo>
                <a:lnTo>
                  <a:pt x="614" y="372"/>
                </a:lnTo>
                <a:lnTo>
                  <a:pt x="612" y="380"/>
                </a:lnTo>
                <a:lnTo>
                  <a:pt x="610" y="387"/>
                </a:lnTo>
                <a:lnTo>
                  <a:pt x="610" y="390"/>
                </a:lnTo>
                <a:lnTo>
                  <a:pt x="150" y="390"/>
                </a:lnTo>
                <a:lnTo>
                  <a:pt x="150" y="44"/>
                </a:lnTo>
                <a:lnTo>
                  <a:pt x="156" y="41"/>
                </a:lnTo>
                <a:lnTo>
                  <a:pt x="162" y="37"/>
                </a:lnTo>
                <a:lnTo>
                  <a:pt x="169" y="34"/>
                </a:lnTo>
                <a:lnTo>
                  <a:pt x="176" y="31"/>
                </a:lnTo>
                <a:lnTo>
                  <a:pt x="182" y="27"/>
                </a:lnTo>
                <a:lnTo>
                  <a:pt x="189" y="24"/>
                </a:lnTo>
                <a:lnTo>
                  <a:pt x="196" y="22"/>
                </a:lnTo>
                <a:lnTo>
                  <a:pt x="203" y="19"/>
                </a:lnTo>
                <a:lnTo>
                  <a:pt x="211" y="16"/>
                </a:lnTo>
                <a:lnTo>
                  <a:pt x="218" y="14"/>
                </a:lnTo>
                <a:lnTo>
                  <a:pt x="225" y="12"/>
                </a:lnTo>
                <a:lnTo>
                  <a:pt x="233" y="10"/>
                </a:lnTo>
                <a:lnTo>
                  <a:pt x="240" y="8"/>
                </a:lnTo>
                <a:lnTo>
                  <a:pt x="248" y="6"/>
                </a:lnTo>
                <a:lnTo>
                  <a:pt x="255" y="5"/>
                </a:lnTo>
                <a:lnTo>
                  <a:pt x="263" y="4"/>
                </a:lnTo>
                <a:lnTo>
                  <a:pt x="271" y="2"/>
                </a:lnTo>
                <a:lnTo>
                  <a:pt x="278" y="2"/>
                </a:lnTo>
                <a:lnTo>
                  <a:pt x="286" y="1"/>
                </a:lnTo>
                <a:lnTo>
                  <a:pt x="294" y="0"/>
                </a:lnTo>
                <a:lnTo>
                  <a:pt x="302" y="0"/>
                </a:lnTo>
                <a:lnTo>
                  <a:pt x="31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165" name=""/>
          <p:cNvSpPr/>
          <p:nvPr/>
        </p:nvSpPr>
        <p:spPr>
          <a:xfrm rot="0" flipH="0" flipV="0">
            <a:off x="4838700" y="504825"/>
            <a:ext cx="2514600" cy="2514600"/>
          </a:xfrm>
          <a:prstGeom prst="roundRect">
            <a:avLst>
              <a:gd name="adj" fmla="val 50000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 r:embed="rId1"/>
          <a:srcRect l="0" t="83" r="0" b="83"/>
          <a:stretch>
            <a:fillRect/>
          </a:stretch>
        </p:blipFill>
        <p:spPr>
          <a:xfrm rot="0" flipH="0" flipV="0">
            <a:off x="5162550" y="857250"/>
            <a:ext cx="1866900" cy="180975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2162175" y="3400425"/>
            <a:ext cx="7867650" cy="638175"/>
          </a:xfrm>
          <a:prstGeom prst="rect"/>
        </p:spPr>
        <p:txBody>
          <a:bodyPr wrap="none" lIns="0" tIns="0" rIns="0" bIns="0"/>
          <a:p>
            <a:pPr algn="ctr">
              <a:lnSpc>
                <a:spcPct val="120000"/>
              </a:lnSpc>
            </a:pPr>
            <a:r>
              <a:rPr lang="en-US" sz="3450" b="1">
                <a:solidFill>
                  <a:srgbClr val="FFFFFF"/>
                </a:solidFill>
                <a:latin typeface="Trebuchet MS"/>
                <a:ea typeface="Trebuchet MS"/>
              </a:rPr>
              <a:t>A shared obligation, finally queryable.</a:t>
            </a:r>
            <a:endParaRPr/>
          </a:p>
        </p:txBody>
      </p:sp>
      <p:sp>
        <p:nvSpPr>
          <p:cNvPr id="168" name=""/>
          <p:cNvSpPr/>
          <p:nvPr/>
        </p:nvSpPr>
        <p:spPr>
          <a:xfrm rot="0" flipH="0" flipV="0">
            <a:off x="5753100" y="4286250"/>
            <a:ext cx="685800" cy="57150"/>
          </a:xfrm>
          <a:prstGeom prst="rect">
            <a:avLst/>
          </a:prstGeom>
          <a:solidFill>
            <a:srgbClr val="AFC440"/>
          </a:solidFill>
          <a:ln/>
        </p:spPr>
        <p:txBody>
          <a:bodyPr/>
          <a:p/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4591050"/>
            <a:ext cx="10972800" cy="66675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60000"/>
              </a:lnSpc>
            </a:pPr>
            <a:r>
              <a:rPr lang="en-US" sz="1350">
                <a:solidFill>
                  <a:srgbClr val="FFFFFF">
                    <a:alpha val="84000"/>
                  </a:srgbClr>
                </a:solidFill>
                <a:latin typeface="Verdana"/>
                <a:ea typeface="Verdana"/>
              </a:rPr>
              <a:t>In production for one school, built in 31 days by prompt — and every number in this deck can be traced to a file in the repository.</a:t>
            </a:r>
            <a:endParaRPr/>
          </a:p>
        </p:txBody>
      </p:sp>
      <p:sp>
        <p:nvSpPr>
          <p:cNvPr id="170" name=""/>
          <p:cNvSpPr/>
          <p:nvPr/>
        </p:nvSpPr>
        <p:spPr>
          <a:xfrm rot="0" flipH="0" flipV="0">
            <a:off x="4438650" y="5581650"/>
            <a:ext cx="3324225" cy="400050"/>
          </a:xfrm>
          <a:prstGeom prst="roundRect">
            <a:avLst>
              <a:gd name="adj" fmla="val 2378571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4686300" y="5695950"/>
            <a:ext cx="2828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/>
                </a:solidFill>
                <a:latin typeface="Verdana"/>
                <a:ea typeface="Verdana"/>
              </a:rPr>
              <a:t>pizza-snack-play.topidesta.workers.dev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Pizza Snack Play · Visualization Project Description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5000"/>
                  </a:srgbClr>
                </a:solidFill>
                <a:latin typeface="Microsoft YaHei"/>
                <a:ea typeface="Microsoft YaHei"/>
              </a:rPr>
              <a:t>16 / 16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2026-10-17T06:04:44Z</dcterms:created>
  <dcterms:modified xsi:type="dcterms:W3CDTF">2026-10-17T06:04:44Z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{"AIGC":{"Label":"1","ContentProducer":"00119111010856365494821B355","ProduceID":"01a146e7fba7791d9bf218855d257012","ReservedCode1":"","ContentPropagator":"00119111010856365494821B355","PropagateID":"01a146e7fba7791d9bf218855d257012","ReservedCode2":""}}</vt:lpwstr>
  </property>
</Properties>
</file>