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5" Type="http://schemas.openxmlformats.org/officeDocument/2006/relationships/slide" Target="slides/slide15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svg" /><Relationship Id="rId2" Type="http://schemas.openxmlformats.org/officeDocument/2006/relationships/image" Target="media/image2.png" /><Relationship Id="rId3" Type="http://schemas.openxmlformats.org/officeDocument/2006/relationships/image" Target="media/image3.sv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5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Relationship Id="rId2" Type="http://schemas.openxmlformats.org/officeDocument/2006/relationships/image" Target="media/image18.svg" /><Relationship Id="rId3" Type="http://schemas.openxmlformats.org/officeDocument/2006/relationships/image" Target="media/image1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3.svg" /><Relationship Id="rId1" Type="http://schemas.openxmlformats.org/officeDocument/2006/relationships/image" Target="media/image22.svg" /><Relationship Id="rId3" Type="http://schemas.openxmlformats.org/officeDocument/2006/relationships/image" Target="media/image24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svg" /></Relationships>
</file>

<file path=ppt/slides/_rels/slide15.xml.rels><?xml version="1.0" encoding="UTF-8" standalone="yes"?><Relationships xmlns="http://schemas.openxmlformats.org/package/2006/relationships"><Relationship Id="rId4" Type="http://schemas.openxmlformats.org/officeDocument/2006/relationships/image" Target="media/image1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Relationship Id="rId2" Type="http://schemas.openxmlformats.org/officeDocument/2006/relationships/image" Target="media/image10.svg" /><Relationship Id="rId3" Type="http://schemas.openxmlformats.org/officeDocument/2006/relationships/image" Target="media/image11.svg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13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&#10;    style={{&#10;        width: '1280px',&#10;        height: '720px',&#10;        background: '#FAF7F2',&#10;        flexDirection: 'row',&#10;        padding: 0,&#10;        position: 'relative',&#10;        overflow: 'hidden',&#10;    }}&#10;&gt;&#10;    {/* dekorasi latar */}&#10;    &lt;Box&#10;        style={{&#10;            position: 'absolute',&#10;            top: -140,&#10;            right: -120,&#10;            width: 520,&#10;            height: 520,&#10;            borderRadius: 260,&#10;            background: 'linear-gradient(135deg, #51277C 0%, #7A45A8 100%)',&#10;            opacity: 0.10,&#10;        }}&#10;    /&gt;&#10;    &lt;Box&#10;        style={{&#10;            position: 'absolute',&#10;            bottom: -90,&#10;            left: -80,&#10;            width: 360,&#10;            height: 360,&#10;            borderRadius: 180,&#10;            background: 'linear-gradient(135deg, #AFC440 0%, #F3B26C 100%)',&#10;            opacity: 0.14,&#10;        }}&#10;    /&gt;&#10;&#10;    {/* ── kolom kiri: judul ── */}&#10;    &lt;Box&#10;        style={{&#10;            position: 'relative',&#10;            zIndex: 1,&#10;            width: '56%',&#10;            paddingTop: 96,&#10;            paddingBottom: 96,&#10;            paddingLeft: 64,&#10;            paddingRight: 32,&#10;            justifyContent: 'center',&#10;        }}&#10;    &gt;&#10;        &lt;Box&#10;            style={{&#10;                flexDirection: 'row',&#10;                alignItems: 'center',&#10;                gap: 10,&#10;                alignSelf: 'flex-start',&#10;                background: '#51277C',&#10;                borderRadius: 999,&#10;                paddingTop: 9,&#10;                paddingBottom: 9,&#10;                paddingLeft: 20,&#10;                paddingRight: 22,&#10;            }}&#10;        &gt;&#10;            &lt;svg width={20} height={20} viewBox='0 0 24 24'&gt;&#10;                &lt;path d='M8 3h8v3H8z' fill='#F3B26C' /&gt;&#10;                &lt;path&#10;                    d='M6 5h12v16H6z'&#10;                    fill='none'&#10;                    stroke='#F3B26C'&#10;                    strokeWidth='2'&#10;                /&gt;&#10;                &lt;path d='M9 11h6M9 15h4' stroke='#F3B26C' strokeWidth='2' strokeLinecap='round' /&gt;&#10;            &lt;/svg&gt;&#10;            &lt;Text style={{ fontSize: 17, color: '#FFFFFF', fontFamily: 'Verdana', fontWeight: 'bold' }}&gt;&#10;                Panduan Korlas &amp;amp; Admin&#10;            &lt;/Text&gt;&#10;        &lt;/Box&gt;&#10;&#10;        &lt;Text&#10;            style={{&#10;                marginTop: 26,&#10;                fontSize: 62,&#10;                fontWeight: 'bold',&#10;                color: '#51277C',&#10;                fontFamily: 'Trebuchet MS',&#10;                lineHeight: 1.15,&#10;            }}&#10;        &gt;&#10;            Pizza Snack Play&#10;        &lt;/Text&gt;&#10;&#10;        &lt;Box style={{ marginTop: 18, width: 96, height: 7, borderRadius: 4, background: '#AFC440' }} /&gt;&#10;&#10;        &lt;Text&#10;            style={{&#10;                marginTop: 26,&#10;                fontSize: 23,&#10;                color: '#2A2333',&#10;                fontFamily: 'Verdana',&#10;                lineHeight: 1.55,&#10;            }}&#10;        &gt;&#10;            Menyusun jadwal snack kelas, menentukan petugas, lalu&#10;            &lt;span style={{ fontWeight: 'bold', color: '#51277C' }}&gt; menerbitkannya ke orang tua&lt;/span&gt;.&#10;        &lt;/Text&gt;&#10;&#10;        &lt;Text&#10;            style={{&#10;                marginTop: 22,&#10;                fontSize: 19,&#10;                color: '#6B6478',&#10;                fontFamily: 'Verdana',&#10;                lineHeight: 1.5,&#10;            }}&#10;        &gt;&#10;            Dari awal sampai terbit — bisa dikerjakan sendiri.&#10;        &lt;/Text&gt;&#10;    &lt;/Box&gt;&#10;&#10;    {/* ── kolom kanan: logo + penanda ── */}&#10;    &lt;Box&#10;        style={{&#10;            position: 'relative',&#10;            zIndex: 1,&#10;            width: '44%',&#10;            justifyContent: 'center',&#10;            alignItems: 'center',&#10;        }}&#10;    &gt;&#10;        &lt;Image src=&quot;assets/app_logo.png&quot; style={{ width: 400, height: 388, objectFit: 'contain' }} /&gt;&#10;&#10;        &lt;Box&#10;            style={{&#10;                marginTop: 18,&#10;                flexDirection: 'row',&#10;                alignItems: 'center',&#10;                gap: 12,&#10;                background: 'rgba(81,39,124,0.07)',&#10;                borderRadius: 14,&#10;                paddingTop: 12,&#10;                paddingBottom: 12,&#10;                paddingLeft: 22,&#10;                paddingRight: 22,&#10;            }}&#10;        &gt;&#10;            &lt;svg width={34} height={34} viewBox='0 0 24 24'&gt;&#10;                &lt;path&#10;                    d='M7 2v3M17 2v3M3 9h18M5 5h14a2 2 0 0 1 2 2v12a2 2 0 0 1-2 2H5a2 2 0 0 1-2-2V7a2 2 0 0 1 2-2z'&#10;                    fill='none'&#10;                    stroke='#51277C'&#10;                    strokeWidth='2'&#10;                    strokeLinecap='round'&#10;                /&gt;&#10;            &lt;/svg&gt;&#10;            &lt;Text style={{ fontSize: 18, color: '#51277C', fontFamily: 'Verdana', fontWeight: 'bold' }}&gt;&#10;                Senin sampai Jumat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762000" y="428625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48" y="2"/>
                  <a:pt x="306" y="37"/>
                  <a:pt x="337" y="92"/>
                </a:cubicBezTo>
                <a:cubicBezTo>
                  <a:pt x="368" y="147"/>
                  <a:pt x="368" y="215"/>
                  <a:pt x="336" y="270"/>
                </a:cubicBezTo>
                <a:lnTo>
                  <a:pt x="80" y="270"/>
                </a:lnTo>
                <a:lnTo>
                  <a:pt x="80" y="30"/>
                </a:lnTo>
                <a:cubicBezTo>
                  <a:pt x="110" y="11"/>
                  <a:pt x="144" y="0"/>
                  <a:pt x="18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790700"/>
            <a:ext cx="2943225" cy="371475"/>
          </a:xfrm>
          <a:prstGeom prst="roundRect">
            <a:avLst>
              <a:gd name="adj" fmla="val 2561538"/>
            </a:avLst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885950"/>
            <a:ext cx="190500" cy="19050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1085850" y="1876425"/>
            <a:ext cx="2257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Verdana"/>
                <a:ea typeface="Verdana"/>
              </a:rPr>
              <a:t>Panduan Korlas &amp; Admin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409825"/>
            <a:ext cx="5915025" cy="819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650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609600" y="3400425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714750"/>
            <a:ext cx="5915025" cy="819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Menyusun jadwal snack kelas, menentukan petugas, lalu</a:t>
            </a:r>
            <a:r>
              <a:rPr lang="en-US" sz="1725" b="1">
                <a:solidFill>
                  <a:srgbClr val="51277C"/>
                </a:solidFill>
                <a:latin typeface="Verdana"/>
                <a:ea typeface="Verdana"/>
              </a:rPr>
              <a:t xml:space="preserve"> menerbitkannya ke orang tua</a:t>
            </a:r>
            <a:r>
              <a:rPr lang="en-US" sz="1725">
                <a:solidFill>
                  <a:srgbClr val="2A2333"/>
                </a:solidFill>
                <a:latin typeface="Verdana"/>
                <a:ea typeface="Verdana"/>
              </a:rPr>
              <a:t>.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4743450"/>
            <a:ext cx="5915025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Dari awal sampai terbit — bisa dikerjakan sendiri.</a:t>
            </a:r>
            <a:endParaRPr/>
          </a:p>
        </p:txBody>
      </p:sp>
      <p:pic>
        <p:nvPicPr>
          <p:cNvPr id="12" name=""/>
          <p:cNvPicPr>
            <a:picLocks noChangeAspect="1"/>
          </p:cNvPicPr>
          <p:nvPr/>
        </p:nvPicPr>
        <p:blipFill>
          <a:blip r:embed="rId2"/>
          <a:srcRect l="0" t="52" r="0" b="52"/>
          <a:stretch>
            <a:fillRect/>
          </a:stretch>
        </p:blipFill>
        <p:spPr>
          <a:xfrm rot="0" flipH="0" flipV="0">
            <a:off x="7610475" y="1219200"/>
            <a:ext cx="3810000" cy="3695700"/>
          </a:xfrm>
          <a:prstGeom prst="rect">
            <a:avLst/>
          </a:prstGeom>
          <a:ln/>
        </p:spPr>
      </p:pic>
      <p:sp>
        <p:nvSpPr>
          <p:cNvPr id="13" name=""/>
          <p:cNvSpPr/>
          <p:nvPr/>
        </p:nvSpPr>
        <p:spPr>
          <a:xfrm rot="0" flipH="0" flipV="0">
            <a:off x="8115300" y="5086350"/>
            <a:ext cx="2800350" cy="552450"/>
          </a:xfrm>
          <a:prstGeom prst="roundRect">
            <a:avLst>
              <a:gd name="adj" fmla="val 24138"/>
            </a:avLst>
          </a:prstGeom>
          <a:solidFill>
            <a:srgbClr val="51277C">
              <a:alpha val="7000"/>
            </a:srgbClr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24850" y="5200650"/>
            <a:ext cx="323850" cy="3238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763000" y="5257800"/>
            <a:ext cx="1943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51277C"/>
                </a:solidFill>
                <a:latin typeface="Verdana"/>
                <a:ea typeface="Verdana"/>
              </a:rPr>
              <a:t>Senin sampai Jumat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Isi panduan ini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8 }}&gt;&#10;        &lt;Box&#10;            style={{&#10;                width: '32%',&#10;                height: '100%',&#10;                background: 'linear-gradient(135deg, #51277C 0%, #7A45A8 100%)',&#10;                borderRadius: 18,&#10;                padding: 28,&#10;                justifyContent: 'space-between',&#10;            }}&#10;        &gt;&#10;            &lt;Box&gt;&#10;                &lt;Text&#10;                    style={{&#10;                        fontSize: 96,&#10;                        fontWeight: 'bold',&#10;                        color: '#FFFFFF',&#10;                        fontFamily: 'Trebuchet MS',&#10;                        lineHeight: 1,&#10;                    }}&#10;                &gt;&#10;                    4&#10;                &lt;/Text&gt;&#10;                &lt;Text&#10;                    style={{&#10;                        marginTop: 6,&#10;                        fontSize: 24,&#10;                        fontWeight: 'bold',&#10;                        color: '#F3B26C',&#10;                        fontFamily: 'Trebuchet MS',&#10;                    }}&#10;                &gt;&#10;                    bagian&#10;                &lt;/Text&gt;&#10;            &lt;/Box&gt;&#10;            &lt;Text&#10;                style={{&#10;                    fontSize: 17,&#10;                    color: 'rgba(255,255,255,0.88)',&#10;                    fontFamily: 'Verdana',&#10;                    lineHeight: 1.5,&#10;                }}&#10;            &gt;&#10;                Bagian 3 dan 4 yang dipakai setiap bulan, menjelang jadwal baru.&#10;            &lt;/Text&gt;&#10;        &lt;/Box&gt;&#10;&#10;        &lt;Box style={{ width: '68%', height: '100%', justifyContent: 'space-between' }}&gt;&#10;            {[&#10;                {&#10;                    n: '01',&#10;                    t: 'Peran Anda',&#10;                    d: 'Tiga tugas korlas, sesuai urutan mengerjakannya.',&#10;                    p: '4',&#10;                },&#10;                {&#10;                    n: '02',&#10;                    t: 'Akun &amp; wewenang',&#10;                    d: 'Apa yang boleh korlas, dan mana wewenang admin.',&#10;                    p: '6',&#10;                },&#10;                {&#10;                    n: '03',&#10;                    t: 'Menyusun jadwal',&#10;                    d: 'Isi menu, salin Sepekan, atau tempel teks sekolah.',&#10;                    p: '8–10',&#10;                },&#10;                {&#10;                    n: '04',&#10;                    t: 'Kunci, publikasi &amp; laporan',&#10;                    d: 'Urutan yang tidak bisa dibalik, aksi massal, lalu rekap piket.',&#10;                    p: '12–15',&#10;                },&#10;            ].map((it, i) =&gt; (&#10;                &lt;Box&#10;                    key={i}&#10;                    style={{&#10;                        flexDirection: 'row',&#10;                        alignItems: 'center',&#10;                        gap: 20,&#10;                        height: 122,&#10;                        background: '#FFFFFF',&#10;                        borderRadius: 16,&#10;                        boxShadow: '0 4px 20px rgba(0,0,0,0.08)',&#10;                        paddingLeft: 24,&#10;                        paddingRight: 28,&#10;                        borderLeft: '8px solid #AFC440',&#10;                    }}&#10;                &gt;&#10;                    &lt;Box&#10;                        style={{&#10;                            width: 56,&#10;                            height: 56,&#10;                            borderRadius: 28,&#10;                            background: 'rgba(81,39,124,0.09)',&#10;                            justifyContent: 'center',&#10;                            alignItems: 'center',&#10;                        }}&#10;                    &gt;&#10;                        &lt;Text&#10;                            style={{&#10;                                fontSize: 24,&#10;                                fontWeight: 'bold',&#10;                                color: '#51277C',&#10;                                fontFamily: 'Trebuchet MS',&#10;                            }}&#10;                        &gt;&#10;                            {it.n}&#10;                        &lt;/Text&gt;&#10;                    &lt;/Box&gt;&#10;                    &lt;Box style={{ flex: 1 }}&gt;&#10;                        &lt;Text&#10;                            style={{&#10;                                fontSize: 25,&#10;                                fontWeight: 'bold',&#10;                                color: '#2A2333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    &lt;Text&#10;                            style={{&#10;                                marginTop: 5,&#10;                                fontSize: 18,&#10;                                color: '#6B6478',&#10;                                fontFamily: 'Verdana',&#10;                                lineHeight: 1.45,&#10;                            }}&#10;                        &gt;&#10;                            {it.d}&#10;                        &lt;/Text&gt;&#10;                    &lt;/Box&gt;&#10;                    &lt;Text&#10;                        style={{&#10;                            fontSize: 17,&#10;                            color: '#51277C',&#10;                            fontFamily: 'Verdana',&#10;                            fontWeight: 'bold',&#10;                        }}&#10;                    &gt;&#10;                        {it.p}&#10;                    &lt;/Text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Isi panduan ini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609600" y="1238250"/>
            <a:ext cx="3429000" cy="5048250"/>
          </a:xfrm>
          <a:prstGeom prst="roundRect">
            <a:avLst>
              <a:gd name="adj" fmla="val 5000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876300" y="1504950"/>
            <a:ext cx="2895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Trebuchet MS"/>
                <a:ea typeface="Trebuchet MS"/>
              </a:rPr>
              <a:t>4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876300" y="2667000"/>
            <a:ext cx="2895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3B26C"/>
                </a:solidFill>
                <a:latin typeface="Trebuchet MS"/>
                <a:ea typeface="Trebuchet MS"/>
              </a:rPr>
              <a:t>bagian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876300" y="5429250"/>
            <a:ext cx="2895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Bagian 3 dan 4 yang dipakai setiap bulan, menjelang jadwal baru.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4381500" y="12382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4381500" y="12382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4610100" y="15525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743450" y="16859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334000" y="1457325"/>
            <a:ext cx="56673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Peran Anda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56673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Tiga tugas korlas, sesuai urutan mengerjakannya.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1191875" y="1724025"/>
            <a:ext cx="12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4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4381500" y="25336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4381500" y="25336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71" name=""/>
          <p:cNvSpPr/>
          <p:nvPr/>
        </p:nvSpPr>
        <p:spPr>
          <a:xfrm rot="0" flipH="0" flipV="0">
            <a:off x="4610100" y="28479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743450" y="29813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334000" y="2752725"/>
            <a:ext cx="56673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Akun &amp; wewenang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5334000" y="3171825"/>
            <a:ext cx="56673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Apa yang boleh korlas, dan mana wewenang admin.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11191875" y="3019425"/>
            <a:ext cx="12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6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381500" y="38290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4381500" y="38290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610100" y="4143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743450" y="42767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334000" y="4048125"/>
            <a:ext cx="53244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Menyusun jadwal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5334000" y="4467225"/>
            <a:ext cx="5324475" cy="3048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Isi menu, salin Sepekan, atau tempel teks sekolah.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0848975" y="4314825"/>
            <a:ext cx="466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8–10</a:t>
            </a:r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4381500" y="5124450"/>
            <a:ext cx="7277100" cy="1162050"/>
          </a:xfrm>
          <a:prstGeom prst="roundRect">
            <a:avLst>
              <a:gd name="adj" fmla="val 1311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381500" y="5124450"/>
            <a:ext cx="7277100" cy="1162050"/>
          </a:xfrm>
          <a:custGeom>
            <a:pathLst>
              <a:path w="764" h="122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14"/>
                </a:lnTo>
                <a:cubicBezTo>
                  <a:pt x="8" y="118"/>
                  <a:pt x="11" y="121"/>
                  <a:pt x="14" y="122"/>
                </a:cubicBezTo>
                <a:cubicBezTo>
                  <a:pt x="6" y="121"/>
                  <a:pt x="0" y="114"/>
                  <a:pt x="0" y="106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4610100" y="54387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>
              <a:alpha val="9000"/>
            </a:srgbClr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743450" y="5572125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334000" y="5343525"/>
            <a:ext cx="5210175" cy="3714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75" b="1">
                <a:solidFill>
                  <a:srgbClr val="2A2333"/>
                </a:solidFill>
                <a:latin typeface="Trebuchet MS"/>
                <a:ea typeface="Trebuchet MS"/>
              </a:rPr>
              <a:t>Kunci, publikasi &amp; laporan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334000" y="5762625"/>
            <a:ext cx="5210175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Urutan yang tidak bisa dibalik, aksi massal, lalu rekap piket.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0734675" y="5610225"/>
            <a:ext cx="581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Verdana"/>
                <a:ea typeface="Verdana"/>
              </a:rPr>
              <a:t>12–15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2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&lt;Box&#10;        style={{&#10;            position: 'absolute',&#10;            top: -100,&#10;            right: -60,&#10;            width: 420,&#10;            height: 420,&#10;            borderRadius: 210,&#10;            background: '#AFC440',&#10;            opacity: 0.14,&#10;        }}&#10;    /&gt;&#10;    &lt;Box style={{ position: 'absolute', bottom: 46, right: 78, opacity: 0.16 }}&gt;&#10;        &lt;svg width={240} height={190} viewBox='0 0 240 190'&gt;&#10;            &lt;rect x='10' y='26' width='220' height='156' rx='16' fill='none' stroke='#FFFFFF' strokeWidth='6' /&gt;&#10;            &lt;path d='M10 62h220' stroke='#FFFFFF' strokeWidth='6' /&gt;&#10;            &lt;path d='M60 8v30M180 8v30' stroke='#FFFFFF' strokeWidth='8' strokeLinecap='round' /&gt;&#10;            &lt;rect x='42' y='84' width='34' height='26' rx='6' fill='#FFFFFF' /&gt;&#10;            &lt;rect x='102' y='84' width='34' height='26' rx='6' fill='#FFFFFF' /&gt;&#10;            &lt;rect x='162' y='84' width='34' height='26' rx='6' fill='#FFFFFF' /&gt;&#10;            &lt;rect x='42' y='128' width='34' height='26' rx='6' fill='#FFFFFF' /&gt;&#10;            &lt;rect x='102' y='128' width='34' height='26' rx='6' fill='#F3B26C' /&gt;&#10;        &lt;/svg&gt;&#10;    &lt;/Box&gt;&#10;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1&#10;            &lt;/Text&gt;&#10;            &lt;Box style={{ width: 3, height: 52, background: 'rgba(255,255,255,0.45)' }} /&gt;&#10;            &lt;Text style={{ fontSize: 19, color: 'rgba(255,255,255,0.8)', fontFamily: 'Verdana' }}&gt;&#10;                Bagian pertam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Peran Anda{'\n'}di kelas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Korlas mengurus jadwal satu kelas. Mulai dari yang paling sering dikerjakan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195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163050" y="4610100"/>
            <a:ext cx="2286000" cy="1809750"/>
          </a:xfrm>
          <a:prstGeom prst="rect">
            <a:avLst/>
          </a:prstGeom>
          <a:ln/>
        </p:spPr>
      </p:pic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1676400" y="17716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838325" y="1914525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pertama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Peran Anda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di kelas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6705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Korlas mengurus jadwal satu kelas. Mulai dari yang paling sering dikerjakan.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01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Tiga tugas Anda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alur tiga langkah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20} height={430} viewBox='0 0 520 430'&gt;&#10;                {/* langkah 1 */}&#10;                &lt;rect x='14' y='8' width='492' height='112' rx='16' fill='#FFFFFF' stroke='#E6DFD2' strokeWidth='2' /&gt;&#10;                &lt;circle cx='62' cy='64' r='28' fill='#51277C' /&gt;&#10;                &lt;text x='62' y='74' fontFamily='Trebuchet MS' fontSize='28' fontWeight='bold' fill='#FFFFFF' textAnchor='middle'&gt;&#10;                    1&#10;                &lt;/text&gt;&#10;                &lt;text x='112' y='54' fontFamily='Trebuchet MS' fontSize='24' fontWeight='bold' fill='#51277C'&gt;&#10;                    Susun&#10;                &lt;/text&gt;&#10;                &lt;text x='112' y='86' fontFamily='Verdana' fontSize='16' fill='#6B6478'&gt;&#10;                    Menu untuk Senin sampai Jumat&#10;                &lt;/text&gt;&#10;                {/* panah */}&#10;                &lt;path d='M260 126v30' stroke='#AFC440' strokeWidth='5' strokeLinecap='round' /&gt;&#10;                &lt;path d='M250 150l10 12 10-12' fill='none' stroke='#AFC440' strokeWidth='5' strokeLinecap='round' /&gt;&#10;&#10;                {/* langkah 2 */}&#10;                &lt;rect x='14' y='164' width='492' height='112' rx='16' fill='#FFFFFF' stroke='#E6DFD2' strokeWidth='2' /&gt;&#10;                &lt;circle cx='62' cy='220' r='28' fill='#51277C' /&gt;&#10;                &lt;text x='62' y='230' fontFamily='Trebuchet MS' fontSize='28' fontWeight='bold' fill='#FFFFFF' textAnchor='middle'&gt;&#10;                    2&#10;                &lt;/text&gt;&#10;                &lt;text x='112' y='210' fontFamily='Trebuchet MS' fontSize='24' fontWeight='bold' fill='#51277C'&gt;&#10;                    Tentukan petugas&#10;                &lt;/text&gt;&#10;                &lt;text x='112' y='242' fontFamily='Verdana' fontSize='16' fill='#6B6478'&gt;&#10;                    Atau biarkan kosong supaya direbut orang tua&#10;                &lt;/text&gt;&#10;                {/* panah */}&#10;                &lt;path d='M260 282v30' stroke='#AFC440' strokeWidth='5' strokeLinecap='round' /&gt;&#10;                &lt;path d='M250 306l10 12 10-12' fill='none' stroke='#AFC440' strokeWidth='5' strokeLinecap='round' /&gt;&#10;&#10;                {/* langkah 3 */}&#10;                &lt;rect x='14' y='320' width='492' height='104' rx='16' fill='#51277C' /&gt;&#10;                &lt;circle cx='62' cy='372' r='28' fill='#F3B26C' /&gt;&#10;                &lt;text x='62' y='382' fontFamily='Trebuchet MS' fontSize='28' fontWeight='bold' fill='#51277C' textAnchor='middle'&gt;&#10;                    3&#10;                &lt;/text&gt;&#10;                &lt;text x='112' y='362' fontFamily='Trebuchet MS' fontSize='24' fontWeight='bold' fill='#FFFFFF'&gt;&#10;                    Umumkan&#10;                &lt;/text&gt;&#10;                &lt;text x='112' y='394' fontFamily='Verdana' fontSize='16' fill='#EFEAE1'&gt;&#10;                    Kunci lebih dulu, baru terbit ke orang tua&#10;                &lt;/text&gt;&#10;            &lt;/svg&gt;&#10;        &lt;/Box&gt;&#10;&#10;        {/* kanan 45% · tiga keterangan */}&#10;        &lt;Box style={{ width: '45%', height: '100%', justifyContent: 'space-between' }}&gt;&#10;            {[&#10;                {&#10;                    t: 'Susun — isi menunya',&#10;                    d: 'Satu bulan lebih baik dikerjakan sekaligus. Tiga cara: ketik per hari, salin dari minggu lain, atau tempel teks dari sekolah.',&#10;                    g: 'Bagian 3',&#10;                },&#10;                {&#10;                    t: 'Petugas — siapa ambil snack',&#10;                    d: 'Pilih dari daftar siswa kelas Anda; nama orang tuanya terisi sendiri. Dikosongkan pun boleh.',&#10;                    g: 'Bisa dikosongkan',&#10;                },&#10;                {&#10;                    t: 'Umumkan — baru kelihatan',&#10;                    d: 'Sebelum diumumkan, orang tua tidak melihat apa pun. Jadi jangan khawatir kalau belum muncul.',&#10;                    g: 'Bagian 4',&#10;                },&#10;            ].map((it, i) =&gt; (&#10;                &lt;Box&#10;                    key={i}&#10;                    style={{&#10;                        height: 166,&#10;                        background: '#FFFFFF',&#10;                        borderRadius: 16,&#10;                        boxShadow: '0 4px 20px rgba(0,0,0,0.08)',&#10;                        padding: 22,&#10;                        borderLeft: i === 2 ? '8px solid #F3B26C' : '8px solid #AFC440',&#10;                    }}&#10;                &gt;&#10;                    &lt;Text&#10;                        style={{&#10;                            fontSize: 24,&#10;                            fontWeight: 'bold',&#10;                            color: '#51277C',&#10;                            fontFamily: 'Trebuchet MS',&#10;                            lineHeight: 1.3,&#10;                        }}&#10;                    &gt;&#10;                        {it.t}&#10;                    &lt;/Text&gt;&#10;                    &lt;Text&#10;                        style={{&#10;                            marginTop: 10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it.d}&#10;                    &lt;/Text&gt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it.g}&#10;                        &lt;/Text&gt;&#10;                    &lt;/Box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Tiga tugas Anda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0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76325" y="1714500"/>
            <a:ext cx="4953000" cy="4095750"/>
          </a:xfrm>
          <a:prstGeom prst="rect">
            <a:avLst/>
          </a:prstGeom>
          <a:ln/>
        </p:spPr>
      </p:pic>
      <p:sp>
        <p:nvSpPr>
          <p:cNvPr id="207" name=""/>
          <p:cNvSpPr/>
          <p:nvPr/>
        </p:nvSpPr>
        <p:spPr>
          <a:xfrm rot="0" flipH="0" flipV="0">
            <a:off x="6848475" y="12382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6848475" y="12382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058025" y="14478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Susun — isi menunya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058025" y="1905000"/>
            <a:ext cx="43148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Satu bulan lebih baik dikerjakan sekaligus. Tiga cara: ketik per hari, salin dari minggu lain, atau tempel teks dari sekolah.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058025" y="24193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Bagian 3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848475" y="297180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6848475" y="297180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058025" y="318135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Petugas — siapa ambil snack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7058025" y="363855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Pilih dari daftar siswa kelas Anda; nama orang tuanya terisi sendiri. Dikosongkan pun boleh.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058025" y="415290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Bisa dikosongkan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848475" y="47053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6848475" y="47053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7058025" y="49149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Umumkan — baru kelihatan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058025" y="53721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Sebelum diumumkan, orang tua tidak melihat apa pun. Jadi jangan khawatir kalau belum muncul.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058025" y="58864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Bagian 4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24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&lt;Box&#10;        style={{&#10;            position: 'absolute',&#10;            top: -100,&#10;            right: -60,&#10;            width: 420,&#10;            height: 420,&#10;            borderRadius: 210,&#10;            background: '#AFC440',&#10;            opacity: 0.14,&#10;        }}&#10;    /&gt;&#10;    &lt;Box style={{ position: 'absolute', bottom: 46, right: 78, opacity: 0.16 }}&gt;&#10;        &lt;svg width={220} height={190} viewBox='0 0 220 190'&gt;&#10;            &lt;circle cx='70' cy='70' r='44' fill='none' stroke='#FFFFFF' strokeWidth='7' /&gt;&#10;            &lt;path d='M70 114v56' stroke='#FFFFFF' strokeWidth='7' strokeLinecap='round' /&gt;&#10;            &lt;path d='M96 140h26M96 158h26' stroke='#FFFFFF' strokeWidth='7' strokeLinecap='round' /&gt;&#10;            &lt;circle cx='164' cy='52' r='30' fill='none' stroke='#F3B26C' strokeWidth='7' /&gt;&#10;            &lt;path d='M148 52h32M164 36v32' stroke='#F3B26C' strokeWidth='7' strokeLinecap='round' /&gt;&#10;        &lt;/svg&gt;&#10;    &lt;/Box&gt;&#10;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2&#10;            &lt;/Text&gt;&#10;            &lt;Box style={{ width: 3, height: 52, background: 'rgba(255,255,255,0.45)' }} /&gt;&#10;            &lt;Text style={{ fontSize: 19, color: 'rgba(255,255,255,0.8)', fontFamily: 'Verdana' }}&gt;&#10;                Bagian kedu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Akun &amp;amp;{'\n'}wewenang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Supaya jelas mana yang bisa dikerjakan sendiri, mana yang minta admin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6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227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353550" y="4610100"/>
            <a:ext cx="2095500" cy="180975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1676400" y="17716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1838325" y="191452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kedua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Akun &amp;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wewenang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6705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Supaya jelas mana yang bisa dikerjakan sendiri, mana yang minta admin.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3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Admin &amp;amp; Korlas: bedanya di mana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6 }}&gt;&#10;        {/* kiri 60% · dua kartu wewenang */}&#10;        &lt;Box style={{ width: '60%', height: '100%', justifyContent: 'space-between' }}&gt;&#10;            &lt;Box&#10;                style={{&#10;                    height: 258,&#10;                    background: '#FFFFFF',&#10;                    borderRadius: 16,&#10;                    boxShadow: '0 4px 20px rgba(0,0,0,0.08)',&#10;                    padding: 22,&#10;                    borderTop: '8px solid #AFC440',&#10;                }}&#10;            &gt;&#10;                &lt;Text&#10;                    style={{&#10;                        fontSize: 25,&#10;                        fontWeight: 'bold',&#10;                        color: '#51277C',&#10;                        fontFamily: 'Trebuchet MS',&#10;                    }}&#10;                &gt;&#10;                    Korlas boleh sendiri&#10;                &lt;/Text&gt;&#10;                &lt;Box style={{ marginTop: 12 }}&gt;&#10;                    {[&#10;                        'Menyusun &amp; mengubah jadwal kelasnya, selama belum dikunci',&#10;                        'Menentukan petugas, atau membiarkannya kosong',&#10;                        'Menyalin Sepekan &amp; menempel teks jadwal dari sekolah',&#10;                        'Mengunci lalu mempublikasikan jadwal kelasnya',&#10;                        'Mengambil tanggal piket seperti orang tua lainnya',&#10;                    ].map((s, i) =&gt; (&#10;                        &lt;Box key={i} style={{ flexDirection: 'row', alignItems: 'center', gap: 10, marginTop: 7 }}&gt;&#10;                            &lt;svg width={18} height={18} viewBox='0 0 24 24'&gt;&#10;                                &lt;path d='M5 13l4 4 10-11' fill='none' stroke='#AFC440' strokeWidth='3' strokeLinecap='round' strokeLinejoin='round' /&gt;&#10;                            &lt;/svg&gt;&#10;                            &lt;Text style={{ flex: 1, fontSize: 16, color: '#2A2333', fontFamily: 'Verdana', lineHeight: 1.45 }}&gt;&#10;                                {s}&#10;                            &lt;/Text&gt;&#10;                        &lt;/Box&gt;&#10;                    ))}&#10;                &lt;/Box&gt;&#10;            &lt;/Box&gt;&#10;&#10;            &lt;Box&#10;                style={{&#10;                    height: 254,&#10;                    background: '#FFFFFF',&#10;                    borderRadius: 16,&#10;                    boxShadow: '0 4px 20px rgba(0,0,0,0.08)',&#10;                    padding: 22,&#10;                    borderTop: '8px solid #F3B26C',&#10;                }}&#10;            &gt;&#10;                &lt;Text&#10;                    style={{&#10;                        fontSize: 25,&#10;                        fontWeight: 'bold',&#10;                        color: '#51277C',&#10;                        fontFamily: 'Trebuchet MS',&#10;                    }}&#10;                &gt;&#10;                    Tetap wewenang admin&#10;                &lt;/Text&gt;&#10;                &lt;Box style={{ marginTop: 12 }}&gt;&#10;                    {[&#10;                        'Mengelola katalog menu &amp; kategori',&#10;                        'Mengelola akun orang tua, termasuk mengangkat korlas',&#10;                        'Hari libur sekolah — berlaku untuk semua kelas',&#10;                        'Membuka kunci jadwal yang sudah dikunci atau terbit',&#10;                    ].map((s, i) =&gt; (&#10;                        &lt;Box key={i} style={{ flexDirection: 'row', alignItems: 'center', gap: 10, marginTop: 7 }}&gt;&#10;                            &lt;svg width={18} height={18} viewBox='0 0 24 24'&gt;&#10;                                &lt;path d='M7 7l10 10M17 7L7 17' fill='none' stroke='#F3B26C' strokeWidth='3' strokeLinecap='round' /&gt;&#10;                            &lt;/svg&gt;&#10;                            &lt;Text style={{ flex: 1, fontSize: 16, color: '#2A2333', fontFamily: 'Verdana', lineHeight: 1.45 }}&gt;&#10;                                {s}&#10;                            &lt;/Text&gt;&#10;                        &lt;/Box&gt;&#10;                    ))}&#10;                &lt;/Box&gt;&#10;            &lt;/Box&gt;&#10;        &lt;/Box&gt;&#10;&#10;        {/* kanan 40% · ilustrasi dua peran */}&#10;        &lt;Box&#10;            style={{&#10;                width: '40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360} height={400} viewBox='0 0 360 400'&gt;&#10;                {/* korlas */}&#10;                &lt;rect x='24' y='24' width='312' height='150' rx='18' fill='#FFFFFF' stroke='#AFC440' strokeWidth='3' /&gt;&#10;                &lt;circle cx='76' cy='78' r='30' fill='#AFC440' /&gt;&#10;                &lt;text x='76' y='90' fontFamily='Trebuchet MS' fontSize='30' fontWeight='bold' fill='#3F4718' textAnchor='middle'&gt;&#10;                    K&#10;                &lt;/text&gt;&#10;                &lt;text x='124' y='70' fontFamily='Trebuchet MS' fontSize='24' fontWeight='bold' fill='#51277C'&gt;&#10;                    Korlas&#10;                &lt;/text&gt;&#10;                &lt;text x='124' y='102' fontFamily='Verdana' fontSize='15' fill='#6B6478'&gt;&#10;                    satu kelas&#10;                &lt;/text&gt;&#10;                &lt;rect x='52' y='122' width='256' height='9' rx='5' fill='#DED7CB' /&gt;&#10;                &lt;rect x='52' y='140' width='196' height='9' rx='5' fill='#EDE8DF' /&gt;&#10;&#10;                {/* admin */}&#10;                &lt;rect x='24' y='196' width='312' height='150' rx='18' fill='#51277C' /&gt;&#10;                &lt;circle cx='76' cy='250' r='30' fill='#F3B26C' /&gt;&#10;                &lt;text x='76' y='262' fontFamily='Trebuchet MS' fontSize='30' fontWeight='bold' fill='#51277C' textAnchor='middle'&gt;&#10;                    A&#10;                &lt;/text&gt;&#10;                &lt;text x='124' y='242' fontFamily='Trebuchet MS' fontSize='24' fontWeight='bold' fill='#FFFFFF'&gt;&#10;                    Admin&#10;                &lt;/text&gt;&#10;                &lt;text x='124' y='274' fontFamily='Verdana' fontSize='15' fill='#EFEAE1'&gt;&#10;                    semua kelas&#10;                &lt;/text&gt;&#10;                &lt;rect x='52' y='294' width='256' height='9' rx='5' fill='rgba(255,255,255,0.5)' /&gt;&#10;                &lt;rect x='52' y='312' width='216' height='9' rx='5' fill='rgba(255,255,255,0.3)' /&gt;&#10;&#10;                &lt;text x='180' y='380' fontFamily='Verdana' fontSize='16' fill='#6B6478' textAnchor='middle'&gt;&#10;                    Admin melihat semua kelas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Admin &amp; Korlas: bedanya di mana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609600" y="1314450"/>
            <a:ext cx="64389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609600" y="1314450"/>
            <a:ext cx="6438900" cy="2381250"/>
          </a:xfrm>
          <a:custGeom>
            <a:pathLst>
              <a:path w="676" h="250">
                <a:moveTo>
                  <a:pt x="661" y="0"/>
                </a:moveTo>
                <a:cubicBezTo>
                  <a:pt x="668" y="0"/>
                  <a:pt x="675" y="6"/>
                  <a:pt x="676" y="14"/>
                </a:cubicBezTo>
                <a:cubicBezTo>
                  <a:pt x="675" y="10"/>
                  <a:pt x="672" y="8"/>
                  <a:pt x="668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66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" y="1524000"/>
            <a:ext cx="6019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51277C"/>
                </a:solidFill>
                <a:latin typeface="Trebuchet MS"/>
                <a:ea typeface="Trebuchet MS"/>
              </a:rPr>
              <a:t>Korlas boleh sendiri</a:t>
            </a:r>
            <a:endParaRPr/>
          </a:p>
        </p:txBody>
      </p:sp>
      <p:pic>
        <p:nvPicPr>
          <p:cNvPr id="240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038350"/>
            <a:ext cx="171450" cy="171450"/>
          </a:xfrm>
          <a:prstGeom prst="rect">
            <a:avLst/>
          </a:prstGeom>
          <a:ln/>
        </p:spPr>
      </p:pic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85850" y="199072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Menyusun &amp; mengubah jadwal kelasnya, selama belum dikunci</a:t>
            </a:r>
            <a:endParaRPr/>
          </a:p>
        </p:txBody>
      </p:sp>
      <p:pic>
        <p:nvPicPr>
          <p:cNvPr id="242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371725"/>
            <a:ext cx="171450" cy="171450"/>
          </a:xfrm>
          <a:prstGeom prst="rect">
            <a:avLst/>
          </a:prstGeom>
          <a:ln/>
        </p:spPr>
      </p:pic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1085850" y="232410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Menentukan petugas, atau membiarkannya kosong</a:t>
            </a:r>
            <a:endParaRPr/>
          </a:p>
        </p:txBody>
      </p:sp>
      <p:pic>
        <p:nvPicPr>
          <p:cNvPr id="244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2705100"/>
            <a:ext cx="171450" cy="171450"/>
          </a:xfrm>
          <a:prstGeom prst="rect">
            <a:avLst/>
          </a:prstGeom>
          <a:ln/>
        </p:spPr>
      </p:pic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085850" y="265747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Menyalin Sepekan &amp; menempel teks jadwal dari sekolah</a:t>
            </a:r>
            <a:endParaRPr/>
          </a:p>
        </p:txBody>
      </p:sp>
      <p:pic>
        <p:nvPicPr>
          <p:cNvPr id="246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3038475"/>
            <a:ext cx="171450" cy="171450"/>
          </a:xfrm>
          <a:prstGeom prst="rect">
            <a:avLst/>
          </a:prstGeom>
          <a:ln/>
        </p:spPr>
      </p:pic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085850" y="299085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Mengunci lalu mempublikasikan jadwal kelasnya</a:t>
            </a:r>
            <a:endParaRPr/>
          </a:p>
        </p:txBody>
      </p:sp>
      <p:pic>
        <p:nvPicPr>
          <p:cNvPr id="248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9150" y="3371850"/>
            <a:ext cx="171450" cy="17145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085850" y="332422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Mengambil tanggal piket seperti orang tua lainnya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3943350"/>
            <a:ext cx="6438900" cy="2343150"/>
          </a:xfrm>
          <a:prstGeom prst="roundRect">
            <a:avLst>
              <a:gd name="adj" fmla="val 650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1" name=""/>
          <p:cNvSpPr/>
          <p:nvPr/>
        </p:nvSpPr>
        <p:spPr>
          <a:xfrm rot="0" flipH="0" flipV="0">
            <a:off x="609600" y="3943350"/>
            <a:ext cx="6438900" cy="2343150"/>
          </a:xfrm>
          <a:custGeom>
            <a:pathLst>
              <a:path w="676" h="246">
                <a:moveTo>
                  <a:pt x="661" y="0"/>
                </a:moveTo>
                <a:cubicBezTo>
                  <a:pt x="668" y="0"/>
                  <a:pt x="675" y="6"/>
                  <a:pt x="676" y="14"/>
                </a:cubicBezTo>
                <a:cubicBezTo>
                  <a:pt x="675" y="10"/>
                  <a:pt x="672" y="8"/>
                  <a:pt x="668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660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19150" y="4152900"/>
            <a:ext cx="60198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75" b="1">
                <a:solidFill>
                  <a:srgbClr val="51277C"/>
                </a:solidFill>
                <a:latin typeface="Trebuchet MS"/>
                <a:ea typeface="Trebuchet MS"/>
              </a:rPr>
              <a:t>Tetap wewenang admin</a:t>
            </a:r>
            <a:endParaRPr/>
          </a:p>
        </p:txBody>
      </p:sp>
      <p:pic>
        <p:nvPicPr>
          <p:cNvPr id="253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4667250"/>
            <a:ext cx="171450" cy="171450"/>
          </a:xfrm>
          <a:prstGeom prst="rect">
            <a:avLst/>
          </a:prstGeom>
          <a:ln/>
        </p:spPr>
      </p:pic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1085850" y="461962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Mengelola katalog menu &amp; kategori</a:t>
            </a:r>
            <a:endParaRPr/>
          </a:p>
        </p:txBody>
      </p:sp>
      <p:pic>
        <p:nvPicPr>
          <p:cNvPr id="255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000625"/>
            <a:ext cx="171450" cy="171450"/>
          </a:xfrm>
          <a:prstGeom prst="rect">
            <a:avLst/>
          </a:prstGeom>
          <a:ln/>
        </p:spPr>
      </p:pic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085850" y="495300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Mengelola akun orang tua, termasuk mengangkat korlas</a:t>
            </a:r>
            <a:endParaRPr/>
          </a:p>
        </p:txBody>
      </p:sp>
      <p:pic>
        <p:nvPicPr>
          <p:cNvPr id="257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334000"/>
            <a:ext cx="171450" cy="171450"/>
          </a:xfrm>
          <a:prstGeom prst="rect">
            <a:avLst/>
          </a:prstGeom>
          <a:ln/>
        </p:spPr>
      </p:pic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85850" y="5286375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Hari libur sekolah — berlaku untuk semua kelas</a:t>
            </a:r>
            <a:endParaRPr/>
          </a:p>
        </p:txBody>
      </p:sp>
      <p:pic>
        <p:nvPicPr>
          <p:cNvPr id="259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667375"/>
            <a:ext cx="171450" cy="171450"/>
          </a:xfrm>
          <a:prstGeom prst="rect">
            <a:avLst/>
          </a:prstGeom>
          <a:ln/>
        </p:spPr>
      </p:pic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085850" y="5619750"/>
            <a:ext cx="5753100" cy="2667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00">
                <a:solidFill>
                  <a:srgbClr val="2A2333"/>
                </a:solidFill>
                <a:latin typeface="Verdana"/>
                <a:ea typeface="Verdana"/>
              </a:rPr>
              <a:t>Membuka kunci jadwal yang sudah dikunci atau terbit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7296150" y="1238250"/>
            <a:ext cx="4286250" cy="5048250"/>
          </a:xfrm>
          <a:prstGeom prst="roundRect">
            <a:avLst>
              <a:gd name="adj" fmla="val 444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62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724775" y="1857375"/>
            <a:ext cx="3429000" cy="3810000"/>
          </a:xfrm>
          <a:prstGeom prst="rect">
            <a:avLst/>
          </a:prstGeom>
          <a:ln/>
        </p:spPr>
      </p:pic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65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&lt;Box&#10;        style={{&#10;            position: 'absolute',&#10;            top: -100,&#10;            right: -60,&#10;            width: 420,&#10;            height: 420,&#10;            borderRadius: 210,&#10;            background: '#AFC440',&#10;            opacity: 0.14,&#10;        }}&#10;    /&gt;&#10;    &lt;Box style={{ position: 'absolute', bottom: 46, right: 78, opacity: 0.16 }}&gt;&#10;        &lt;svg width={230} height={190} viewBox='0 0 230 190'&gt;&#10;            &lt;rect x='10' y='30' width='210' height='150' rx='16' fill='none' stroke='#FFFFFF' strokeWidth='6' /&gt;&#10;            &lt;path d='M10 68h210' stroke='#FFFFFF' strokeWidth='6' /&gt;&#10;            &lt;path d='M56 8v34M174 8v34' stroke='#FFFFFF' strokeWidth='8' strokeLinecap='round' /&gt;&#10;            &lt;rect x='38' y='90' width='32' height='24' rx='5' fill='#FFFFFF' /&gt;&#10;            &lt;rect x='88' y='90' width='32' height='24' rx='5' fill='#FFFFFF' /&gt;&#10;            &lt;rect x='138' y='90' width='32' height='24' rx='5' fill='#F3B26C' /&gt;&#10;            &lt;rect x='38' y='132' width='32' height='24' rx='5' fill='#FFFFFF' /&gt;&#10;            &lt;rect x='88' y='132' width='32' height='24' rx='5' fill='#FFFFFF' /&gt;&#10;            &lt;path d='M150 168l30-72 22 40 20-16 8 48z' fill='none' stroke='#FFFFFF' strokeWidth='6' strokeLinejoin='round' /&gt;&#10;        &lt;/svg&gt;&#10;    &lt;/Box&gt;&#10;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3&#10;            &lt;/Text&gt;&#10;            &lt;Box style={{ width: 3, height: 52, background: 'rgba(255,255,255,0.45)' }} /&gt;&#10;            &lt;Text style={{ fontSize: 19, color: 'rgba(255,255,255,0.8)', fontFamily: 'Verdana' }}&gt;&#10;                Bagian ketiga&#10;            &lt;/Text&gt;&#10;        &lt;/Box&gt;&#10;&#10;        &lt;Text&#10;            style={{&#10;                marginTop: 26,&#10;                fontSize: 60,&#10;                fontWeight: 'bold',&#10;                color: '#FFFFFF',&#10;                fontFamily: 'Trebuchet MS',&#10;                lineHeight: 1.15,&#10;            }}&#10;        &gt;&#10;            Menyusun{'\n'}jadwal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Tiga cara mengisi — pilih yang paling dekat dengan bahan yang Anda punya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268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58300" y="4610100"/>
            <a:ext cx="2190750" cy="1809750"/>
          </a:xfrm>
          <a:prstGeom prst="rect">
            <a:avLst/>
          </a:prstGeom>
          <a:ln/>
        </p:spPr>
      </p:pic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685800" y="15811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1676400" y="1771650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1838325" y="1914525"/>
            <a:ext cx="1238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ketiga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6705600" cy="15811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Menyusun</a:t>
            </a:r>
            <a:endParaRPr/>
          </a:p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jadwal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67056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Tiga cara mengisi — pilih yang paling dekat dengan bahan yang Anda punya.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4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Isi menu per hari&#10;        &lt;/Text&gt;&#10;        &lt;Box style={{ marginTop: 10, width: 72, height: 6, borderRadius: 3, background: '#51277C' }} /&gt;&#10;    &lt;/Box&gt;&#10;&#10;    {/* ── B · area konten ── */}&#10;    &lt;Box style={{ height: 530 }}&gt;&#10;        {/* atas · ilustrasi tabel jadwal */}&#10;        &lt;Box&#10;            style={{&#10;                height: 306,&#10;                background: 'rgba(81,39,124,0.06)',&#10;                borderRadius: 20,&#10;                justifyContent: 'center',&#10;                alignItems: 'center',&#10;            }}&#10;        &gt;&#10;            &lt;svg width={1100} height={270} viewBox='0 0 1100 270'&gt;&#10;                &lt;rect x='6' y='6' width='1088' height='46' rx='10' fill='#51277C' /&gt;&#10;                &lt;text x='46' y='37' fontFamily='Trebuchet MS' fontSize='20' fontWeight='bold' fill='#FFFFFF'&gt;&#10;                    Tanggal&#10;                &lt;/text&gt;&#10;                &lt;text x='330' y='37' fontFamily='Trebuchet MS' fontSize='20' fontWeight='bold' fill='#FFFFFF'&gt;&#10;                    Menu&#10;                &lt;/text&gt;&#10;                &lt;text x='760' y='37' fontFamily='Trebuchet MS' fontSize='20' fontWeight='bold' fill='#FFFFFF'&gt;&#10;                    Petugas&#10;                &lt;/text&gt;&#10;                &lt;text x='990' y='37' fontFamily='Trebuchet MS' fontSize='20' fontWeight='bold' fill='#FFFFFF'&gt;&#10;                    Status&#10;                &lt;/text&gt;&#10;&#10;                {/* Senin */}&#10;                &lt;rect x='6' y='60' width='1088' height='46' rx='10' fill='#FFFFFF' stroke='#E6DFD2' strokeWidth='2' /&gt;&#10;                &lt;text x='46' y='90' fontFamily='Verdana' fontSize='16' fill='#51277C'&gt;Senin, 5&lt;/text&gt;&#10;                &lt;text x='330' y='90' fontFamily='Verdana' fontSize='16' fill='#2A2333'&gt;Roti coklat + jeruk&lt;/text&gt;&#10;                &lt;text x='760' y='90' fontFamily='Verdana' fontSize='16' fill='#6B6478'&gt;Rafa&lt;/text&gt;&#10;                &lt;rect x='940' y='71' width='118' height='24' rx='12' fill='#DED7CB' /&gt;&#10;                &lt;text x='999' y='88' fontFamily='Verdana' fontSize='13' fill='#51277C' textAnchor='middle'&gt;bisa diubah&lt;/text&gt;&#10;&#10;                {/* Selasa */}&#10;                &lt;rect x='6' y='112' width='1088' height='46' rx='10' fill='#FFFFFF' stroke='#E6DFD2' strokeWidth='2' /&gt;&#10;                &lt;text x='46' y='142' fontFamily='Verdana' fontSize='16' fill='#51277C'&gt;Selasa, 6&lt;/text&gt;&#10;                &lt;text x='330' y='142' fontFamily='Verdana' fontSize='16' fill='#2A2333'&gt;Puding + pisang&lt;/text&gt;&#10;                &lt;text x='760' y='142' fontFamily='Verdana' fontSize='16' fill='#6B6478'&gt;—&lt;/text&gt;&#10;                &lt;rect x='940' y='123' width='118' height='24' rx='12' fill='#DED7CB' /&gt;&#10;                &lt;text x='999' y='140' fontFamily='Verdana' fontSize='13' fill='#51277C' textAnchor='middle'&gt;bisa diubah&lt;/text&gt;&#10;&#10;                {/* Rabu — libur */}&#10;                &lt;rect x='6' y='164' width='1088' height='46' rx='10' fill='#FFFFFF' stroke='#F3B26C' strokeWidth='2' /&gt;&#10;                &lt;text x='46' y='194' fontFamily='Verdana' fontSize='16' fill='#51277C'&gt;Rabu, 7&lt;/text&gt;&#10;                &lt;text x='330' y='194' fontFamily='Verdana' fontSize='16' fill='#2A2333'&gt;Libur&lt;/text&gt;&#10;                &lt;text x='760' y='194' fontFamily='Verdana' fontSize='16' fill='#6B6478'&gt;—&lt;/text&gt;&#10;                &lt;rect x='940' y='175' width='118' height='24' rx='12' fill='#F3B26C' /&gt;&#10;                &lt;text x='999' y='192' fontFamily='Verdana' fontSize='13' fill='#51277C' textAnchor='middle'&gt;libur&lt;/text&gt;&#10;&#10;                {/* Kamis — petugas kosong */}&#10;                &lt;rect x='6' y='216' width='1088' height='46' rx='10' fill='#FFFFFF' stroke='#AFC440' strokeWidth='3' /&gt;&#10;                &lt;text x='46' y='246' fontFamily='Verdana' fontSize='16' fill='#51277C'&gt;Kamis, 8&lt;/text&gt;&#10;                &lt;text x='330' y='246' fontFamily='Verdana' fontSize='16' fill='#2A2333'&gt;Donat + melon&lt;/text&gt;&#10;                &lt;text x='760' y='246' fontFamily='Verdana' fontSize='16' fill='#6B6478'&gt;—&lt;/text&gt;&#10;                &lt;rect x='940' y='227' width='118' height='24' rx='12' fill='#AFC440' /&gt;&#10;                &lt;text x='999' y='244' fontFamily='Verdana' fontSize='13' fill='#3F4718' textAnchor='middle'&gt;petugas kosong&lt;/text&gt;&#10;            &lt;/svg&gt;&#10;        &lt;/Box&gt;&#10;&#10;        {/* bawah · dua kartu 60:40 */}&#10;        &lt;Box style={{ marginTop: 18, height: 206, flexDirection: 'row', gap: 24 }}&gt;&#10;            &lt;Box&#10;                style={{&#10;                    width: '60%',&#10;                    background: '#FFFFFF',&#10;                    borderRadius: 16,&#10;                    boxShadow: '0 4px 20px rgba(0,0,0,0.08)',&#10;                    padding: 24,&#10;                    borderLeft: '8px solid #AFC440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Pilih menu di setiap tanggal&#10;                &lt;/Text&gt;&#10;                &lt;Text&#10;                    style={{&#10;                        marginTop: 10,&#10;                        fontSize: 18,&#10;                        color: '#6B6478',&#10;                        fontFamily: 'Verdana',&#10;                        lineHeight: 1.5,&#10;                    }}&#10;                &gt;&#10;                    Satu hari berisi makanan utama dan buah pendamping. Hari yang tidak masuk&#10;                    sekolah cukup ditandai libur — menunya tidak perlu diisi.&#10;                &lt;/Text&gt;&#10;            &lt;/Box&gt;&#10;&#10;            &lt;Box&#10;                style={{&#10;                    width: '40%',&#10;                    background: '#FFFFFF',&#10;                    borderRadius: 16,&#10;                    boxShadow: '0 4px 20px rgba(0,0,0,0.08)',&#10;                    padding: 24,&#10;                    borderLeft: '8px solid #F3B26C',&#10;                }}&#10;            &gt;&#10;                &lt;Text&#10;                    style={{&#10;                        fontSize: 26,&#10;                        fontWeight: 'bold',&#10;                        color: '#51277C',&#10;                        fontFamily: 'Trebuchet MS',&#10;                    }}&#10;                &gt;&#10;                    Salin Sepekan&#10;                &lt;/Text&gt;&#10;                &lt;Text&#10;                    style={{&#10;                        marginTop: 10,&#10;                        fontSize: 18,&#10;                        color: '#6B6478',&#10;                        fontFamily: 'Verdana',&#10;                        lineHeight: 1.5,&#10;                    }}&#10;                &gt;&#10;                    Duplikasi Senin–Jumat ke minggu lain. Tanggal yang sudah terisi dilewati.&#10;                &lt;/Text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Isi menu per hari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1238250"/>
            <a:ext cx="10972800" cy="2914650"/>
          </a:xfrm>
          <a:prstGeom prst="roundRect">
            <a:avLst>
              <a:gd name="adj" fmla="val 653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409700"/>
            <a:ext cx="10477500" cy="2571750"/>
          </a:xfrm>
          <a:prstGeom prst="rect">
            <a:avLst/>
          </a:prstGeom>
          <a:ln/>
        </p:spPr>
      </p:pic>
      <p:sp>
        <p:nvSpPr>
          <p:cNvPr id="280" name=""/>
          <p:cNvSpPr/>
          <p:nvPr/>
        </p:nvSpPr>
        <p:spPr>
          <a:xfrm rot="0" flipH="0" flipV="0">
            <a:off x="685800" y="4324350"/>
            <a:ext cx="6448425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85800" y="4324350"/>
            <a:ext cx="6448425" cy="1962150"/>
          </a:xfrm>
          <a:custGeom>
            <a:pathLst>
              <a:path w="677" h="20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98"/>
                </a:lnTo>
                <a:cubicBezTo>
                  <a:pt x="8" y="202"/>
                  <a:pt x="11" y="205"/>
                  <a:pt x="14" y="206"/>
                </a:cubicBezTo>
                <a:cubicBezTo>
                  <a:pt x="6" y="205"/>
                  <a:pt x="0" y="198"/>
                  <a:pt x="0" y="19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14400" y="4552950"/>
            <a:ext cx="59150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Pilih menu di setiap tanggal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14400" y="4953000"/>
            <a:ext cx="59150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Satu hari berisi makanan utama dan buah pendamping. Hari yang tidak masuk sekolah cukup ditandai libur — menunya tidak perlu diisi.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362825" y="4324350"/>
            <a:ext cx="4295775" cy="1962150"/>
          </a:xfrm>
          <a:prstGeom prst="roundRect">
            <a:avLst>
              <a:gd name="adj" fmla="val 77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7362825" y="4324350"/>
            <a:ext cx="4295775" cy="1962150"/>
          </a:xfrm>
          <a:custGeom>
            <a:pathLst>
              <a:path w="451" h="20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98"/>
                </a:lnTo>
                <a:cubicBezTo>
                  <a:pt x="8" y="202"/>
                  <a:pt x="11" y="205"/>
                  <a:pt x="14" y="206"/>
                </a:cubicBezTo>
                <a:cubicBezTo>
                  <a:pt x="6" y="205"/>
                  <a:pt x="0" y="198"/>
                  <a:pt x="0" y="19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591425" y="4552950"/>
            <a:ext cx="37623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51277C"/>
                </a:solidFill>
                <a:latin typeface="Trebuchet MS"/>
                <a:ea typeface="Trebuchet MS"/>
              </a:rPr>
              <a:t>Salin Sepekan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591425" y="4953000"/>
            <a:ext cx="37623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6B6478"/>
                </a:solidFill>
                <a:latin typeface="Verdana"/>
                <a:ea typeface="Verdana"/>
              </a:rPr>
              <a:t>Duplikasi Senin–Jumat ke minggu lain. Tanggal yang sudah terisi dilewati.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0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&lt;Box&#10;        style={{&#10;            position: 'absolute',&#10;            bottom: -130,&#10;            left: -110,&#10;            width: 380,&#10;            height: 380,&#10;            borderRadius: 190,&#10;            background: 'linear-gradient(135deg, #AFC440 0%, #F3B26C 100%)',&#10;            opacity: 0.12,&#10;        }}&#10;    /&gt;&#10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Tempel teks dari sekolah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4, position: 'relative', zIndex: 1 }}&gt;&#10;        {/* kiri 45% · pesan */}&#10;        &lt;Box style={{ width: '45%', height: '100%', justifyContent: 'center' }}&gt;&#10;            &lt;Text&#10;                style={{&#10;                    fontSize: 44,&#10;                    fontWeight: 'bold',&#10;                    color: '#51277C',&#10;                    fontFamily: 'Trebuchet MS',&#10;                    lineHeight: 1.15,&#10;                }}&#10;            &gt;&#10;                Tidak perlu{'\n'}ketik ulang.&#10;            &lt;/Text&gt;&#10;&#10;            &lt;Text&#10;                style={{&#10;                    marginTop: 20,&#10;                    fontSize: 19,&#10;                    color: '#2A2333',&#10;                    fontFamily: 'Verdana',&#10;                    lineHeight: 1.55,&#10;                }}&#10;            &gt;&#10;                Jadwal yang dikirim sekolah lewat WhatsApp bisa ditempel apa adanya. Aplikasi&#10;                membaca rentang tanggal dan baris harinya sendiri.&#10;            &lt;/Text&gt;&#10;&#10;            &lt;Box style={{ marginTop: 18 }}&gt;&#10;                {[&#10;                    'Pratinjau ditampilkan lebih dulu — bisa dibatalkan',&#10;                    'Tanggal yang sudah ada jadwalnya dilewati, jadi tempel ulang aman',&#10;                    'Hasilnya masuk sebagai jadwal yang masih bisa diubah',&#10;                ].map((s, i) =&gt; (&#10;                    &lt;Box key={i} style={{ flexDirection: 'row', alignItems: 'center', gap: 10, marginTop: 9 }}&gt;&#10;                        &lt;svg width={20} height={20} viewBox='0 0 24 24'&gt;&#10;                            &lt;path d='M5 13l4 4 10-11' fill='none' stroke='#AFC440' strokeWidth='3' strokeLinecap='round' strokeLinejoin='round' /&gt;&#10;                        &lt;/svg&gt;&#10;                        &lt;Text style={{ flex: 1, fontSize: 17, color: '#6B6478', fontFamily: 'Verdana', lineHeight: 1.45 }}&gt;&#10;                            {s}&#10;                        &lt;/Text&gt;&#10;                    &lt;/Box&gt;&#10;                ))}&#10;            &lt;/Box&gt;&#10;&#10;            &lt;Box&#10;                style={{&#10;                    marginTop: 22,&#10;                    alignSelf: 'flex-start',&#10;                    flexDirection: 'row',&#10;                    alignItems: 'center',&#10;                    gap: 10,&#10;                    background: '#51277C',&#10;                    borderRadius: 12,&#10;                    paddingTop: 12,&#10;                    paddingBottom: 12,&#10;                    paddingLeft: 22,&#10;                    paddingRight: 22,&#10;                }}&#10;            &gt;&#10;                &lt;svg width={22} height={22} viewBox='0 0 24 24'&gt;&#10;                    &lt;path d='M9 3h6v3H9z' fill='#F3B26C' /&gt;&#10;                    &lt;path d='M6 5h12v16H6z' fill='none' stroke='#F3B26C' strokeWidth='2' /&gt;&#10;                &lt;/svg&gt;&#10;                &lt;Text style={{ fontSize: 18, color: '#FFFFFF', fontFamily: 'Verdana', fontWeight: 'bold' }}&gt;&#10;                    Tombol: Impor Jadwal&#10;                &lt;/Text&gt;&#10;            &lt;/Box&gt;&#10;        &lt;/Box&gt;&#10;&#10;        {/* kanan 55% · ilustrasi tempel → pratinjau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80} height={450} viewBox='0 0 580 450'&gt;&#10;                {/* teks asal */}&#10;                &lt;rect x='12' y='12' width='556' height='176' rx='16' fill='#FFFFFF' stroke='#E6DFD2' strokeWidth='2' /&gt;&#10;                &lt;circle cx='44' cy='44' r='14' fill='#AFC440' /&gt;&#10;                &lt;rect x='70' y='38' width='150' height='11' rx='5' fill='#DED7CB' /&gt;&#10;                &lt;rect x='34' y='80' width='160' height='10' rx='5' fill='#51277C' opacity='0.65' /&gt;&#10;                &lt;rect x='34' y='106' width='214' height='10' rx='5' fill='#DED7CB' /&gt;&#10;                &lt;rect x='34' y='132' width='188' height='10' rx='5' fill='#DED7CB' /&gt;&#10;                &lt;rect x='34' y='158' width='150' height='10' rx='5' fill='#DED7CB' /&gt;&#10;                &lt;text x='300' y='112' fontFamily='Verdana' fontSize='14' fill='#6B6478'&gt;Kamis : Puding + jeruk&lt;/text&gt;&#10;                &lt;text x='300' y='140' fontFamily='Verdana' fontSize='14' fill='#6B6478'&gt;Jumat : Donat + melon&lt;/text&gt;&#10;&#10;                {/* panah */}&#10;                &lt;path d='M290 196v46' stroke='#F3B26C' strokeWidth='6' strokeLinecap='round' /&gt;&#10;                &lt;path d='M276 234l14 16 14-16' fill='none' stroke='#F3B26C' strokeWidth='6' strokeLinecap='round' strokeLinejoin='round' /&gt;&#10;                &lt;text x='318' y='228' fontFamily='Verdana' fontSize='15' fill='#51277C'&gt;pratinjau&lt;/text&gt;&#10;&#10;                {/* pratinjau */}&#10;                &lt;rect x='12' y='258' width='556' height='180' rx='16' fill='#51277C' /&gt;&#10;                &lt;text x='40' y='294' fontFamily='Trebuchet MS' fontSize='21' fontWeight='bold' fill='#FFFFFF'&gt;&#10;                    Pratinjau — 12 baris baru&#10;                &lt;/text&gt;&#10;                &lt;rect x='40' y='312' width='500' height='34' rx='8' fill='rgba(255,255,255,0.16)' /&gt;&#10;                &lt;text x='58' y='335' fontFamily='Verdana' fontSize='14' fill='#FFFFFF'&gt;Kamis, 2 Okt&lt;/text&gt;&#10;                &lt;text x='230' y='335' fontFamily='Verdana' fontSize='14' fill='#EFEAE1'&gt;Puding + jeruk&lt;/text&gt;&#10;                &lt;rect x='40' y='354' width='500' height='34' rx='8' fill='rgba(255,255,255,0.16)' /&gt;&#10;                &lt;text x='58' y='377' fontFamily='Verdana' fontSize='14' fill='#FFFFFF'&gt;Jumat, 3 Okt&lt;/text&gt;&#10;                &lt;text x='230' y='377' fontFamily='Verdana' fontSize='14' fill='#EFEAE1'&gt;Donat + melon&lt;/text&gt;&#10;                &lt;rect x='392' y='400' width='148' height='26' rx='13' fill='#F3B26C' /&gt;&#10;                &lt;text x='466' y='419' fontFamily='Verdana' fontSize='14' fontWeight='bold' fill='#51277C' textAnchor='middle'&gt;&#10;                    Impor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Tempel teks dari sekolah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09 / 16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-1047750" y="4476750"/>
            <a:ext cx="3619500" cy="3619500"/>
          </a:xfrm>
          <a:custGeom>
            <a:pathLst>
              <a:path w="380" h="380">
                <a:moveTo>
                  <a:pt x="195" y="0"/>
                </a:moveTo>
                <a:cubicBezTo>
                  <a:pt x="255" y="2"/>
                  <a:pt x="311" y="32"/>
                  <a:pt x="346" y="81"/>
                </a:cubicBezTo>
                <a:cubicBezTo>
                  <a:pt x="380" y="130"/>
                  <a:pt x="389" y="193"/>
                  <a:pt x="370" y="250"/>
                </a:cubicBezTo>
                <a:lnTo>
                  <a:pt x="110" y="250"/>
                </a:lnTo>
                <a:lnTo>
                  <a:pt x="110" y="18"/>
                </a:lnTo>
                <a:cubicBezTo>
                  <a:pt x="135" y="6"/>
                  <a:pt x="162" y="0"/>
                  <a:pt x="19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2000"/>
                </a:srgbClr>
              </a:gs>
              <a:gs pos="100000">
                <a:srgbClr val="F3B26C">
                  <a:alpha val="12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4791075" cy="11620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51277C"/>
                </a:solidFill>
                <a:latin typeface="Trebuchet MS"/>
                <a:ea typeface="Trebuchet MS"/>
              </a:rPr>
              <a:t>Tidak perlu</a:t>
            </a:r>
            <a:endParaRPr/>
          </a:p>
          <a:p>
            <a:pPr>
              <a:lnSpc>
                <a:spcPct val="114999"/>
              </a:lnSpc>
            </a:pPr>
            <a:r>
              <a:rPr lang="en-US" sz="3300" b="1">
                <a:solidFill>
                  <a:srgbClr val="51277C"/>
                </a:solidFill>
                <a:latin typeface="Trebuchet MS"/>
                <a:ea typeface="Trebuchet MS"/>
              </a:rPr>
              <a:t>ketik ulang.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2676525"/>
            <a:ext cx="4791075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Jadwal yang dikirim sekolah lewat WhatsApp bisa ditempel apa adanya. Aplikasi membaca rentang tanggal dan baris harinya sendiri.</a:t>
            </a:r>
            <a:endParaRPr/>
          </a:p>
        </p:txBody>
      </p:sp>
      <p:pic>
        <p:nvPicPr>
          <p:cNvPr id="29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000500"/>
            <a:ext cx="190500" cy="190500"/>
          </a:xfrm>
          <a:prstGeom prst="rect">
            <a:avLst/>
          </a:prstGeom>
          <a:ln/>
        </p:spPr>
      </p:pic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95350" y="3952875"/>
            <a:ext cx="4505325" cy="2857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Pratinjau ditampilkan lebih dulu — bisa dibatalkan</a:t>
            </a:r>
            <a:endParaRPr/>
          </a:p>
        </p:txBody>
      </p:sp>
      <p:pic>
        <p:nvPicPr>
          <p:cNvPr id="301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514850"/>
            <a:ext cx="190500" cy="190500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95350" y="4324350"/>
            <a:ext cx="4505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Tanggal yang sudah ada jadwalnya dilewati, jadi tempel ulang aman</a:t>
            </a:r>
            <a:endParaRPr/>
          </a:p>
        </p:txBody>
      </p:sp>
      <p:pic>
        <p:nvPicPr>
          <p:cNvPr id="303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5172075"/>
            <a:ext cx="190500" cy="1905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95350" y="4981575"/>
            <a:ext cx="4505325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Hasilnya masuk sebagai jadwal yang masih bisa diubah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09600" y="5762625"/>
            <a:ext cx="2895600" cy="438150"/>
          </a:xfrm>
          <a:prstGeom prst="roundRect">
            <a:avLst>
              <a:gd name="adj" fmla="val 26087"/>
            </a:avLst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306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9150" y="5876925"/>
            <a:ext cx="209550" cy="209550"/>
          </a:xfrm>
          <a:prstGeom prst="rect">
            <a:avLst/>
          </a:prstGeom>
          <a:ln/>
        </p:spPr>
      </p:pic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123950" y="5876925"/>
            <a:ext cx="2171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Verdana"/>
                <a:ea typeface="Verdana"/>
              </a:rPr>
              <a:t>Tombol: Impor Jadwal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5724525" y="1238250"/>
            <a:ext cx="585787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309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895975" y="1619250"/>
            <a:ext cx="5524500" cy="428625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6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Petugas piket: siapa yang ambil snack&#10;        &lt;/Text&gt;&#10;        &lt;Box style={{ marginTop: 10, width: 72, height: 6, borderRadius: 3, background: '#51277C' }} /&gt;&#10;    &lt;/Box&gt;&#10;&#10;    {/* ── B · area konten ── */}&#10;    &lt;Box style={{ height: 530, flexDirection: 'row', gap: 26 }}&gt;&#10;        {/* kiri 30% · penanda */}&#10;        &lt;Box&#10;            style={{&#10;                width: '30%',&#10;                height: '100%',&#10;                background: 'linear-gradient(135deg, #51277C 0%, #7A45A8 100%)',&#10;                borderRadius: 18,&#10;                padding: 26,&#10;                justifyContent: 'space-between',&#10;            }}&#10;        &gt;&#10;            &lt;Box&gt;&#10;                &lt;Text&#10;                    style={{&#10;                        fontSize: 30,&#10;                        fontWeight: 'bold',&#10;                        color: '#FFFFFF',&#10;                        fontFamily: 'Trebuchet MS',&#10;                        lineHeight: 1.25,&#10;                    }}&#10;                &gt;&#10;                    Satu tanggal,{'\n'}satu petugas&#10;                &lt;/Text&gt;&#10;                &lt;Box style={{ marginTop: 16, width: 64, height: 5, borderRadius: 3, background: '#F3B26C' }} /&gt;&#10;            &lt;/Box&gt;&#10;            &lt;Text&#10;                style={{&#10;                    fontSize: 17,&#10;                    color: 'rgba(255,255,255,0.88)',&#10;                    fontFamily: 'Verdana',&#10;                    lineHeight: 1.5,&#10;                }}&#10;            &gt;&#10;                Nama petugas yang Anda isi akan tampil ke orang tua sekalian nama orang tuanya.&#10;            &lt;/Text&gt;&#10;        &lt;/Box&gt;&#10;&#10;        {/* kanan 70% · tiga poin + ilustrasi dropdown */}&#10;        &lt;Box style={{ width: '70%', height: '100%', flexDirection: 'row', gap: 22 }}&gt;&#10;            &lt;Box style={{ flex: 1, height: '100%', justifyContent: 'space-between' }}&gt;&#10;                {[&#10;                    {&#10;                        t: 'Pilih dari daftar siswa',&#10;                        d: 'Kolom petugas berisi nama siswa di kelas Anda. Nama orang tuanya terisi sendiri.',&#10;                    },&#10;                    {&#10;                        t: 'Biarkan kosong bila perlu',&#10;                        d: 'Tanggal tanpa petugas bisa diambil sendiri orang tua — siapa cepat dia dapat.',&#10;                    },&#10;                    {&#10;                        t: 'Tidak ikut direbut orang tua',&#10;                        d: 'Ditandai &quot;Ditetapkan korlas&quot;, jadi tidak ada dua orang merasa sudah dapat.',&#10;                    },&#10;                ].map((it, i) =&gt; (&#10;                    &lt;Box&#10;                        key={i}&#10;                        style={{&#10;                            height: 165,&#10;                            background: '#FFFFFF',&#10;                            borderRadius: 16,&#10;                            boxShadow: '0 4px 20px rgba(0,0,0,0.08)',&#10;                            padding: 22,&#10;                            borderLeft: '8px solid #AFC440',&#10;                        }}&#10;                    &gt;&#10;                        &lt;Text&#10;                            style={{&#10;                                fontSize: 23,&#10;                                fontWeight: 'bold',&#10;                                color: '#51277C',&#10;                                fontFamily: 'Trebuchet MS',&#10;                                lineHeight: 1.3,&#10;                            }}&#10;                        &gt;&#10;                            {it.t}&#10;                        &lt;/Text&gt;&#10;                        &lt;Text&#10;                            style={{&#10;                                marginTop: 9,&#10;                                fontSize: 17,&#10;                                color: '#6B6478',&#10;                                fontFamily: 'Verdana',&#10;                                lineHeight: 1.5,&#10;                            }}&#10;                        &gt;&#10;                            {it.d}&#10;                        &lt;/Text&gt;&#10;                    &lt;/Box&gt;&#10;                ))}&#10;            &lt;/Box&gt;&#10;&#10;            &lt;Box&#10;                style={{&#10;                    width: 300,&#10;                    height: '100%',&#10;                    background: 'rgba(81,39,124,0.06)',&#10;                    borderRadius: 18,&#10;                    justifyContent: 'center',&#10;                    alignItems: 'center',&#10;                }}&#10;            &gt;&#10;                &lt;svg width={276} height={300} viewBox='0 0 276 300'&gt;&#10;                    &lt;text x='14' y='26' fontFamily='Verdana' fontSize='14' fill='#6B6478'&gt;Petugas&lt;/text&gt;&#10;                    &lt;rect x='14' y='38' width='248' height='48' rx='10' fill='#FFFFFF' stroke='#51277C' strokeWidth='2' /&gt;&#10;                    &lt;text x='34' y='68' fontFamily='Verdana' fontSize='16' fill='#51277C'&gt;Rafa Aditya&lt;/text&gt;&#10;                    &lt;path d='M232 58l16 12-16 12z' fill='#51277C' /&gt;&#10;&#10;                    &lt;rect x='14' y='94' width='248' height='112' rx='10' fill='#FFFFFF' stroke='#E6DFD2' strokeWidth='2' /&gt;&#10;                    &lt;rect x='14' y='94' width='248' height='36' rx='10' fill='rgba(81,39,124,0.10)' /&gt;&#10;                    &lt;text x='34' y='117' fontFamily='Verdana' fontSize='15' fontWeight='bold' fill='#51277C'&gt;Rafa Aditya&lt;/text&gt;&#10;                    &lt;text x='34' y='148' fontFamily='Verdana' fontSize='15' fill='#2A2333'&gt;Dinda&lt;/text&gt;&#10;                    &lt;text x='34' y='178' fontFamily='Verdana' fontSize='15' fill='#2A2333'&gt;Bayu&lt;/text&gt;&#10;&#10;                    &lt;text x='14' y='234' fontFamily='Verdana' fontSize='14' fill='#6B6478'&gt;Orang tua (terisi sendiri)&lt;/text&gt;&#10;                    &lt;rect x='14' y='246' width='248' height='44' rx='10' fill='#EFEAE1' /&gt;&#10;                    &lt;text x='34' y='274' fontFamily='Verdana' fontSize='15' fill='#6B6478'&gt;Ibu Rina&lt;/text&gt;&#10;                &lt;/svg&gt;&#10;            &lt;/Box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Petugas piket: siapa yang ambil snack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0" name=""/>
          <p:cNvSpPr/>
          <p:nvPr/>
        </p:nvSpPr>
        <p:spPr>
          <a:xfrm rot="0" flipH="0" flipV="0">
            <a:off x="609600" y="1238250"/>
            <a:ext cx="3219450" cy="5048250"/>
          </a:xfrm>
          <a:prstGeom prst="roundRect">
            <a:avLst>
              <a:gd name="adj" fmla="val 5325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57250" y="1485900"/>
            <a:ext cx="2724150" cy="8572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Trebuchet MS"/>
                <a:ea typeface="Trebuchet MS"/>
              </a:rPr>
              <a:t>Satu tanggal,</a:t>
            </a:r>
            <a:endParaRPr/>
          </a:p>
          <a:p>
            <a:pPr>
              <a:lnSpc>
                <a:spcPct val="125000"/>
              </a:lnSpc>
            </a:pPr>
            <a:r>
              <a:rPr lang="en-US" sz="2250" b="1">
                <a:solidFill>
                  <a:srgbClr val="FFFFFF"/>
                </a:solidFill>
                <a:latin typeface="Trebuchet MS"/>
                <a:ea typeface="Trebuchet MS"/>
              </a:rPr>
              <a:t>satu petugas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57250" y="2495550"/>
            <a:ext cx="609600" cy="47625"/>
          </a:xfrm>
          <a:prstGeom prst="roundRect">
            <a:avLst>
              <a:gd name="adj" fmla="val 6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57250" y="5162550"/>
            <a:ext cx="272415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Nama petugas yang Anda isi akan tampil ke orang tua sekalian nama orang tuanya.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152900" y="1238250"/>
            <a:ext cx="443865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4152900" y="1238250"/>
            <a:ext cx="4438650" cy="1571625"/>
          </a:xfrm>
          <a:custGeom>
            <a:pathLst>
              <a:path w="466" h="165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7"/>
                </a:lnTo>
                <a:cubicBezTo>
                  <a:pt x="8" y="161"/>
                  <a:pt x="11" y="164"/>
                  <a:pt x="14" y="165"/>
                </a:cubicBezTo>
                <a:cubicBezTo>
                  <a:pt x="6" y="164"/>
                  <a:pt x="0" y="157"/>
                  <a:pt x="0" y="149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362450" y="1447800"/>
            <a:ext cx="39433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Pilih dari daftar siswa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362450" y="1876425"/>
            <a:ext cx="3943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Kolom petugas berisi nama siswa di kelas Anda. Nama orang tuanya terisi sendiri.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152900" y="2981325"/>
            <a:ext cx="443865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4152900" y="2981325"/>
            <a:ext cx="4438650" cy="1571625"/>
          </a:xfrm>
          <a:custGeom>
            <a:pathLst>
              <a:path w="466" h="165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7"/>
                </a:lnTo>
                <a:cubicBezTo>
                  <a:pt x="8" y="161"/>
                  <a:pt x="11" y="164"/>
                  <a:pt x="14" y="165"/>
                </a:cubicBezTo>
                <a:cubicBezTo>
                  <a:pt x="6" y="164"/>
                  <a:pt x="0" y="157"/>
                  <a:pt x="0" y="149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4362450" y="3190875"/>
            <a:ext cx="39433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Biarkan kosong bila perlu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4362450" y="3619500"/>
            <a:ext cx="3943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Tanggal tanpa petugas bisa diambil sendiri orang tua — siapa cepat dia dapat.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4152900" y="4714875"/>
            <a:ext cx="4438650" cy="1571625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4152900" y="4714875"/>
            <a:ext cx="4438650" cy="1571625"/>
          </a:xfrm>
          <a:custGeom>
            <a:pathLst>
              <a:path w="466" h="165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7"/>
                </a:lnTo>
                <a:cubicBezTo>
                  <a:pt x="8" y="161"/>
                  <a:pt x="11" y="164"/>
                  <a:pt x="14" y="165"/>
                </a:cubicBezTo>
                <a:cubicBezTo>
                  <a:pt x="6" y="164"/>
                  <a:pt x="0" y="157"/>
                  <a:pt x="0" y="149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362450" y="4924425"/>
            <a:ext cx="3943350" cy="342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Tidak ikut direbut orang tua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4362450" y="5353050"/>
            <a:ext cx="3943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Ditandai "Ditetapkan korlas", jadi tidak ada dua orang merasa sudah dapat.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8724900" y="1238250"/>
            <a:ext cx="2857500" cy="5048250"/>
          </a:xfrm>
          <a:prstGeom prst="roundRect">
            <a:avLst>
              <a:gd name="adj" fmla="val 6000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37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39200" y="2333625"/>
            <a:ext cx="2628900" cy="2857500"/>
          </a:xfrm>
          <a:prstGeom prst="rect">
            <a:avLst/>
          </a:prstGeom>
          <a:ln/>
        </p:spPr>
      </p:pic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0" name="" descr="&lt;Slide&#10;    style={{&#10;        width: '1280px',&#10;        height: '720px',&#10;        background: 'linear-gradient(135deg, #51277C 0%, #7A45A8 100%)',&#10;        paddingTop: 60,&#10;        paddingBottom: 60,&#10;        paddingLeft: 72,&#10;        paddingRight: 72,&#10;        justifyContent: 'center',&#10;        position: 'relative',&#10;        overflow: 'hidden',&#10;    }}&#10;&gt;&#10;    &lt;Box&#10;        style={{&#10;            position: 'absolute',&#10;            top: -100,&#10;            right: -60,&#10;            width: 420,&#10;            height: 420,&#10;            borderRadius: 210,&#10;            background: '#AFC440',&#10;            opacity: 0.14,&#10;        }}&#10;    /&gt;&#10;    &lt;Box style={{ position: 'absolute', bottom: 46, right: 78, opacity: 0.16 }}&gt;&#10;        &lt;svg width={230} height={190} viewBox='0 0 230 190'&gt;&#10;            &lt;rect x='52' y='84' width='126' height='92' rx='12' fill='none' stroke='#FFFFFF' strokeWidth='7' /&gt;&#10;            &lt;path d='M78 84V58a37 37 0 0 1 74 0v26' fill='none' stroke='#FFFFFF' strokeWidth='7' /&gt;&#10;            &lt;circle cx='115' cy='126' r='12' fill='#F3B26C' /&gt;&#10;            &lt;path d='M60 26h36v40H60z' fill='none' stroke='#FFFFFF' strokeWidth='6' /&gt;&#10;            &lt;path d='M96 32l30-14v26z' fill='#FFFFFF' /&gt;&#10;            &lt;path d='M138 54c14 8 22 18 26 30' fill='none' stroke='#FFFFFF' strokeWidth='6' strokeLinecap='round' /&gt;&#10;        &lt;/svg&gt;&#10;    &lt;/Box&gt;&#10;&#10;    &lt;Box style={{ position: 'relative', zIndex: 1, width: '62%' }}&gt;&#10;        &lt;Box style={{ flexDirection: 'row', alignItems: 'center', gap: 14, alignSelf: 'flex-start' }}&gt;&#10;            &lt;Text&#10;                style={{&#10;                    fontSize: 76,&#10;                    fontWeight: 'bold',&#10;                    color: '#F3B26C',&#10;                    fontFamily: 'Trebuchet MS',&#10;                    lineHeight: 1,&#10;                }}&#10;            &gt;&#10;                04&#10;            &lt;/Text&gt;&#10;            &lt;Box style={{ width: 3, height: 52, background: 'rgba(255,255,255,0.45)' }} /&gt;&#10;            &lt;Text style={{ fontSize: 19, color: 'rgba(255,255,255,0.8)', fontFamily: 'Verdana' }}&gt;&#10;                Bagian terakhir&#10;            &lt;/Text&gt;&#10;        &lt;/Box&gt;&#10;&#10;        &lt;Text&#10;            style={{&#10;                marginTop: 26,&#10;                fontSize: 58,&#10;                fontWeight: 'bold',&#10;                color: '#FFFFFF',&#10;                fontFamily: 'Trebuchet MS',&#10;                lineHeight: 1.15,&#10;            }}&#10;        &gt;&#10;            Kunci &amp;amp;{'\n'}publikasi&#10;        &lt;/Text&gt;&#10;&#10;        &lt;Text&#10;            style={{&#10;                marginTop: 24,&#10;                fontSize: 22,&#10;                color: 'rgba(255,255,255,0.88)',&#10;                fontFamily: 'Verdana',&#10;                lineHeight: 1.5,&#10;            }}&#10;        &gt;&#10;            Dua langkah terakhir — urutannya tidak bisa dibalik.&#10;        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2" name=""/>
          <p:cNvSpPr/>
          <p:nvPr/>
        </p:nvSpPr>
        <p:spPr>
          <a:xfrm rot="0" flipH="0" flipV="0">
            <a:off x="8763000" y="-952500"/>
            <a:ext cx="4000500" cy="4000500"/>
          </a:xfrm>
          <a:custGeom>
            <a:pathLst>
              <a:path w="420" h="420">
                <a:moveTo>
                  <a:pt x="360" y="357"/>
                </a:moveTo>
                <a:lnTo>
                  <a:pt x="358" y="358"/>
                </a:lnTo>
                <a:lnTo>
                  <a:pt x="355" y="362"/>
                </a:lnTo>
                <a:lnTo>
                  <a:pt x="351" y="365"/>
                </a:lnTo>
                <a:lnTo>
                  <a:pt x="347" y="369"/>
                </a:lnTo>
                <a:lnTo>
                  <a:pt x="344" y="372"/>
                </a:lnTo>
                <a:lnTo>
                  <a:pt x="340" y="375"/>
                </a:lnTo>
                <a:lnTo>
                  <a:pt x="336" y="378"/>
                </a:lnTo>
                <a:lnTo>
                  <a:pt x="332" y="381"/>
                </a:lnTo>
                <a:lnTo>
                  <a:pt x="327" y="384"/>
                </a:lnTo>
                <a:lnTo>
                  <a:pt x="323" y="387"/>
                </a:lnTo>
                <a:lnTo>
                  <a:pt x="319" y="390"/>
                </a:lnTo>
                <a:lnTo>
                  <a:pt x="314" y="392"/>
                </a:lnTo>
                <a:lnTo>
                  <a:pt x="310" y="395"/>
                </a:ln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48"/>
                </a:lnTo>
                <a:lnTo>
                  <a:pt x="11" y="143"/>
                </a:lnTo>
                <a:lnTo>
                  <a:pt x="13" y="138"/>
                </a:lnTo>
                <a:lnTo>
                  <a:pt x="15" y="133"/>
                </a:lnTo>
                <a:lnTo>
                  <a:pt x="17" y="128"/>
                </a:lnTo>
                <a:lnTo>
                  <a:pt x="19" y="124"/>
                </a:lnTo>
                <a:lnTo>
                  <a:pt x="21" y="119"/>
                </a:lnTo>
                <a:lnTo>
                  <a:pt x="23" y="114"/>
                </a:lnTo>
                <a:lnTo>
                  <a:pt x="25" y="110"/>
                </a:lnTo>
                <a:lnTo>
                  <a:pt x="28" y="106"/>
                </a:lnTo>
                <a:lnTo>
                  <a:pt x="30" y="101"/>
                </a:lnTo>
                <a:lnTo>
                  <a:pt x="31" y="100"/>
                </a:lnTo>
                <a:lnTo>
                  <a:pt x="360" y="100"/>
                </a:lnTo>
                <a:close/>
              </a:path>
            </a:pathLst>
          </a:custGeom>
          <a:solidFill>
            <a:srgbClr val="AFC440">
              <a:alpha val="14000"/>
            </a:srgbClr>
          </a:solidFill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 r:embed="rId1">
            <a:alphaModFix amt="16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258300" y="4610100"/>
            <a:ext cx="2190750" cy="1809750"/>
          </a:xfrm>
          <a:prstGeom prst="rect">
            <a:avLst/>
          </a:prstGeom>
          <a:ln/>
        </p:spPr>
      </p:pic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85800" y="1800225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F3B26C"/>
                </a:solidFill>
                <a:latin typeface="Trebuchet MS"/>
                <a:ea typeface="Trebuchet MS"/>
              </a:rPr>
              <a:t>04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1676400" y="1990725"/>
            <a:ext cx="28575" cy="495300"/>
          </a:xfrm>
          <a:prstGeom prst="rect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838325" y="2133600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>
                <a:solidFill>
                  <a:srgbClr val="FFFFFF">
                    <a:alpha val="80000"/>
                  </a:srgbClr>
                </a:solidFill>
                <a:latin typeface="Verdana"/>
                <a:ea typeface="Verdana"/>
              </a:rPr>
              <a:t>Bagian terakhir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85800" y="2924175"/>
            <a:ext cx="6705600" cy="15335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Trebuchet MS"/>
                <a:ea typeface="Trebuchet MS"/>
              </a:rPr>
              <a:t>Kunci &amp;</a:t>
            </a:r>
            <a:endParaRPr/>
          </a:p>
          <a:p>
            <a:pPr>
              <a:lnSpc>
                <a:spcPct val="114999"/>
              </a:lnSpc>
            </a:pPr>
            <a:r>
              <a:rPr lang="en-US" sz="4350" b="1">
                <a:solidFill>
                  <a:srgbClr val="FFFFFF"/>
                </a:solidFill>
                <a:latin typeface="Trebuchet MS"/>
                <a:ea typeface="Trebuchet MS"/>
              </a:rPr>
              <a:t>publikasi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685800" y="4686300"/>
            <a:ext cx="67056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650">
                <a:solidFill>
                  <a:srgbClr val="FFFFFF">
                    <a:alpha val="88000"/>
                  </a:srgbClr>
                </a:solidFill>
                <a:latin typeface="Verdana"/>
                <a:ea typeface="Verdana"/>
              </a:rPr>
              <a:t>Dua langkah terakhir — urutannya tidak bisa dibalik.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&lt;Box&#10;        style={{&#10;            position: 'absolute',&#10;            bottom: -140,&#10;            right: -110,&#10;            width: 460,&#10;            height: 460,&#10;            borderRadius: 230,&#10;            background: 'linear-gradient(135deg, #51277C 0%, #7A45A8 100%)',&#10;            opacity: 0.09,&#10;        }}&#10;    /&gt;&#10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Terkunci, lalu terbit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4, position: 'relative', zIndex: 1 }}&gt;&#10;        {/* kiri 55% · frasa raksasa */}&#10;        &lt;Box style={{ width: '55%', height: '100%', justifyContent: 'center' }}&gt;&#10;            &lt;Text&#10;                style={{&#10;                    fontSize: 64,&#10;                    fontWeight: 'bold',&#10;                    color: '#51277C',&#10;                    fontFamily: 'Trebuchet MS',&#10;                    lineHeight: 1.1,&#10;                }}&#10;            &gt;&#10;                Kunci dulu,{'\n'}baru terbit.&#10;            &lt;/Text&gt;&#10;&#10;            &lt;Text&#10;                style={{&#10;                    marginTop: 22,&#10;                    fontSize: 19,&#10;                    color: '#2A2333',&#10;                    fontFamily: 'Verdana',&#10;                    lineHeight: 1.55,&#10;                }}&#10;            &gt;&#10;                Orang tua baru melihat jadwal setelah diterbitkan. Selama belum, jadwalnya&#10;                tetap tersimpan — hanya belum diumumkan.&#10;            &lt;/Text&gt;&#10;&#10;            &lt;Box&#10;                style={{&#10;                    marginTop: 24,&#10;                    background: 'rgba(243,178,108,0.22)',&#10;                    borderRadius: 14,&#10;                    borderLeft: '8px solid #F3B26C',&#10;                    padding: 18,&#10;                }}&#10;            &gt;&#10;                &lt;Text&#10;                    style={{&#10;                        fontSize: 18,&#10;                        color: '#2A2333',&#10;                        fontFamily: 'Verdana',&#10;                        lineHeight: 1.5,&#10;                    }}&#10;                &gt;&#10;                    Publikasi menolak selama masih ada hari yang belum dikunci. Selesaikan&#10;                    semuanya lebih dulu, baru tekan Publikasi.&#10;                &lt;/Text&gt;&#10;            &lt;/Box&gt;&#10;        &lt;/Box&gt;&#10;&#10;        {/* kanan 45% · tiga status */}&#10;        &lt;Box&#10;            style={{&#10;                width: '4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430} height={430} viewBox='0 0 430 430'&gt;&#10;                {/* 1 · masih bisa diubah */}&#10;                &lt;rect x='18' y='14' width='394' height='112' rx='16' fill='#FFFFFF' stroke='#DED7CB' strokeWidth='2' /&gt;&#10;                &lt;circle cx='66' cy='70' r='26' fill='#DED7CB' /&gt;&#10;                &lt;text x='66' y='80' fontFamily='Trebuchet MS' fontSize='24' fontWeight='bold' fill='#FFFFFF' textAnchor='middle'&gt;&#10;                    1&#10;                &lt;/text&gt;&#10;                &lt;text x='110' y='62' fontFamily='Trebuchet MS' fontSize='22' fontWeight='bold' fill='#51277C'&gt;&#10;                    Masih bisa diubah&#10;                &lt;/text&gt;&#10;                &lt;text x='110' y='94' fontFamily='Verdana' fontSize='15' fill='#6B6478'&gt;&#10;                    disusun korlas&#10;                &lt;/text&gt;&#10;&#10;                {/* 2 · dikunci */}&#10;                &lt;rect x='18' y='152' width='394' height='112' rx='16' fill='#FFFFFF' stroke='#AFC440' strokeWidth='3' /&gt;&#10;                &lt;circle cx='66' cy='208' r='26' fill='#AFC440' /&gt;&#10;                &lt;text x='66' y='218' fontFamily='Trebuchet MS' fontSize='24' fontWeight='bold' fill='#FFFFFF' textAnchor='middle'&gt;&#10;                    2&#10;                &lt;/text&gt;&#10;                &lt;text x='110' y='200' fontFamily='Trebuchet MS' fontSize='22' fontWeight='bold' fill='#51277C'&gt;&#10;                    Dikunci&#10;                &lt;/text&gt;&#10;                &lt;text x='110' y='232' fontFamily='Verdana' fontSize='15' fill='#6B6478'&gt;&#10;                    sudah tidak bisa diedit&#10;                &lt;/text&gt;&#10;&#10;                {/* 3 · terbit */}&#10;                &lt;rect x='18' y='290' width='394' height='126' rx='16' fill='#51277C' /&gt;&#10;                &lt;circle cx='66' cy='352' r='26' fill='#F3B26C' /&gt;&#10;                &lt;text x='66' y='362' fontFamily='Trebuchet MS' fontSize='24' fontWeight='bold' fill='#51277C' textAnchor='middle'&gt;&#10;                    3&#10;                &lt;/text&gt;&#10;                &lt;text x='110' y='344' fontFamily='Trebuchet MS' fontSize='22' fontWeight='bold' fill='#FFFFFF'&gt;&#10;                    Terbit ke orang tua&#10;                &lt;/text&gt;&#10;                &lt;text x='110' y='376' fontFamily='Verdana' fontSize='15' fill='#EFEAE1'&gt;&#10;                    tampil di HP mereka&#10;                &lt;/text&gt;&#10;                &lt;text x='110' y='400' fontFamily='Verdana' fontSize='14' fill='#F3B26C'&gt;&#10;                    revisi? minta admin membuka kunci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Terkunci, lalu terbit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12 / 16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858250" y="3810000"/>
            <a:ext cx="4381500" cy="4381500"/>
          </a:xfrm>
          <a:custGeom>
            <a:pathLst>
              <a:path w="460" h="460">
                <a:moveTo>
                  <a:pt x="236" y="0"/>
                </a:moveTo>
                <a:lnTo>
                  <a:pt x="242" y="0"/>
                </a:lnTo>
                <a:lnTo>
                  <a:pt x="248" y="1"/>
                </a:lnTo>
                <a:lnTo>
                  <a:pt x="254" y="1"/>
                </a:lnTo>
                <a:lnTo>
                  <a:pt x="259" y="2"/>
                </a:lnTo>
                <a:lnTo>
                  <a:pt x="265" y="3"/>
                </a:lnTo>
                <a:lnTo>
                  <a:pt x="271" y="4"/>
                </a:lnTo>
                <a:lnTo>
                  <a:pt x="276" y="5"/>
                </a:lnTo>
                <a:lnTo>
                  <a:pt x="282" y="6"/>
                </a:lnTo>
                <a:lnTo>
                  <a:pt x="287" y="7"/>
                </a:lnTo>
                <a:lnTo>
                  <a:pt x="293" y="9"/>
                </a:lnTo>
                <a:lnTo>
                  <a:pt x="298" y="10"/>
                </a:lnTo>
                <a:lnTo>
                  <a:pt x="304" y="12"/>
                </a:lnTo>
                <a:lnTo>
                  <a:pt x="309" y="14"/>
                </a:lnTo>
                <a:lnTo>
                  <a:pt x="314" y="16"/>
                </a:lnTo>
                <a:lnTo>
                  <a:pt x="319" y="18"/>
                </a:lnTo>
                <a:lnTo>
                  <a:pt x="325" y="20"/>
                </a:lnTo>
                <a:lnTo>
                  <a:pt x="330" y="23"/>
                </a:lnTo>
                <a:lnTo>
                  <a:pt x="335" y="25"/>
                </a:lnTo>
                <a:lnTo>
                  <a:pt x="340" y="28"/>
                </a:lnTo>
                <a:lnTo>
                  <a:pt x="344" y="30"/>
                </a:lnTo>
                <a:lnTo>
                  <a:pt x="349" y="33"/>
                </a:lnTo>
                <a:lnTo>
                  <a:pt x="350" y="34"/>
                </a:lnTo>
                <a:lnTo>
                  <a:pt x="350" y="320"/>
                </a:lnTo>
                <a:lnTo>
                  <a:pt x="18" y="320"/>
                </a:lnTo>
                <a:lnTo>
                  <a:pt x="18" y="319"/>
                </a:lnTo>
                <a:lnTo>
                  <a:pt x="16" y="314"/>
                </a:lnTo>
                <a:lnTo>
                  <a:pt x="14" y="309"/>
                </a:lnTo>
                <a:lnTo>
                  <a:pt x="12" y="304"/>
                </a:lnTo>
                <a:lnTo>
                  <a:pt x="10" y="298"/>
                </a:lnTo>
                <a:lnTo>
                  <a:pt x="9" y="293"/>
                </a:lnTo>
                <a:lnTo>
                  <a:pt x="7" y="287"/>
                </a:lnTo>
                <a:lnTo>
                  <a:pt x="6" y="282"/>
                </a:lnTo>
                <a:lnTo>
                  <a:pt x="5" y="276"/>
                </a:lnTo>
                <a:lnTo>
                  <a:pt x="4" y="271"/>
                </a:lnTo>
                <a:lnTo>
                  <a:pt x="3" y="265"/>
                </a:lnTo>
                <a:lnTo>
                  <a:pt x="2" y="259"/>
                </a:lnTo>
                <a:lnTo>
                  <a:pt x="1" y="254"/>
                </a:lnTo>
                <a:lnTo>
                  <a:pt x="1" y="248"/>
                </a:lnTo>
                <a:lnTo>
                  <a:pt x="0" y="242"/>
                </a:lnTo>
                <a:lnTo>
                  <a:pt x="0" y="236"/>
                </a:lnTo>
                <a:lnTo>
                  <a:pt x="0" y="230"/>
                </a:lnTo>
                <a:lnTo>
                  <a:pt x="0" y="224"/>
                </a:lnTo>
                <a:lnTo>
                  <a:pt x="0" y="218"/>
                </a:lnTo>
                <a:lnTo>
                  <a:pt x="1" y="212"/>
                </a:lnTo>
                <a:lnTo>
                  <a:pt x="1" y="206"/>
                </a:lnTo>
                <a:lnTo>
                  <a:pt x="2" y="201"/>
                </a:lnTo>
                <a:lnTo>
                  <a:pt x="3" y="195"/>
                </a:lnTo>
                <a:lnTo>
                  <a:pt x="4" y="189"/>
                </a:lnTo>
                <a:lnTo>
                  <a:pt x="5" y="184"/>
                </a:lnTo>
                <a:lnTo>
                  <a:pt x="6" y="178"/>
                </a:lnTo>
                <a:lnTo>
                  <a:pt x="7" y="173"/>
                </a:lnTo>
                <a:lnTo>
                  <a:pt x="9" y="167"/>
                </a:lnTo>
                <a:lnTo>
                  <a:pt x="10" y="162"/>
                </a:lnTo>
                <a:lnTo>
                  <a:pt x="12" y="156"/>
                </a:lnTo>
                <a:lnTo>
                  <a:pt x="14" y="151"/>
                </a:lnTo>
                <a:lnTo>
                  <a:pt x="16" y="146"/>
                </a:lnTo>
                <a:lnTo>
                  <a:pt x="18" y="141"/>
                </a:lnTo>
                <a:lnTo>
                  <a:pt x="20" y="135"/>
                </a:lnTo>
                <a:lnTo>
                  <a:pt x="23" y="130"/>
                </a:lnTo>
                <a:lnTo>
                  <a:pt x="25" y="125"/>
                </a:lnTo>
                <a:lnTo>
                  <a:pt x="28" y="120"/>
                </a:lnTo>
                <a:lnTo>
                  <a:pt x="30" y="116"/>
                </a:lnTo>
                <a:lnTo>
                  <a:pt x="33" y="111"/>
                </a:lnTo>
                <a:lnTo>
                  <a:pt x="36" y="106"/>
                </a:lnTo>
                <a:lnTo>
                  <a:pt x="39" y="101"/>
                </a:lnTo>
                <a:lnTo>
                  <a:pt x="42" y="97"/>
                </a:lnTo>
                <a:lnTo>
                  <a:pt x="46" y="92"/>
                </a:lnTo>
                <a:lnTo>
                  <a:pt x="49" y="88"/>
                </a:lnTo>
                <a:lnTo>
                  <a:pt x="53" y="84"/>
                </a:lnTo>
                <a:lnTo>
                  <a:pt x="56" y="80"/>
                </a:lnTo>
                <a:lnTo>
                  <a:pt x="60" y="75"/>
                </a:lnTo>
                <a:lnTo>
                  <a:pt x="64" y="71"/>
                </a:lnTo>
                <a:lnTo>
                  <a:pt x="67" y="67"/>
                </a:lnTo>
                <a:lnTo>
                  <a:pt x="71" y="64"/>
                </a:lnTo>
                <a:lnTo>
                  <a:pt x="75" y="60"/>
                </a:lnTo>
                <a:lnTo>
                  <a:pt x="80" y="56"/>
                </a:lnTo>
                <a:lnTo>
                  <a:pt x="84" y="53"/>
                </a:lnTo>
                <a:lnTo>
                  <a:pt x="88" y="49"/>
                </a:lnTo>
                <a:lnTo>
                  <a:pt x="92" y="46"/>
                </a:lnTo>
                <a:lnTo>
                  <a:pt x="97" y="42"/>
                </a:lnTo>
                <a:lnTo>
                  <a:pt x="101" y="39"/>
                </a:lnTo>
                <a:lnTo>
                  <a:pt x="106" y="36"/>
                </a:lnTo>
                <a:lnTo>
                  <a:pt x="111" y="33"/>
                </a:lnTo>
                <a:lnTo>
                  <a:pt x="116" y="30"/>
                </a:lnTo>
                <a:lnTo>
                  <a:pt x="120" y="28"/>
                </a:lnTo>
                <a:lnTo>
                  <a:pt x="125" y="25"/>
                </a:lnTo>
                <a:lnTo>
                  <a:pt x="130" y="23"/>
                </a:lnTo>
                <a:lnTo>
                  <a:pt x="135" y="20"/>
                </a:lnTo>
                <a:lnTo>
                  <a:pt x="141" y="18"/>
                </a:lnTo>
                <a:lnTo>
                  <a:pt x="146" y="16"/>
                </a:lnTo>
                <a:lnTo>
                  <a:pt x="151" y="14"/>
                </a:lnTo>
                <a:lnTo>
                  <a:pt x="156" y="12"/>
                </a:lnTo>
                <a:lnTo>
                  <a:pt x="162" y="10"/>
                </a:lnTo>
                <a:lnTo>
                  <a:pt x="167" y="9"/>
                </a:lnTo>
                <a:lnTo>
                  <a:pt x="173" y="7"/>
                </a:lnTo>
                <a:lnTo>
                  <a:pt x="178" y="6"/>
                </a:lnTo>
                <a:lnTo>
                  <a:pt x="184" y="5"/>
                </a:lnTo>
                <a:lnTo>
                  <a:pt x="189" y="4"/>
                </a:lnTo>
                <a:lnTo>
                  <a:pt x="195" y="3"/>
                </a:lnTo>
                <a:lnTo>
                  <a:pt x="201" y="2"/>
                </a:lnTo>
                <a:lnTo>
                  <a:pt x="206" y="1"/>
                </a:lnTo>
                <a:lnTo>
                  <a:pt x="212" y="1"/>
                </a:lnTo>
                <a:lnTo>
                  <a:pt x="218" y="0"/>
                </a:lnTo>
                <a:lnTo>
                  <a:pt x="224" y="0"/>
                </a:lnTo>
                <a:lnTo>
                  <a:pt x="230" y="0"/>
                </a:lnTo>
                <a:close/>
              </a:path>
            </a:pathLst>
          </a:custGeom>
          <a:gradFill>
            <a:gsLst>
              <a:gs pos="0">
                <a:srgbClr val="51277C">
                  <a:alpha val="9000"/>
                </a:srgbClr>
              </a:gs>
              <a:gs pos="100000">
                <a:srgbClr val="7A45A8">
                  <a:alpha val="9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1924050"/>
            <a:ext cx="5857875" cy="16097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51277C"/>
                </a:solidFill>
                <a:latin typeface="Trebuchet MS"/>
                <a:ea typeface="Trebuchet MS"/>
              </a:rPr>
              <a:t>Kunci dulu,</a:t>
            </a:r>
            <a:endParaRPr/>
          </a:p>
          <a:p>
            <a:pPr>
              <a:lnSpc>
                <a:spcPct val="110000"/>
              </a:lnSpc>
            </a:pPr>
            <a:r>
              <a:rPr lang="en-US" sz="4800" b="1">
                <a:solidFill>
                  <a:srgbClr val="51277C"/>
                </a:solidFill>
                <a:latin typeface="Trebuchet MS"/>
                <a:ea typeface="Trebuchet MS"/>
              </a:rPr>
              <a:t>baru terbit.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58578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Orang tua baru melihat jadwal setelah diterbitkan. Selama belum, jadwalnya tetap tersimpan — hanya belum diumumkan.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685800" y="4648200"/>
            <a:ext cx="5857875" cy="962025"/>
          </a:xfrm>
          <a:prstGeom prst="roundRect">
            <a:avLst>
              <a:gd name="adj" fmla="val 13861"/>
            </a:avLst>
          </a:prstGeom>
          <a:solidFill>
            <a:srgbClr val="F3B26C">
              <a:alpha val="22000"/>
            </a:srgbClr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685800" y="4648200"/>
            <a:ext cx="5857875" cy="962025"/>
          </a:xfrm>
          <a:custGeom>
            <a:pathLst>
              <a:path w="615" h="101">
                <a:moveTo>
                  <a:pt x="13" y="0"/>
                </a:moveTo>
                <a:cubicBezTo>
                  <a:pt x="10" y="0"/>
                  <a:pt x="8" y="3"/>
                  <a:pt x="8" y="6"/>
                </a:cubicBezTo>
                <a:lnTo>
                  <a:pt x="8" y="95"/>
                </a:lnTo>
                <a:cubicBezTo>
                  <a:pt x="8" y="98"/>
                  <a:pt x="10" y="101"/>
                  <a:pt x="13" y="101"/>
                </a:cubicBezTo>
                <a:cubicBezTo>
                  <a:pt x="6" y="101"/>
                  <a:pt x="0" y="94"/>
                  <a:pt x="0" y="87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857250" y="4819650"/>
            <a:ext cx="5438775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350">
                <a:solidFill>
                  <a:srgbClr val="2A2333"/>
                </a:solidFill>
                <a:latin typeface="Verdana"/>
                <a:ea typeface="Verdana"/>
              </a:rPr>
              <a:t>Publikasi menolak selama masih ada hari yang belum dikunci. Selesaikan semuanya lebih dulu, baru tekan Publikasi.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791325" y="1238250"/>
            <a:ext cx="4791075" cy="5048250"/>
          </a:xfrm>
          <a:prstGeom prst="roundRect">
            <a:avLst>
              <a:gd name="adj" fmla="val 397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43750" y="1714500"/>
            <a:ext cx="4095750" cy="4095750"/>
          </a:xfrm>
          <a:prstGeom prst="rect">
            <a:avLst/>
          </a:prstGeom>
          <a:ln/>
        </p:spPr>
      </p:pic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3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Aksi massal: satu klik untuk banyak hari&#10;        &lt;/Text&gt;&#10;        &lt;Box style={{ marginTop: 10, width: 72, height: 6, borderRadius: 3, background: '#51277C' }} /&gt;&#10;    &lt;/Box&gt;&#10;&#10;    {/* ── B · area konten ── */}&#10;    &lt;Box style={{ height: 530, flexDirection: 'row', gap: 30 }}&gt;&#10;        {/* kiri 55% · tabel dengan kotak centang */}&#10;        &lt;Box&#10;            style={{&#10;                width: '5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560} height={440} viewBox='0 0 560 440'&gt;&#10;                {/* baris header minggu */}&#10;                &lt;rect x='10' y='8' width='540' height='44' rx='10' fill='#51277C' /&gt;&#10;                &lt;rect x='26' y='22' width='20' height='20' rx='5' fill='#F3B26C' /&gt;&#10;                &lt;path d='M31 32l4 4 8-9' fill='none' stroke='#51277C' strokeWidth='3' strokeLinecap='round' strokeLinejoin='round' /&gt;&#10;                &lt;text x='62' y='38' fontFamily='Verdana' fontSize='15' fill='#FFFFFF'&gt;Pilih minggu ini&lt;/text&gt;&#10;&#10;                {/* Senin — dicentang */}&#10;                &lt;rect x='10' y='62' width='540' height='46' rx='10' fill='#FFFFFF' stroke='#E6DFD2' strokeWidth='2' /&gt;&#10;                &lt;rect x='26' y='75' width='20' height='20' rx='5' fill='#51277C' stroke='#51277C' strokeWidth='2' /&gt;&#10;                &lt;path d='M31 85l4 4 8-9' fill='none' stroke='#FFFFFF' strokeWidth='3' strokeLinecap='round' strokeLinejoin='round' /&gt;&#10;                &lt;text x='62' y='92' fontFamily='Verdana' fontSize='15' fill='#2A2333'&gt;Senin, 5&lt;/text&gt;&#10;                &lt;rect x='436' y='73' width='98' height='24' rx='12' fill='#DED7CB' /&gt;&#10;&#10;                {/* Selasa — dicentang */}&#10;                &lt;rect x='10' y='116' width='540' height='46' rx='10' fill='#FFFFFF' stroke='#E6DFD2' strokeWidth='2' /&gt;&#10;                &lt;rect x='26' y='129' width='20' height='20' rx='5' fill='#51277C' stroke='#51277C' strokeWidth='2' /&gt;&#10;                &lt;path d='M31 139l4 4 8-9' fill='none' stroke='#FFFFFF' strokeWidth='3' strokeLinecap='round' strokeLinejoin='round' /&gt;&#10;                &lt;text x='62' y='146' fontFamily='Verdana' fontSize='15' fill='#2A2333'&gt;Selasa, 6&lt;/text&gt;&#10;                &lt;rect x='436' y='127' width='98' height='24' rx='12' fill='#DED7CB' /&gt;&#10;&#10;                {/* Rabu — dicentang */}&#10;                &lt;rect x='10' y='170' width='540' height='46' rx='10' fill='#FFFFFF' stroke='#E6DFD2' strokeWidth='2' /&gt;&#10;                &lt;rect x='26' y='183' width='20' height='20' rx='5' fill='#51277C' stroke='#51277C' strokeWidth='2' /&gt;&#10;                &lt;path d='M31 193l4 4 8-9' fill='none' stroke='#FFFFFF' strokeWidth='3' strokeLinecap='round' strokeLinejoin='round' /&gt;&#10;                &lt;text x='62' y='200' fontFamily='Verdana' fontSize='15' fill='#2A2333'&gt;Rabu, 7&lt;/text&gt;&#10;                &lt;rect x='436' y='181' width='98' height='24' rx='12' fill='#DED7CB' /&gt;&#10;&#10;                {/* Kamis — tidak dicentang */}&#10;                &lt;rect x='10' y='224' width='540' height='46' rx='10' fill='#FFFFFF' stroke='#E6DFD2' strokeWidth='2' /&gt;&#10;                &lt;rect x='26' y='237' width='20' height='20' rx='5' fill='#FFFFFF' stroke='#DED7CB' strokeWidth='2' /&gt;&#10;                &lt;text x='62' y='254' fontFamily='Verdana' fontSize='15' fill='#2A2333'&gt;Kamis, 8&lt;/text&gt;&#10;                &lt;rect x='436' y='235' width='98' height='24' rx='12' fill='#DED7CB' /&gt;&#10;&#10;                {/* Jumat — tidak dicentang */}&#10;                &lt;rect x='10' y='278' width='540' height='46' rx='10' fill='#FFFFFF' stroke='#E6DFD2' strokeWidth='2' /&gt;&#10;                &lt;rect x='26' y='291' width='20' height='20' rx='5' fill='#FFFFFF' stroke='#DED7CB' strokeWidth='2' /&gt;&#10;                &lt;text x='62' y='308' fontFamily='Verdana' fontSize='15' fill='#2A2333'&gt;Jumat, 9&lt;/text&gt;&#10;                &lt;rect x='436' y='289' width='98' height='24' rx='12' fill='#DED7CB' /&gt;&#10;&#10;                {/* bilah aksi */}&#10;                &lt;rect x='10' y='344' width='540' height='78' rx='14' fill='#51277C' /&gt;&#10;                &lt;rect x='28' y='364' width='120' height='38' rx='10' fill='#FFFFFF' /&gt;&#10;                &lt;text x='88' y='389' fontFamily='Verdana' fontSize='15' fontWeight='bold' fill='#51277C' textAnchor='middle'&gt;Kunci&lt;/text&gt;&#10;                &lt;rect x='160' y='364' width='120' height='38' rx='10' fill='rgba(255,255,255,0.25)' /&gt;&#10;                &lt;text x='220' y='389' fontFamily='Verdana' fontSize='15' fill='#EFEAE1' textAnchor='middle'&gt;Publikasi&lt;/text&gt;&#10;                &lt;rect x='292' y='364' width='120' height='38' rx='10' fill='rgba(255,255,255,0.25)' /&gt;&#10;                &lt;text x='352' y='389' fontFamily='Verdana' fontSize='15' fill='#EFEAE1' textAnchor='middle'&gt;Buka kunci&lt;/text&gt;&#10;                &lt;text x='470' y='389' fontFamily='Verdana' fontSize='14' fill='#F3B26C'&gt;3 dipilih&lt;/text&gt;&#10;            &lt;/svg&gt;&#10;        &lt;/Box&gt;&#10;&#10;        {/* kanan 45% · tiga keterangan */}&#10;        &lt;Box style={{ width: '45%', height: '100%', justifyContent: 'space-between' }}&gt;&#10;            {[&#10;                {&#10;                    t: 'Centang dulu, lalu pilih aksinya',&#10;                    d: 'Ada &quot;Pilih minggu ini&quot; di setiap blok minggu dan &quot;Pilih semua&quot; di bagian atas tabel.',&#10;                    g: 'Tidak satu per satu',&#10;                },&#10;                {&#10;                    t: 'Tombol menyesuaikan pilihan Anda',&#10;                    d: 'Bilah aksi di bawah layar hanya menghidupkan tombol yang cocok dengan status hari yang dicentang.',&#10;                    g: 'Tidak bisa salah klik',&#10;                },&#10;                {&#10;                    t: 'Buka kunci massal hanya admin',&#10;                    d: 'Korlas tetap terbatas kelasnya sendiri — hari dari kelas lain tidak ikut tersentuh.',&#10;                    g: 'Aman lintas kelas',&#10;                },&#10;            ].map((it, i) =&gt; (&#10;                &lt;Box&#10;                    key={i}&#10;                    style={{&#10;                        height: 166,&#10;                        background: '#FFFFFF',&#10;                        borderRadius: 16,&#10;                        boxShadow: '0 4px 20px rgba(0,0,0,0.08)',&#10;                        padding: 22,&#10;                        borderLeft: '8px solid #AFC440',&#10;                    }}&#10;                &gt;&#10;                    &lt;Text&#10;                        style={{&#10;                            fontSize: 24,&#10;                            fontWeight: 'bold',&#10;                            color: '#51277C',&#10;                            fontFamily: 'Trebuchet MS',&#10;                            lineHeight: 1.3,&#10;                        }}&#10;                    &gt;&#10;                        {it.t}&#10;                    &lt;/Text&gt;&#10;                    &lt;Text&#10;                        style={{&#10;                            marginTop: 10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it.d}&#10;                    &lt;/Text&gt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it.g}&#10;                        &lt;/Text&gt;&#10;                    &lt;/Box&gt;&#10;                &lt;/Box&gt;&#10;            ))}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Aksi massal: satu klik untuk banyak hari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9600" y="1238250"/>
            <a:ext cx="5876925" cy="5048250"/>
          </a:xfrm>
          <a:prstGeom prst="roundRect">
            <a:avLst>
              <a:gd name="adj" fmla="val 3774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85825" y="1666875"/>
            <a:ext cx="5334000" cy="4191000"/>
          </a:xfrm>
          <a:prstGeom prst="rect">
            <a:avLst/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6848475" y="12382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848475" y="12382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058025" y="14478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Centang dulu, lalu pilih aksinya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058025" y="19050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Ada "Pilih minggu ini" di setiap blok minggu dan "Pilih semua" di bagian atas tabel.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058025" y="24193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Tidak satu per satu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848475" y="297180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848475" y="297180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058025" y="318135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Tombol menyesuaikan pilihan Anda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058025" y="3638550"/>
            <a:ext cx="43148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Bilah aksi di bawah layar hanya menghidupkan tombol yang cocok dengan status hari yang dicentang.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058025" y="415290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Tidak bisa salah klik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6848475" y="4705350"/>
            <a:ext cx="4810125" cy="1581150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848475" y="4705350"/>
            <a:ext cx="4810125" cy="1581150"/>
          </a:xfrm>
          <a:custGeom>
            <a:pathLst>
              <a:path w="505" h="166">
                <a:moveTo>
                  <a:pt x="15" y="0"/>
                </a:moveTo>
                <a:cubicBezTo>
                  <a:pt x="11" y="0"/>
                  <a:pt x="8" y="4"/>
                  <a:pt x="8" y="8"/>
                </a:cubicBezTo>
                <a:lnTo>
                  <a:pt x="8" y="158"/>
                </a:lnTo>
                <a:cubicBezTo>
                  <a:pt x="8" y="162"/>
                  <a:pt x="11" y="165"/>
                  <a:pt x="14" y="166"/>
                </a:cubicBezTo>
                <a:cubicBezTo>
                  <a:pt x="6" y="165"/>
                  <a:pt x="0" y="158"/>
                  <a:pt x="0" y="15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058025" y="4914900"/>
            <a:ext cx="43148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Buka kunci massal hanya admin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058025" y="5372100"/>
            <a:ext cx="4314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Korlas tetap terbatas kelasnya sendiri — hari dari kelas lain tidak ikut tersentuh.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058025" y="5886450"/>
            <a:ext cx="43148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Aman lintas kelas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86" name="" descr="&lt;Slide&#10;    style={{&#10;        width: '1280px',&#10;        height: '720px',&#10;        background: '#FAF7F2',&#10;        paddingTop: 20,&#10;        paddingBottom: 20,&#10;        paddingLeft: 64,&#10;        paddingRight: 64,&#10;        position: 'relative',&#10;        overflow: 'hidden',&#10;    }}&#10;&gt;&#10;    &lt;Box&#10;        style={{&#10;            position: 'absolute',&#10;            top: -150,&#10;            left: -120,&#10;            width: 440,&#10;            height: 440,&#10;            borderRadius: 220,&#10;            background: 'linear-gradient(135deg, #AFC440 0%, #F3B26C 100%)',&#10;            opacity: 0.14,&#10;        }}&#10;    /&gt;&#10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Laporan piket: sudah merata?&#10;        &lt;/Text&gt;&#10;        &lt;Box style={{ marginTop: 10, width: 72, height: 6, borderRadius: 3, background: '#F3B26C' }} /&gt;&#10;    &lt;/Box&gt;&#10;&#10;    {/* ── B · area konten ── */}&#10;    &lt;Box style={{ height: 530, flexDirection: 'row', gap: 34, position: 'relative', zIndex: 1 }}&gt;&#10;        {/* kiri 55% · frasa raksasa */}&#10;        &lt;Box style={{ width: '55%', height: '100%', justifyContent: 'center' }}&gt;&#10;            &lt;Text&#10;                style={{&#10;                    fontSize: 62,&#10;                    fontWeight: 'bold',&#10;                    color: '#51277C',&#10;                    fontFamily: 'Trebuchet MS',&#10;                    lineHeight: 1.1,&#10;                }}&#10;            &gt;&#10;                Merata,{'\n'}bukan sekadar penuh.&#10;            &lt;/Text&gt;&#10;&#10;            &lt;Text&#10;                style={{&#10;                    marginTop: 22,&#10;                    fontSize: 19,&#10;                    color: '#2A2333',&#10;                    fontFamily: 'Verdana',&#10;                    lineHeight: 1.55,&#10;                }}&#10;            &gt;&#10;                Menu Laporan menghitung berapa kali setiap orang tua sudah mengambil piket,&#10;                lengkap dengan tanggal dan menunya. Angkanya diambil dari tempat yang sama&#10;                dengan yang dipakai orang tua saat mengambil tanggal.&#10;            &lt;/Text&gt;&#10;&#10;            &lt;Box&#10;                style={{&#10;                    marginTop: 24,&#10;                    background: 'rgba(243,178,108,0.22)',&#10;                    borderRadius: 14,&#10;                    borderLeft: '8px solid #F3B26C',&#10;                    padding: 18,&#10;                }}&#10;            &gt;&#10;                &lt;Text&#10;                    style={{&#10;                        fontSize: 18,&#10;                        color: '#2A2333',&#10;                        fontFamily: 'Verdana',&#10;                        lineHeight: 1.5,&#10;                    }}&#10;                &gt;&#10;                    Yang paling berguna justru satu daftar ini:&#10;                &lt;/Text&gt;&#10;                &lt;Text&#10;                    style={{&#10;                        marginTop: 10,&#10;                        fontSize: 19,&#10;                        fontWeight: 'bold',&#10;                        color: '#51277C',&#10;                        fontFamily: 'Trebuchet MS',&#10;                        lineHeight: 1.35,&#10;                    }}&#10;                &gt;&#10;                    Belum pernah ambil&#10;                &lt;/Text&gt;&#10;                &lt;Text&#10;                    style={{&#10;                        marginTop: 4,&#10;                        fontSize: 17,&#10;                        color: '#2A2333',&#10;                        fontFamily: 'Verdana',&#10;                        lineHeight: 1.5,&#10;                    }}&#10;                &gt;&#10;                    merekalah yang bisa diajak lebih dulu bulan depan.&#10;                &lt;/Text&gt;&#10;            &lt;/Box&gt;&#10;        &lt;/Box&gt;&#10;&#10;        {/* kanan 45% · rekap per orang tua */}&#10;        &lt;Box&#10;            style={{&#10;                width: '45%',&#10;                height: '100%',&#10;                background: 'rgba(81,39,124,0.06)',&#10;                borderRadius: 20,&#10;                justifyContent: 'center',&#10;                alignItems: 'center',&#10;            }}&#10;        &gt;&#10;            &lt;svg width={430} height={430} viewBox='0 0 430 430'&gt;&#10;                &lt;text x='18' y='38' fontFamily='Trebuchet MS' fontSize='21' fontWeight='bold' fill='#51277C'&gt;&#10;                    Rekap ambil piket&#10;                &lt;/text&gt;&#10;                &lt;text x='18' y='62' fontFamily='Verdana' fontSize='14' fill='#6B6478'&gt;&#10;                    1 – 31 Oktober · Kelas 1&#10;                &lt;/text&gt;&#10;&#10;                {/* Sari · 4 */}&#10;                &lt;text x='18' y='120' fontFamily='Verdana' fontSize='15' fill='#2A2333'&gt;Sari&lt;/text&gt;&#10;                &lt;rect x='110' y='104' width='250' height='22' rx='11' fill='#EFEAE1' /&gt;&#10;                &lt;rect x='110' y='104' width='250' height='22' rx='11' fill='#51277C' /&gt;&#10;                &lt;text x='372' y='120' fontFamily='Trebuchet MS' fontSize='16' fontWeight='bold' fill='#51277C'&gt;4&lt;/text&gt;&#10;&#10;                {/* Budi · 3 */}&#10;                &lt;text x='18' y='176' fontFamily='Verdana' fontSize='15' fill='#2A2333'&gt;Budi&lt;/text&gt;&#10;                &lt;rect x='110' y='160' width='250' height='22' rx='11' fill='#EFEAE1' /&gt;&#10;                &lt;rect x='110' y='160' width='188' height='22' rx='11' fill='#51277C' /&gt;&#10;                &lt;text x='372' y='176' fontFamily='Trebuchet MS' fontSize='16' fontWeight='bold' fill='#51277C'&gt;3&lt;/text&gt;&#10;&#10;                {/* Dewi · 2 */}&#10;                &lt;text x='18' y='232' fontFamily='Verdana' fontSize='15' fill='#2A2333'&gt;Dewi&lt;/text&gt;&#10;                &lt;rect x='110' y='216' width='250' height='22' rx='11' fill='#EFEAE1' /&gt;&#10;                &lt;rect x='110' y='216' width='125' height='22' rx='11' fill='#51277C' /&gt;&#10;                &lt;text x='372' y='232' fontFamily='Trebuchet MS' fontSize='16' fontWeight='bold' fill='#51277C'&gt;2&lt;/text&gt;&#10;&#10;                {/* Rina · 1 */}&#10;                &lt;text x='18' y='288' fontFamily='Verdana' fontSize='15' fill='#2A2333'&gt;Rina&lt;/text&gt;&#10;                &lt;rect x='110' y='272' width='250' height='22' rx='11' fill='#EFEAE1' /&gt;&#10;                &lt;rect x='110' y='272' width='63' height='22' rx='11' fill='#51277C' /&gt;&#10;                &lt;text x='372' y='288' fontFamily='Trebuchet MS' fontSize='16' fontWeight='bold' fill='#51277C'&gt;1&lt;/text&gt;&#10;&#10;                {/* Anto · 0 — belum pernah */}&#10;                &lt;text x='18' y='344' fontFamily='Verdana' fontSize='15' fill='#2A2333'&gt;Anto&lt;/text&gt;&#10;                &lt;rect x='110' y='328' width='250' height='22' rx='11' fill='#EFEAE1' /&gt;&#10;                &lt;rect x='110' y='328' width='250' height='22' rx='11' fill='#F3B26C' opacity='0.35' /&gt;&#10;                &lt;text x='372' y='344' fontFamily='Trebuchet MS' fontSize='16' fontWeight='bold' fill='#F3B26C'&gt;0&lt;/text&gt;&#10;&#10;                {/* simpulan */}&#10;                &lt;rect x='18' y='374' width='394' height='48' rx='14' fill='#51277C' /&gt;&#10;                &lt;text x='38' y='396' fontFamily='Verdana' fontSize='15' fill='#F3B26C' fontWeight='bold'&gt;&#10;                    Belum pernah ambil: Anto&#10;                &lt;/text&gt;&#10;                &lt;text x='38' y='414' fontFamily='Verdana' fontSize='13' fill='#EFEAE1'&gt;&#10;                    ajak lebih dulu saat menyusun bulan depan&#10;                &lt;/text&gt;&#10;            &lt;/svg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Laporan piket: sudah merata?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14 / 16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-1143000" y="-1428750"/>
            <a:ext cx="4191000" cy="4191000"/>
          </a:xfrm>
          <a:custGeom>
            <a:pathLst>
              <a:path w="440" h="440">
                <a:moveTo>
                  <a:pt x="430" y="155"/>
                </a:moveTo>
                <a:lnTo>
                  <a:pt x="432" y="160"/>
                </a:lnTo>
                <a:lnTo>
                  <a:pt x="433" y="165"/>
                </a:lnTo>
                <a:lnTo>
                  <a:pt x="434" y="170"/>
                </a:lnTo>
                <a:lnTo>
                  <a:pt x="436" y="176"/>
                </a:lnTo>
                <a:lnTo>
                  <a:pt x="437" y="181"/>
                </a:lnTo>
                <a:lnTo>
                  <a:pt x="437" y="187"/>
                </a:lnTo>
                <a:lnTo>
                  <a:pt x="438" y="192"/>
                </a:lnTo>
                <a:lnTo>
                  <a:pt x="439" y="198"/>
                </a:lnTo>
                <a:lnTo>
                  <a:pt x="439" y="203"/>
                </a:lnTo>
                <a:lnTo>
                  <a:pt x="440" y="209"/>
                </a:lnTo>
                <a:lnTo>
                  <a:pt x="440" y="214"/>
                </a:lnTo>
                <a:lnTo>
                  <a:pt x="440" y="220"/>
                </a:lnTo>
                <a:lnTo>
                  <a:pt x="440" y="226"/>
                </a:lnTo>
                <a:lnTo>
                  <a:pt x="440" y="231"/>
                </a:lnTo>
                <a:lnTo>
                  <a:pt x="439" y="237"/>
                </a:lnTo>
                <a:lnTo>
                  <a:pt x="439" y="242"/>
                </a:lnTo>
                <a:lnTo>
                  <a:pt x="438" y="248"/>
                </a:lnTo>
                <a:lnTo>
                  <a:pt x="437" y="253"/>
                </a:lnTo>
                <a:lnTo>
                  <a:pt x="437" y="259"/>
                </a:lnTo>
                <a:lnTo>
                  <a:pt x="436" y="264"/>
                </a:lnTo>
                <a:lnTo>
                  <a:pt x="434" y="270"/>
                </a:lnTo>
                <a:lnTo>
                  <a:pt x="433" y="275"/>
                </a:lnTo>
                <a:lnTo>
                  <a:pt x="432" y="280"/>
                </a:lnTo>
                <a:lnTo>
                  <a:pt x="430" y="285"/>
                </a:lnTo>
                <a:lnTo>
                  <a:pt x="428" y="291"/>
                </a:lnTo>
                <a:lnTo>
                  <a:pt x="427" y="296"/>
                </a:lnTo>
                <a:lnTo>
                  <a:pt x="425" y="301"/>
                </a:lnTo>
                <a:lnTo>
                  <a:pt x="423" y="306"/>
                </a:lnTo>
                <a:lnTo>
                  <a:pt x="421" y="311"/>
                </a:lnTo>
                <a:lnTo>
                  <a:pt x="418" y="315"/>
                </a:lnTo>
                <a:lnTo>
                  <a:pt x="416" y="320"/>
                </a:lnTo>
                <a:lnTo>
                  <a:pt x="413" y="325"/>
                </a:lnTo>
                <a:lnTo>
                  <a:pt x="411" y="329"/>
                </a:lnTo>
                <a:lnTo>
                  <a:pt x="408" y="334"/>
                </a:lnTo>
                <a:lnTo>
                  <a:pt x="405" y="339"/>
                </a:lnTo>
                <a:lnTo>
                  <a:pt x="402" y="343"/>
                </a:lnTo>
                <a:lnTo>
                  <a:pt x="399" y="347"/>
                </a:lnTo>
                <a:lnTo>
                  <a:pt x="396" y="352"/>
                </a:lnTo>
                <a:lnTo>
                  <a:pt x="393" y="356"/>
                </a:lnTo>
                <a:lnTo>
                  <a:pt x="390" y="360"/>
                </a:lnTo>
                <a:lnTo>
                  <a:pt x="386" y="364"/>
                </a:lnTo>
                <a:lnTo>
                  <a:pt x="383" y="368"/>
                </a:lnTo>
                <a:lnTo>
                  <a:pt x="379" y="372"/>
                </a:lnTo>
                <a:lnTo>
                  <a:pt x="376" y="376"/>
                </a:lnTo>
                <a:lnTo>
                  <a:pt x="372" y="379"/>
                </a:lnTo>
                <a:lnTo>
                  <a:pt x="368" y="383"/>
                </a:lnTo>
                <a:lnTo>
                  <a:pt x="364" y="386"/>
                </a:lnTo>
                <a:lnTo>
                  <a:pt x="360" y="390"/>
                </a:lnTo>
                <a:lnTo>
                  <a:pt x="356" y="393"/>
                </a:lnTo>
                <a:lnTo>
                  <a:pt x="352" y="396"/>
                </a:lnTo>
                <a:lnTo>
                  <a:pt x="347" y="399"/>
                </a:lnTo>
                <a:lnTo>
                  <a:pt x="343" y="402"/>
                </a:lnTo>
                <a:lnTo>
                  <a:pt x="339" y="405"/>
                </a:lnTo>
                <a:lnTo>
                  <a:pt x="334" y="408"/>
                </a:lnTo>
                <a:lnTo>
                  <a:pt x="329" y="411"/>
                </a:lnTo>
                <a:lnTo>
                  <a:pt x="325" y="413"/>
                </a:lnTo>
                <a:lnTo>
                  <a:pt x="320" y="416"/>
                </a:lnTo>
                <a:lnTo>
                  <a:pt x="315" y="418"/>
                </a:lnTo>
                <a:lnTo>
                  <a:pt x="311" y="421"/>
                </a:lnTo>
                <a:lnTo>
                  <a:pt x="306" y="423"/>
                </a:lnTo>
                <a:lnTo>
                  <a:pt x="301" y="425"/>
                </a:lnTo>
                <a:lnTo>
                  <a:pt x="296" y="427"/>
                </a:lnTo>
                <a:lnTo>
                  <a:pt x="291" y="428"/>
                </a:lnTo>
                <a:lnTo>
                  <a:pt x="285" y="430"/>
                </a:lnTo>
                <a:lnTo>
                  <a:pt x="280" y="432"/>
                </a:lnTo>
                <a:lnTo>
                  <a:pt x="275" y="433"/>
                </a:lnTo>
                <a:lnTo>
                  <a:pt x="270" y="434"/>
                </a:lnTo>
                <a:lnTo>
                  <a:pt x="264" y="436"/>
                </a:lnTo>
                <a:lnTo>
                  <a:pt x="259" y="437"/>
                </a:lnTo>
                <a:lnTo>
                  <a:pt x="253" y="437"/>
                </a:lnTo>
                <a:lnTo>
                  <a:pt x="248" y="438"/>
                </a:lnTo>
                <a:lnTo>
                  <a:pt x="242" y="439"/>
                </a:lnTo>
                <a:lnTo>
                  <a:pt x="237" y="439"/>
                </a:lnTo>
                <a:lnTo>
                  <a:pt x="231" y="440"/>
                </a:lnTo>
                <a:lnTo>
                  <a:pt x="226" y="440"/>
                </a:lnTo>
                <a:lnTo>
                  <a:pt x="220" y="440"/>
                </a:lnTo>
                <a:lnTo>
                  <a:pt x="214" y="440"/>
                </a:lnTo>
                <a:lnTo>
                  <a:pt x="209" y="440"/>
                </a:lnTo>
                <a:lnTo>
                  <a:pt x="203" y="439"/>
                </a:lnTo>
                <a:lnTo>
                  <a:pt x="198" y="439"/>
                </a:lnTo>
                <a:lnTo>
                  <a:pt x="192" y="438"/>
                </a:lnTo>
                <a:lnTo>
                  <a:pt x="187" y="437"/>
                </a:lnTo>
                <a:lnTo>
                  <a:pt x="181" y="437"/>
                </a:lnTo>
                <a:lnTo>
                  <a:pt x="176" y="436"/>
                </a:lnTo>
                <a:lnTo>
                  <a:pt x="170" y="434"/>
                </a:lnTo>
                <a:lnTo>
                  <a:pt x="165" y="433"/>
                </a:lnTo>
                <a:lnTo>
                  <a:pt x="160" y="432"/>
                </a:lnTo>
                <a:lnTo>
                  <a:pt x="155" y="430"/>
                </a:lnTo>
                <a:lnTo>
                  <a:pt x="149" y="428"/>
                </a:lnTo>
                <a:lnTo>
                  <a:pt x="144" y="427"/>
                </a:lnTo>
                <a:lnTo>
                  <a:pt x="139" y="425"/>
                </a:lnTo>
                <a:lnTo>
                  <a:pt x="134" y="423"/>
                </a:lnTo>
                <a:lnTo>
                  <a:pt x="129" y="421"/>
                </a:lnTo>
                <a:lnTo>
                  <a:pt x="125" y="418"/>
                </a:lnTo>
                <a:lnTo>
                  <a:pt x="120" y="416"/>
                </a:lnTo>
                <a:lnTo>
                  <a:pt x="120" y="150"/>
                </a:lnTo>
                <a:lnTo>
                  <a:pt x="429" y="150"/>
                </a:ln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1009650"/>
            <a:ext cx="5857875" cy="2343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10000"/>
              </a:lnSpc>
            </a:pPr>
            <a:r>
              <a:rPr lang="en-US" sz="4650" b="1">
                <a:solidFill>
                  <a:srgbClr val="51277C"/>
                </a:solidFill>
                <a:latin typeface="Trebuchet MS"/>
                <a:ea typeface="Trebuchet MS"/>
              </a:rPr>
              <a:t>Merata,</a:t>
            </a:r>
            <a:endParaRPr/>
          </a:p>
          <a:p>
            <a:pPr>
              <a:lnSpc>
                <a:spcPct val="110000"/>
              </a:lnSpc>
            </a:pPr>
            <a:r>
              <a:rPr lang="en-US" sz="4650" b="1">
                <a:solidFill>
                  <a:srgbClr val="51277C"/>
                </a:solidFill>
                <a:latin typeface="Trebuchet MS"/>
                <a:ea typeface="Trebuchet MS"/>
              </a:rPr>
              <a:t>bukan sekadar penuh.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5857875" cy="1352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425">
                <a:solidFill>
                  <a:srgbClr val="2A2333"/>
                </a:solidFill>
                <a:latin typeface="Verdana"/>
                <a:ea typeface="Verdana"/>
              </a:rPr>
              <a:t>Menu Laporan menghitung berapa kali setiap orang tua sudah mengambil piket, lengkap dengan tanggal dan menunya. Angkanya diambil dari tempat yang sama dengan yang dipakai orang tua saat mengambil tanggal.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85800" y="5143500"/>
            <a:ext cx="5857875" cy="1381125"/>
          </a:xfrm>
          <a:prstGeom prst="roundRect">
            <a:avLst>
              <a:gd name="adj" fmla="val 9655"/>
            </a:avLst>
          </a:prstGeom>
          <a:solidFill>
            <a:srgbClr val="F3B26C">
              <a:alpha val="22000"/>
            </a:srgbClr>
          </a:solidFill>
          <a:ln/>
        </p:spPr>
        <p:txBody>
          <a:bodyPr/>
          <a:p/>
        </p:txBody>
      </p:sp>
      <p:sp>
        <p:nvSpPr>
          <p:cNvPr id="96" name=""/>
          <p:cNvSpPr/>
          <p:nvPr/>
        </p:nvSpPr>
        <p:spPr>
          <a:xfrm rot="0" flipH="0" flipV="0">
            <a:off x="685800" y="5143500"/>
            <a:ext cx="5857875" cy="1381125"/>
          </a:xfrm>
          <a:custGeom>
            <a:pathLst>
              <a:path w="615" h="145">
                <a:moveTo>
                  <a:pt x="13" y="0"/>
                </a:moveTo>
                <a:cubicBezTo>
                  <a:pt x="10" y="0"/>
                  <a:pt x="8" y="3"/>
                  <a:pt x="8" y="6"/>
                </a:cubicBezTo>
                <a:lnTo>
                  <a:pt x="8" y="139"/>
                </a:lnTo>
                <a:cubicBezTo>
                  <a:pt x="8" y="142"/>
                  <a:pt x="10" y="145"/>
                  <a:pt x="13" y="145"/>
                </a:cubicBezTo>
                <a:cubicBezTo>
                  <a:pt x="6" y="145"/>
                  <a:pt x="0" y="138"/>
                  <a:pt x="0" y="13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857250" y="5314950"/>
            <a:ext cx="5438775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350">
                <a:solidFill>
                  <a:srgbClr val="2A2333"/>
                </a:solidFill>
                <a:latin typeface="Verdana"/>
                <a:ea typeface="Verdana"/>
              </a:rPr>
              <a:t>Yang paling berguna justru satu daftar ini: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857250" y="5724525"/>
            <a:ext cx="5438775" cy="2952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Belum pernah ambil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6057900"/>
            <a:ext cx="54387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2A2333"/>
                </a:solidFill>
                <a:latin typeface="Verdana"/>
                <a:ea typeface="Verdana"/>
              </a:rPr>
              <a:t>merekalah yang bisa diajak lebih dulu bulan depan.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791325" y="1238250"/>
            <a:ext cx="4791075" cy="5048250"/>
          </a:xfrm>
          <a:prstGeom prst="roundRect">
            <a:avLst>
              <a:gd name="adj" fmla="val 397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143750" y="1714500"/>
            <a:ext cx="4095750" cy="4095750"/>
          </a:xfrm>
          <a:prstGeom prst="rect">
            <a:avLst/>
          </a:prstGeom>
          <a:ln/>
        </p:spPr>
      </p:pic>
    </p:spTree>
  </p:cSld>
</p:sld>
</file>

<file path=ppt/slides/slide1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2" name="" descr="&lt;Slide&#10;    style={{&#10;        width: '1280px',&#10;        height: '720px',&#10;        background: '#FAF7F2',&#10;        paddingTop: 20,&#10;        paddingBottom: 20,&#10;        paddingLeft: 64,&#10;        paddingRight: 64,&#10;    }}&#10;&gt;&#10;    {/* ── A · blok judul ── */}&#10;    &lt;Box style={{ height: 110, justifyContent: 'center' }}&gt;&#10;        &lt;Text&#10;            style={{&#10;                fontSize: 34,&#10;                fontWeight: 'bold',&#10;                color: '#51277C',&#10;                fontFamily: 'Trebuchet MS',&#10;                lineHeight: 1.3,&#10;            }}&#10;        &gt;&#10;            Empat hal yang perlu diingat&#10;        &lt;/Text&gt;&#10;        &lt;Box style={{ marginTop: 10, width: 72, height: 6, borderRadius: 3, background: '#51277C' }} /&gt;&#10;    &lt;/Box&gt;&#10;&#10;    {/* ── B · area konten ── */}&#10;    &lt;Box style={{ height: 530 }}&gt;&#10;        &lt;Box style={{ height: 470, flexDirection: 'row', gap: 18 }}&gt;&#10;            {[&#10;                {&#10;                    d: 'M7 2v3M17 2v3M3 9h18M5 5h14a2 2 0 0 1 2 2v12a2 2 0 0 1-2 2H5a2 2 0 0 1-2-2V7a2 2 0 0 1 2-2zM8 13h8',&#10;                    t: 'Kosongkan petugas sebelum terbit',&#10;                    d: 'Bila tanggalnya ingin direbut orang tua, biarkan petugas kosong sebelum dipublikasikan. Setelah terbit, yang masih bisa diisi hanya petugas — menu &amp; catatan tetap terkunci.',&#10;                    g: 'Tentukan sebelum kunci',&#10;                },&#10;                {&#10;                    d: 'M7 4h10a3 3 0 0 1 3 3v10a3 3 0 0 1-3 3H7a3 3 0 0 1-3-3V7a3 3 0 0 1 3-3zM7 11l2 2 3-4M8 16h7',&#10;                    t: 'Selesaikan semua dulu',&#10;                    d: 'Publikasi menolak selama masih ada hari yang belum dikunci. Periksa kartu status per kelas sebelum menekan tombolnya.',&#10;                    g: 'Jangan separuh jadi',&#10;                },&#10;                {&#10;                    d: 'M7 11h10a2 2 0 0 1 2 2v6a2 2 0 0 1-2 2H7a2 2 0 0 1-2-2v-6a2 2 0 0 1 2-2zM8 11V8a4 4 0 0 1 7.5-2',&#10;                    t: 'Revisi sesudah terbit: minta admin',&#10;                    d: 'Membuka kunci jadwal wewenang admin. Korlas tidak bisa mencairkan jadwal yang sudah dikunci atau terbit.',&#10;                    g: 'Sampaikan ke admin',&#10;                },&#10;                {&#10;                    d: 'M7 2v3M17 2v3M3 9h18M5 5h14a2 2 0 0 1 2 2v12a2 2 0 0 1-2 2H5a2 2 0 0 1-2-2V7a2 2 0 0 1 2-2zM9 14l6 6M15 14l-6 6',&#10;                    t: 'Hari libur sekolah wewenang admin',&#10;                    d: 'Korlas bisa menandai libur pada jadwal kelasnya sendiri. Hari libur yang berlaku untuk semua kelas ditambahkan admin.',&#10;                    g: 'Berlaku sekolah',&#10;                },&#10;            ].map((c, idx) =&gt; (&#10;                &lt;Box&#10;                    key={idx}&#10;                    style={{&#10;                        flex: 1,&#10;                        height: '100%',&#10;                        background: '#FFFFFF',&#10;                        borderRadius: 16,&#10;                        boxShadow: '0 4px 20px rgba(0,0,0,0.08)',&#10;                        padding: 24,&#10;                        borderTop: '8px solid #AFC440',&#10;                    }}&#10;                &gt;&#10;                    &lt;Box&#10;                        style={{&#10;                            width: 60,&#10;                            height: 60,&#10;                            borderRadius: 30,&#10;                            background: 'rgba(81,39,124,0.10)',&#10;                            justifyContent: 'center',&#10;                            alignItems: 'center',&#10;                        }}&#10;                    &gt;&#10;                        &lt;svg width={30} height={30} viewBox='0 0 24 24' xmlns=&quot;http://www.w3.org/2000/svg&quot;&gt;&#10;                            &lt;path&#10;                                fill='none'&#10;                                stroke='#51277C'&#10;                                strokeWidth='2'&#10;                                strokeLinecap='round'&#10;                                strokeLinejoin='round'&#10;                                d={c.d}&#10;                            /&gt;&#10;                        &lt;/svg&gt;&#10;                    &lt;/Box&gt;&#10;&#10;                    &lt;Text&#10;                        style={{&#10;                            marginTop: 16,&#10;                            fontSize: 23,&#10;                            fontWeight: 'bold',&#10;                            color: '#51277C',&#10;                            fontFamily: 'Trebuchet MS',&#10;                            lineHeight: 1.32,&#10;                        }}&#10;                    &gt;&#10;                        {c.t}&#10;                    &lt;/Text&gt;&#10;&#10;                    &lt;Box style={{ marginTop: 12, width: 44, height: 3, borderRadius: 2, background: '#AFC440' }} /&gt;&#10;&#10;                    &lt;Text&#10;                        style={{&#10;                            marginTop: 12,&#10;                            fontSize: 17,&#10;                            color: '#6B6478',&#10;                            fontFamily: 'Verdana',&#10;                            lineHeight: 1.5,&#10;                        }}&#10;                    &gt;&#10;                        {c.d}&#10;                    &lt;/Text&gt;&#10;&#10;                    &lt;Box style={{ marginTop: 'auto' }}&gt;&#10;                        &lt;Text&#10;                            style={{&#10;                                fontSize: 16,&#10;                                color: '#51277C',&#10;                                fontFamily: 'Verdana',&#10;                                fontWeight: 'bold',&#10;                            }}&#10;                        &gt;&#10;                            {c.g}&#10;                        &lt;/Text&gt;&#10;                    &lt;/Box&gt;&#10;                &lt;/Box&gt;&#10;            ))}&#10;        &lt;/Box&gt;&#10;&#10;        {/* simpulan */}&#10;        &lt;Box&#10;            style={{&#10;                marginTop: 14,&#10;                height: 46,&#10;                background: '#51277C',&#10;                borderRadius: 14,&#10;                justifyContent: 'center',&#10;                alignItems: 'center',&#10;            }}&#10;        &gt;&#10;            &lt;Text&#10;                style={{&#10;                    fontSize: 19,&#10;                    color: '#FFFFFF',&#10;                    fontFamily: 'Verdana',&#10;                    fontWeight: 'bold',&#10;                }}&#10;            &gt;&#10;                Intinya: susun, tentukan petugas, kunci, lalu terbitkan.&#10;            &lt;/Text&gt;&#10;        &lt;/Box&gt;&#10;    &lt;/Box&gt;&#10;&#10;    {/* ── C · bilah kaki ── */}&#10;    &lt;Box&#10;        style={{&#10;            height: 40,&#10;            flexDirection: 'row',&#10;            alignItems: 'center',&#10;            justifyContent: 'space-between',&#10;        }}&#10;    &gt;&#10;        &lt;Text style={{ fontSize: 14, color: '#6B6478', fontFamily: 'Verdana' }}&gt;&#10;            Pizza Snack Play · Panduan Korlas &amp;amp; Admin&#10;        &lt;/Text&gt;&#10;        &lt;Text style={{ fontSize: 14, color: '#6B6478', fontFamily: 'Verdana' }}&gt;1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51277C"/>
                </a:solidFill>
                <a:latin typeface="Trebuchet MS"/>
                <a:ea typeface="Trebuchet MS"/>
              </a:rPr>
              <a:t>Empat hal yang perlu diingat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990600"/>
            <a:ext cx="685800" cy="5715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609600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7" name=""/>
          <p:cNvSpPr/>
          <p:nvPr/>
        </p:nvSpPr>
        <p:spPr>
          <a:xfrm rot="0" flipH="0" flipV="0">
            <a:off x="609600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08" name=""/>
          <p:cNvSpPr/>
          <p:nvPr/>
        </p:nvSpPr>
        <p:spPr>
          <a:xfrm rot="0" flipH="0" flipV="0">
            <a:off x="83820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09" name="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685925"/>
            <a:ext cx="285750" cy="285750"/>
          </a:xfrm>
          <a:prstGeom prst="rect">
            <a:avLst/>
          </a:prstGeom>
          <a:ln/>
        </p:spPr>
      </p:pic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38200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Kosongkan petugas sebelum terbit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83820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38200" y="3219450"/>
            <a:ext cx="2162175" cy="2333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Bila tanggalnya ingin direbut orang tua, biarkan petugas kosong sebelum dipublikasikan. Setelah terbit, yang masih bisa diisi hanya petugas — menu &amp; catatan tetap terkunci.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Tentukan sebelum kunci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3400425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3400425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16" name=""/>
          <p:cNvSpPr/>
          <p:nvPr/>
        </p:nvSpPr>
        <p:spPr>
          <a:xfrm rot="0" flipH="0" flipV="0">
            <a:off x="36290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17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1685925"/>
            <a:ext cx="285750" cy="285750"/>
          </a:xfrm>
          <a:prstGeom prst="rect">
            <a:avLst/>
          </a:prstGeom>
          <a:ln/>
        </p:spPr>
      </p:pic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3629025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Selesaikan semua dulu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36290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629025" y="3219450"/>
            <a:ext cx="21526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Publikasi menolak selama masih ada hari yang belum dikunci. Periksa kartu status per kelas sebelum menekan tombolnya.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3629025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Jangan separuh jadi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181725" y="1314450"/>
            <a:ext cx="2619375" cy="447675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181725" y="1314450"/>
            <a:ext cx="2619375" cy="4476750"/>
          </a:xfrm>
          <a:custGeom>
            <a:pathLst>
              <a:path w="275" h="470">
                <a:moveTo>
                  <a:pt x="260" y="0"/>
                </a:moveTo>
                <a:cubicBezTo>
                  <a:pt x="267" y="0"/>
                  <a:pt x="274" y="6"/>
                  <a:pt x="275" y="14"/>
                </a:cubicBezTo>
                <a:cubicBezTo>
                  <a:pt x="274" y="10"/>
                  <a:pt x="271" y="8"/>
                  <a:pt x="267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6410325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53200" y="1685925"/>
            <a:ext cx="285750" cy="28575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410325" y="2266950"/>
            <a:ext cx="2162175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Revisi sesudah terbit: minta admin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410325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410325" y="3219450"/>
            <a:ext cx="2162175" cy="1457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Membuka kunci jadwal wewenang admin. Korlas tidak bisa mencairkan jadwal yang sudah dikunci atau terbit.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10325" y="5295900"/>
            <a:ext cx="21621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Sampaikan ke admin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8972550" y="1314450"/>
            <a:ext cx="2609850" cy="4476750"/>
          </a:xfrm>
          <a:prstGeom prst="roundRect">
            <a:avLst>
              <a:gd name="adj" fmla="val 583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8972550" y="1314450"/>
            <a:ext cx="2609850" cy="4476750"/>
          </a:xfrm>
          <a:custGeom>
            <a:pathLst>
              <a:path w="274" h="470">
                <a:moveTo>
                  <a:pt x="259" y="0"/>
                </a:moveTo>
                <a:cubicBezTo>
                  <a:pt x="266" y="0"/>
                  <a:pt x="273" y="6"/>
                  <a:pt x="274" y="14"/>
                </a:cubicBezTo>
                <a:cubicBezTo>
                  <a:pt x="273" y="10"/>
                  <a:pt x="270" y="8"/>
                  <a:pt x="266" y="8"/>
                </a:cubicBezTo>
                <a:lnTo>
                  <a:pt x="8" y="8"/>
                </a:lnTo>
                <a:cubicBezTo>
                  <a:pt x="4" y="8"/>
                  <a:pt x="1" y="11"/>
                  <a:pt x="0" y="14"/>
                </a:cubicBezTo>
                <a:cubicBezTo>
                  <a:pt x="1" y="6"/>
                  <a:pt x="8" y="0"/>
                  <a:pt x="16" y="0"/>
                </a:cubicBezTo>
                <a:lnTo>
                  <a:pt x="25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9201150" y="1543050"/>
            <a:ext cx="571500" cy="571500"/>
          </a:xfrm>
          <a:prstGeom prst="roundRect">
            <a:avLst>
              <a:gd name="adj" fmla="val 50000"/>
            </a:avLst>
          </a:prstGeom>
          <a:solidFill>
            <a:srgbClr val="51277C">
              <a:alpha val="10000"/>
            </a:srgbClr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344025" y="1685925"/>
            <a:ext cx="285750" cy="2857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201150" y="2266950"/>
            <a:ext cx="21526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2000"/>
              </a:lnSpc>
            </a:pPr>
            <a:r>
              <a:rPr lang="en-US" sz="1725" b="1">
                <a:solidFill>
                  <a:srgbClr val="51277C"/>
                </a:solidFill>
                <a:latin typeface="Trebuchet MS"/>
                <a:ea typeface="Trebuchet MS"/>
              </a:rPr>
              <a:t>Hari libur sekolah wewenang admin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9201150" y="3076575"/>
            <a:ext cx="419100" cy="28575"/>
          </a:xfrm>
          <a:prstGeom prst="roundRect">
            <a:avLst>
              <a:gd name="adj" fmla="val 66667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9201150" y="3219450"/>
            <a:ext cx="2152650" cy="1752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Verdana"/>
                <a:ea typeface="Verdana"/>
              </a:rPr>
              <a:t>Korlas bisa menandai libur pada jadwal kelasnya sendiri. Hari libur yang berlaku untuk semua kelas ditambahkan admin.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9201150" y="52959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Verdana"/>
                <a:ea typeface="Verdana"/>
              </a:rPr>
              <a:t>Berlaku sekolah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09600" y="5848350"/>
            <a:ext cx="10972800" cy="438150"/>
          </a:xfrm>
          <a:prstGeom prst="roundRect">
            <a:avLst>
              <a:gd name="adj" fmla="val 30435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276600" y="5962650"/>
            <a:ext cx="5638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Verdana"/>
                <a:ea typeface="Verdana"/>
              </a:rPr>
              <a:t>Intinya: susun, tentukan petugas, kunci, lalu terbitkan.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905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Pizza Snack Play · Panduan Korlas &amp; Admin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087100" y="6400800"/>
            <a:ext cx="495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Verdana"/>
                <a:ea typeface="Verdana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42" name="" descr="&lt;Slide&#10;    style={{&#10;        width: '1280px',&#10;        height: '720px',&#10;        background: '#FAF7F2',&#10;        justifyContent: 'center',&#10;        alignItems: 'center',&#10;        position: 'relative',&#10;        overflow: 'hidden',&#10;    }}&#10;&gt;&#10;    &lt;Box&#10;        style={{&#10;            position: 'absolute',&#10;            top: 90,&#10;            width: 520,&#10;            height: 520,&#10;            borderRadius: 260,&#10;            background: 'linear-gradient(135deg, #51277C 0%, #7A45A8 100%)',&#10;            opacity: 0.10,&#10;        }}&#10;    /&gt;&#10;    &lt;Box&#10;        style={{&#10;            position: 'absolute',&#10;            bottom: -80,&#10;            left: -80,&#10;            width: 320,&#10;            height: 320,&#10;            borderRadius: 160,&#10;            background: 'linear-gradient(135deg, #AFC440 0%, #F3B26C 100%)',&#10;            opacity: 0.18,&#10;        }}&#10;    /&gt;&#10;&#10;    &lt;Box style={{ position: 'relative', zIndex: 1, alignItems: 'center', paddingLeft: 72, paddingRight: 72 }}&gt;&#10;        &lt;Image src=&quot;assets/app_logo.png&quot; style={{ width: 200, height: 194, objectFit: 'contain' }} /&gt;&#10;&#10;        &lt;Text&#10;            style={{&#10;                marginTop: 26,&#10;                fontSize: 60,&#10;                fontWeight: 'bold',&#10;                color: '#51277C',&#10;                fontFamily: 'Trebuchet MS',&#10;                lineHeight: 1.15,&#10;            }}&#10;        &gt;&#10;            Terima kasih&#10;        &lt;/Text&gt;&#10;&#10;        &lt;Box style={{ marginTop: 18, width: 96, height: 7, borderRadius: 4, background: '#AFC440' }} /&gt;&#10;&#10;        &lt;Text&#10;            style={{&#10;                marginTop: 22,&#10;                fontSize: 22,&#10;                color: '#2A2333',&#10;                fontFamily: 'Verdana',&#10;                lineHeight: 1.5,&#10;                textAlign: 'center',&#10;            }}&#10;        &gt;&#10;            Coba tempel jadwal dari teks sekolah minggu ini, lalu periksa Laporannya.&#10;        &lt;/Text&gt;&#10;&#10;        &lt;Text&#10;            style={{&#10;                marginTop: 14,&#10;                fontSize: 19,&#10;                color: '#6B6478',&#10;                fontFamily: 'Verdana',&#10;                lineHeight: 1.5,&#10;                textAlign: 'center',&#10;            }}&#10;        &gt;&#10;            Ada yang tidak beres? Sampaikan kepada admin sekolah.&#10;        &lt;/Text&gt;&#10;&#10;        &lt;Box&#10;            style={{&#10;                marginTop: 26,&#10;                flexDirection: 'row',&#10;                alignItems: 'center',&#10;                gap: 12,&#10;                background: '#F3B26C',&#10;                borderRadius: 999,&#10;                paddingTop: 13,&#10;                paddingBottom: 13,&#10;                paddingLeft: 28,&#10;                paddingRight: 30,&#10;            }}&#10;        &gt;&#10;            &lt;svg width={22} height={22} viewBox=&quot;0 0 576 512&quot; xmlns=&quot;http://www.w3.org/2000/svg&quot;&gt;&lt;path fill=&quot;#51277C&quot; d=&quot;M316.9 18C311.6 7 300.4 0 288.1 0s-23.4 7-28.8 18L195 150.3 51.4 171.5c-12 1.8-22 10.2-25.7 21.7s-.7 24.2 7.9 32.7L137.8 329 113.2 474.7c-2 12 3 24.2 12.9 31.3s23 8 33.8 2.3l128.3-68.5 128.3 68.5c10.8 5.7 23.9 4.9 33.8-2.3s14.9-19.3 12.9-31.3L438.5 329 542.7 225.9c8.6-8.5 11.7-21.2 7.9-32.7s-13.7-19.9-25.7-21.7L381.2 150.3 316.9 18z&quot; /&gt;&lt;/svg&gt;&#10;            &lt;Text style={{ fontSize: 19, color: '#51277C', fontFamily: 'Trebuchet MS', fontWeight: 'bold' }}&gt;&#10;                Pizza Snack Play&#10;            &lt;/Text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3619500" y="857250"/>
            <a:ext cx="4953000" cy="4953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-762000" y="4572000"/>
            <a:ext cx="3048000" cy="3048000"/>
          </a:xfrm>
          <a:custGeom>
            <a:pathLst>
              <a:path w="320" h="320">
                <a:moveTo>
                  <a:pt x="164" y="0"/>
                </a:moveTo>
                <a:cubicBezTo>
                  <a:pt x="221" y="2"/>
                  <a:pt x="272" y="33"/>
                  <a:pt x="300" y="82"/>
                </a:cubicBezTo>
                <a:cubicBezTo>
                  <a:pt x="327" y="131"/>
                  <a:pt x="327" y="191"/>
                  <a:pt x="299" y="240"/>
                </a:cubicBezTo>
                <a:lnTo>
                  <a:pt x="80" y="240"/>
                </a:lnTo>
                <a:lnTo>
                  <a:pt x="80" y="21"/>
                </a:lnTo>
                <a:cubicBezTo>
                  <a:pt x="104" y="7"/>
                  <a:pt x="132" y="0"/>
                  <a:pt x="16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8000"/>
                </a:srgbClr>
              </a:gs>
              <a:gs pos="100000">
                <a:srgbClr val="F3B26C">
                  <a:alpha val="18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46" name=""/>
          <p:cNvPicPr>
            <a:picLocks noChangeAspect="1"/>
          </p:cNvPicPr>
          <p:nvPr/>
        </p:nvPicPr>
        <p:blipFill>
          <a:blip r:embed="rId1"/>
          <a:srcRect l="0" t="52" r="0" b="52"/>
          <a:stretch>
            <a:fillRect/>
          </a:stretch>
        </p:blipFill>
        <p:spPr>
          <a:xfrm rot="0" flipH="0" flipV="0">
            <a:off x="5143500" y="981075"/>
            <a:ext cx="1905000" cy="184785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4419600" y="3076575"/>
            <a:ext cx="33528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51277C"/>
                </a:solidFill>
                <a:latin typeface="Trebuchet MS"/>
                <a:ea typeface="Trebuchet MS"/>
              </a:rPr>
              <a:t>Terima kasih</a:t>
            </a:r>
            <a:endParaRPr/>
          </a:p>
        </p:txBody>
      </p:sp>
      <p:sp>
        <p:nvSpPr>
          <p:cNvPr id="148" name=""/>
          <p:cNvSpPr/>
          <p:nvPr/>
        </p:nvSpPr>
        <p:spPr>
          <a:xfrm rot="0" flipH="0" flipV="0">
            <a:off x="5638800" y="4038600"/>
            <a:ext cx="914400" cy="66675"/>
          </a:xfrm>
          <a:prstGeom prst="roundRect">
            <a:avLst>
              <a:gd name="adj" fmla="val 57143"/>
            </a:avLst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2162175" y="4314825"/>
            <a:ext cx="7867650" cy="381000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650">
                <a:solidFill>
                  <a:srgbClr val="2A2333"/>
                </a:solidFill>
                <a:latin typeface="Verdana"/>
                <a:ea typeface="Verdana"/>
              </a:rPr>
              <a:t>Coba tempel jadwal dari teks sekolah minggu ini, lalu periksa Laporannya.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3467100" y="4829175"/>
            <a:ext cx="5267325" cy="3333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en-US" sz="1425">
                <a:solidFill>
                  <a:srgbClr val="6B6478"/>
                </a:solidFill>
                <a:latin typeface="Verdana"/>
                <a:ea typeface="Verdana"/>
              </a:rPr>
              <a:t>Ada yang tidak beres? Sampaikan kepada admin sekolah.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4962525" y="5410200"/>
            <a:ext cx="2276475" cy="466725"/>
          </a:xfrm>
          <a:prstGeom prst="roundRect">
            <a:avLst>
              <a:gd name="adj" fmla="val 2038776"/>
            </a:avLst>
          </a:prstGeom>
          <a:solidFill>
            <a:srgbClr val="F3B26C"/>
          </a:solidFill>
          <a:ln/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229225" y="5543550"/>
            <a:ext cx="209550" cy="209550"/>
          </a:xfrm>
          <a:prstGeom prst="rect">
            <a:avLst/>
          </a:prstGeom>
          <a:ln/>
        </p:spPr>
      </p:pic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5553075" y="5534025"/>
            <a:ext cx="1400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2026-09-30T16:59:59Z</dcterms:created>
  <dcterms:modified xsi:type="dcterms:W3CDTF">2026-09-30T16:59:59Z</dcterms:modified>
</cp:coreProperties>
</file>