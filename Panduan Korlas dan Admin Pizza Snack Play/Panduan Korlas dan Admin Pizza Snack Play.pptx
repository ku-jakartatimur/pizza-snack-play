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ppt/theme/theme1.xml" ContentType="application/vnd.openxmlformats-officedocument.them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3" Type="http://schemas.openxmlformats.org/officeDocument/2006/relationships/slide" Target="slides/slide3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notesMaster" Target="notesMasters/notesMaster1.xml" /><Relationship Id="rId19" Type="http://schemas.openxmlformats.org/officeDocument/2006/relationships/presProps" Target="presProps.xml" /><Relationship Id="rId2" Type="http://schemas.openxmlformats.org/officeDocument/2006/relationships/slide" Target="slides/slide2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0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1.svg" /><Relationship Id="rId2" Type="http://schemas.openxmlformats.org/officeDocument/2006/relationships/image" Target="media/image22.svg" /><Relationship Id="rId3" Type="http://schemas.openxmlformats.org/officeDocument/2006/relationships/image" Target="media/image2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4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5.svg" /><Relationship Id="rId3" Type="http://schemas.openxmlformats.org/officeDocument/2006/relationships/image" Target="media/image6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Relationship Id="rId2" Type="http://schemas.openxmlformats.org/officeDocument/2006/relationships/image" Target="media/image13.svg" /><Relationship Id="rId3" Type="http://schemas.openxmlformats.org/officeDocument/2006/relationships/image" Target="media/image14.svg" /><Relationship Id="rId4" Type="http://schemas.openxmlformats.org/officeDocument/2006/relationships/image" Target="media/image15.svg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media/image16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7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8382000" y="-1333500"/>
            <a:ext cx="4953000" cy="4953000"/>
          </a:xfrm>
          <a:custGeom>
            <a:pathLst>
              <a:path w="520" h="520">
                <a:moveTo>
                  <a:pt x="400" y="479"/>
                </a:moveTo>
                <a:lnTo>
                  <a:pt x="395" y="482"/>
                </a:lnTo>
                <a:lnTo>
                  <a:pt x="389" y="486"/>
                </a:lnTo>
                <a:lnTo>
                  <a:pt x="384" y="489"/>
                </a:lnTo>
                <a:lnTo>
                  <a:pt x="378" y="492"/>
                </a:lnTo>
                <a:lnTo>
                  <a:pt x="373" y="494"/>
                </a:lnTo>
                <a:lnTo>
                  <a:pt x="367" y="497"/>
                </a:lnTo>
                <a:lnTo>
                  <a:pt x="361" y="500"/>
                </a:lnTo>
                <a:lnTo>
                  <a:pt x="355" y="502"/>
                </a:lnTo>
                <a:lnTo>
                  <a:pt x="349" y="504"/>
                </a:lnTo>
                <a:lnTo>
                  <a:pt x="343" y="506"/>
                </a:lnTo>
                <a:lnTo>
                  <a:pt x="337" y="508"/>
                </a:lnTo>
                <a:lnTo>
                  <a:pt x="331" y="510"/>
                </a:lnTo>
                <a:lnTo>
                  <a:pt x="325" y="512"/>
                </a:lnTo>
                <a:lnTo>
                  <a:pt x="319" y="513"/>
                </a:lnTo>
                <a:lnTo>
                  <a:pt x="312" y="515"/>
                </a:lnTo>
                <a:lnTo>
                  <a:pt x="306" y="516"/>
                </a:lnTo>
                <a:lnTo>
                  <a:pt x="300" y="517"/>
                </a:lnTo>
                <a:lnTo>
                  <a:pt x="293" y="518"/>
                </a:lnTo>
                <a:lnTo>
                  <a:pt x="287" y="519"/>
                </a:lnTo>
                <a:lnTo>
                  <a:pt x="280" y="519"/>
                </a:lnTo>
                <a:lnTo>
                  <a:pt x="273" y="520"/>
                </a:lnTo>
                <a:lnTo>
                  <a:pt x="267" y="520"/>
                </a:lnTo>
                <a:lnTo>
                  <a:pt x="260" y="520"/>
                </a:lnTo>
                <a:lnTo>
                  <a:pt x="253" y="520"/>
                </a:lnTo>
                <a:lnTo>
                  <a:pt x="247" y="520"/>
                </a:lnTo>
                <a:lnTo>
                  <a:pt x="240" y="519"/>
                </a:lnTo>
                <a:lnTo>
                  <a:pt x="233" y="519"/>
                </a:lnTo>
                <a:lnTo>
                  <a:pt x="227" y="518"/>
                </a:lnTo>
                <a:lnTo>
                  <a:pt x="220" y="517"/>
                </a:lnTo>
                <a:lnTo>
                  <a:pt x="214" y="516"/>
                </a:lnTo>
                <a:lnTo>
                  <a:pt x="208" y="515"/>
                </a:lnTo>
                <a:lnTo>
                  <a:pt x="201" y="513"/>
                </a:lnTo>
                <a:lnTo>
                  <a:pt x="195" y="512"/>
                </a:lnTo>
                <a:lnTo>
                  <a:pt x="189" y="510"/>
                </a:lnTo>
                <a:lnTo>
                  <a:pt x="183" y="508"/>
                </a:lnTo>
                <a:lnTo>
                  <a:pt x="177" y="506"/>
                </a:lnTo>
                <a:lnTo>
                  <a:pt x="171" y="504"/>
                </a:lnTo>
                <a:lnTo>
                  <a:pt x="165" y="502"/>
                </a:lnTo>
                <a:lnTo>
                  <a:pt x="159" y="500"/>
                </a:lnTo>
                <a:lnTo>
                  <a:pt x="153" y="497"/>
                </a:lnTo>
                <a:lnTo>
                  <a:pt x="147" y="494"/>
                </a:lnTo>
                <a:lnTo>
                  <a:pt x="142" y="492"/>
                </a:lnTo>
                <a:lnTo>
                  <a:pt x="136" y="489"/>
                </a:lnTo>
                <a:lnTo>
                  <a:pt x="131" y="486"/>
                </a:lnTo>
                <a:lnTo>
                  <a:pt x="125" y="482"/>
                </a:lnTo>
                <a:lnTo>
                  <a:pt x="120" y="479"/>
                </a:lnTo>
                <a:lnTo>
                  <a:pt x="115" y="476"/>
                </a:lnTo>
                <a:lnTo>
                  <a:pt x="110" y="472"/>
                </a:lnTo>
                <a:lnTo>
                  <a:pt x="104" y="468"/>
                </a:lnTo>
                <a:lnTo>
                  <a:pt x="100" y="465"/>
                </a:lnTo>
                <a:lnTo>
                  <a:pt x="95" y="461"/>
                </a:lnTo>
                <a:lnTo>
                  <a:pt x="90" y="457"/>
                </a:lnTo>
                <a:lnTo>
                  <a:pt x="85" y="452"/>
                </a:lnTo>
                <a:lnTo>
                  <a:pt x="81" y="448"/>
                </a:lnTo>
                <a:lnTo>
                  <a:pt x="76" y="444"/>
                </a:lnTo>
                <a:lnTo>
                  <a:pt x="72" y="439"/>
                </a:lnTo>
                <a:lnTo>
                  <a:pt x="68" y="435"/>
                </a:lnTo>
                <a:lnTo>
                  <a:pt x="63" y="430"/>
                </a:lnTo>
                <a:lnTo>
                  <a:pt x="59" y="425"/>
                </a:lnTo>
                <a:lnTo>
                  <a:pt x="55" y="420"/>
                </a:lnTo>
                <a:lnTo>
                  <a:pt x="52" y="416"/>
                </a:lnTo>
                <a:lnTo>
                  <a:pt x="48" y="410"/>
                </a:lnTo>
                <a:lnTo>
                  <a:pt x="44" y="405"/>
                </a:lnTo>
                <a:lnTo>
                  <a:pt x="41" y="400"/>
                </a:lnTo>
                <a:lnTo>
                  <a:pt x="38" y="395"/>
                </a:lnTo>
                <a:lnTo>
                  <a:pt x="34" y="389"/>
                </a:lnTo>
                <a:lnTo>
                  <a:pt x="31" y="384"/>
                </a:lnTo>
                <a:lnTo>
                  <a:pt x="28" y="378"/>
                </a:lnTo>
                <a:lnTo>
                  <a:pt x="26" y="373"/>
                </a:lnTo>
                <a:lnTo>
                  <a:pt x="23" y="367"/>
                </a:lnTo>
                <a:lnTo>
                  <a:pt x="20" y="361"/>
                </a:lnTo>
                <a:lnTo>
                  <a:pt x="18" y="355"/>
                </a:lnTo>
                <a:lnTo>
                  <a:pt x="16" y="349"/>
                </a:lnTo>
                <a:lnTo>
                  <a:pt x="14" y="343"/>
                </a:lnTo>
                <a:lnTo>
                  <a:pt x="12" y="337"/>
                </a:lnTo>
                <a:lnTo>
                  <a:pt x="10" y="331"/>
                </a:lnTo>
                <a:lnTo>
                  <a:pt x="8" y="325"/>
                </a:lnTo>
                <a:lnTo>
                  <a:pt x="7" y="319"/>
                </a:lnTo>
                <a:lnTo>
                  <a:pt x="5" y="312"/>
                </a:lnTo>
                <a:lnTo>
                  <a:pt x="4" y="306"/>
                </a:lnTo>
                <a:lnTo>
                  <a:pt x="3" y="300"/>
                </a:lnTo>
                <a:lnTo>
                  <a:pt x="2" y="293"/>
                </a:lnTo>
                <a:lnTo>
                  <a:pt x="1" y="287"/>
                </a:lnTo>
                <a:lnTo>
                  <a:pt x="1" y="280"/>
                </a:lnTo>
                <a:lnTo>
                  <a:pt x="0" y="273"/>
                </a:lnTo>
                <a:lnTo>
                  <a:pt x="0" y="267"/>
                </a:lnTo>
                <a:lnTo>
                  <a:pt x="0" y="260"/>
                </a:lnTo>
                <a:lnTo>
                  <a:pt x="0" y="253"/>
                </a:lnTo>
                <a:lnTo>
                  <a:pt x="0" y="247"/>
                </a:lnTo>
                <a:lnTo>
                  <a:pt x="1" y="240"/>
                </a:lnTo>
                <a:lnTo>
                  <a:pt x="1" y="233"/>
                </a:lnTo>
                <a:lnTo>
                  <a:pt x="2" y="227"/>
                </a:lnTo>
                <a:lnTo>
                  <a:pt x="3" y="220"/>
                </a:lnTo>
                <a:lnTo>
                  <a:pt x="4" y="214"/>
                </a:lnTo>
                <a:lnTo>
                  <a:pt x="5" y="208"/>
                </a:lnTo>
                <a:lnTo>
                  <a:pt x="7" y="201"/>
                </a:lnTo>
                <a:lnTo>
                  <a:pt x="8" y="195"/>
                </a:lnTo>
                <a:lnTo>
                  <a:pt x="10" y="189"/>
                </a:lnTo>
                <a:lnTo>
                  <a:pt x="12" y="183"/>
                </a:lnTo>
                <a:lnTo>
                  <a:pt x="14" y="177"/>
                </a:lnTo>
                <a:lnTo>
                  <a:pt x="16" y="171"/>
                </a:lnTo>
                <a:lnTo>
                  <a:pt x="18" y="165"/>
                </a:lnTo>
                <a:lnTo>
                  <a:pt x="20" y="159"/>
                </a:lnTo>
                <a:lnTo>
                  <a:pt x="23" y="153"/>
                </a:lnTo>
                <a:lnTo>
                  <a:pt x="26" y="147"/>
                </a:lnTo>
                <a:lnTo>
                  <a:pt x="28" y="142"/>
                </a:lnTo>
                <a:lnTo>
                  <a:pt x="29" y="140"/>
                </a:lnTo>
                <a:lnTo>
                  <a:pt x="400" y="140"/>
                </a:lnTo>
                <a:close/>
              </a:path>
            </a:pathLst>
          </a:cu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-762000" y="4286250"/>
            <a:ext cx="3429000" cy="3429000"/>
          </a:xfrm>
          <a:custGeom>
            <a:pathLst>
              <a:path w="360" h="360">
                <a:moveTo>
                  <a:pt x="185" y="0"/>
                </a:moveTo>
                <a:cubicBezTo>
                  <a:pt x="248" y="2"/>
                  <a:pt x="306" y="37"/>
                  <a:pt x="337" y="92"/>
                </a:cubicBezTo>
                <a:cubicBezTo>
                  <a:pt x="368" y="147"/>
                  <a:pt x="368" y="215"/>
                  <a:pt x="336" y="270"/>
                </a:cubicBezTo>
                <a:lnTo>
                  <a:pt x="80" y="270"/>
                </a:lnTo>
                <a:lnTo>
                  <a:pt x="80" y="30"/>
                </a:lnTo>
                <a:cubicBezTo>
                  <a:pt x="110" y="11"/>
                  <a:pt x="144" y="0"/>
                  <a:pt x="18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609600" y="1790700"/>
            <a:ext cx="2943225" cy="371475"/>
          </a:xfrm>
          <a:prstGeom prst="roundRect">
            <a:avLst>
              <a:gd name="adj" fmla="val 2561538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885950"/>
            <a:ext cx="190500" cy="19050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085850" y="18764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Verdana"/>
                <a:ea typeface="Verdana"/>
              </a:rPr>
              <a:t>Panduan Korlas &amp; Admin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5915025" cy="819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400425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14750"/>
            <a:ext cx="5915025" cy="819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Menyusun jadwal snack kelas, menentukan petugas, lalu</a:t>
            </a:r>
            <a:r>
              <a:rPr lang="en-US" sz="1725" b="1">
                <a:solidFill>
                  <a:srgbClr val="51277C"/>
                </a:solidFill>
                <a:latin typeface="Verdana"/>
                <a:ea typeface="Verdana"/>
              </a:rPr>
              <a:t xml:space="preserve"> menerbitkannya ke orang tua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.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4743450"/>
            <a:ext cx="59150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Dari awal sampai terbit — bisa dikerjakan sendiri.</a:t>
            </a:r>
            <a:endParaRPr/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Id2"/>
          <a:srcRect l="0" t="52" r="0" b="52"/>
          <a:stretch>
            <a:fillRect/>
          </a:stretch>
        </p:blipFill>
        <p:spPr>
          <a:xfrm rot="0" flipH="0" flipV="0">
            <a:off x="7610475" y="1219200"/>
            <a:ext cx="3810000" cy="36957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8115300" y="5086350"/>
            <a:ext cx="2800350" cy="552450"/>
          </a:xfrm>
          <a:prstGeom prst="roundRect">
            <a:avLst>
              <a:gd name="adj" fmla="val 24138"/>
            </a:avLst>
          </a:prstGeom>
          <a:solidFill>
            <a:srgbClr val="51277C">
              <a:alpha val="7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5200650"/>
            <a:ext cx="323850" cy="323850"/>
          </a:xfrm>
          <a:prstGeom prst="rect">
            <a:avLst/>
          </a:prstGeom>
          <a:ln/>
        </p:spPr>
      </p:pic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763000" y="5257800"/>
            <a:ext cx="194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Verdana"/>
                <a:ea typeface="Verdana"/>
              </a:rPr>
              <a:t>Senin sampai Jumat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panduan ini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09600" y="1238250"/>
            <a:ext cx="3429000" cy="504825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76300" y="1504950"/>
            <a:ext cx="28956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76300" y="2667000"/>
            <a:ext cx="2895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3B26C"/>
                </a:solidFill>
                <a:latin typeface="Trebuchet MS"/>
                <a:ea typeface="Trebuchet MS"/>
              </a:rPr>
              <a:t>bagian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76300" y="5429250"/>
            <a:ext cx="2895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Bagian 3 dan 4 yang dipakai setiap bulan, menjelang jadwal baru.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4381500" y="12382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4381500" y="12382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4610100" y="1552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4743450" y="16859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334000" y="1457325"/>
            <a:ext cx="56673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Peran Anda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0" y="1876425"/>
            <a:ext cx="56673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Tiga tugas korlas, sesuai urutan mengerjakannya.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91875" y="1724025"/>
            <a:ext cx="123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4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4381500" y="25336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381500" y="25336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4610100" y="28479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743450" y="29813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334000" y="2752725"/>
            <a:ext cx="54387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Akun &amp; wewenang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334000" y="3171825"/>
            <a:ext cx="54387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Batas wewenang, dan cara mengurus akun sekaligus.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63275" y="3019425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6–7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4381500" y="38290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381500" y="38290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4610100" y="4143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743450" y="42767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334000" y="4048125"/>
            <a:ext cx="53244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Menyusun jadwal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5334000" y="4467225"/>
            <a:ext cx="53244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Isi menu, salin Sepekan, atau tempel teks sekolah.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0848975" y="4314825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9–11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4381500" y="51244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4381500" y="51244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4610100" y="54387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4743450" y="55721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5334000" y="5343525"/>
            <a:ext cx="52101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Kunci, publikasi &amp; laporan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334000" y="5762625"/>
            <a:ext cx="52101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Urutan yang tidak bisa dibalik, aksi massal, lalu rekap piket.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0734675" y="561022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13–16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02 / 17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15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63050" y="4610100"/>
            <a:ext cx="2286000" cy="1809750"/>
          </a:xfrm>
          <a:prstGeom prst="rect">
            <a:avLst/>
          </a:prstGeom>
          <a:ln/>
        </p:spPr>
      </p:pic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pertama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Peran Anda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 kelas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Korlas mengurus jadwal satu kelas. Mulai dari yang paling sering dikerjakan.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1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Tiga tugas Anda&#10;        &lt;/Text&gt;&#10;        &lt;Box style={{ marginTop: 10, width: 72, height: 6, borderRadius: 3, background: '#51277C' }} /&gt;&#10;    &lt;/Box&gt;&#10;&#10;    {/* ── B · area konten ── */}&#10;    &lt;Box style={{ height: 530, flexDirection: 'row', gap: 30 }}&gt;&#10;        {/* kiri 55% · alur tiga langkah */}&#10;        &lt;Box&#10;            style={{&#10;                width: '55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520} height={430} viewBox='0 0 520 430'&gt;&#10;                {/* langkah 1 */}&#10;                &lt;rect x='14' y='8' width='492' height='112' rx='16' fill='#FFFFFF' stroke='#E6DFD2' strokeWidth='2' /&gt;&#10;                &lt;circle cx='62' cy='64' r='28' fill='#51277C' /&gt;&#10;                &lt;text x='62' y='74' fontFamily='Trebuchet MS' fontSize='28' fontWeight='bold' fill='#FFFFFF' textAnchor='middle'&gt;&#10;                    1&#10;                &lt;/text&gt;&#10;                &lt;text x='112' y='54' fontFamily='Trebuchet MS' fontSize='24' fontWeight='bold' fill='#51277C'&gt;&#10;                    Susun&#10;                &lt;/text&gt;&#10;                &lt;text x='112' y='86' fontFamily='Verdana' fontSize='16' fill='#6B6478'&gt;&#10;                    Menu untuk Senin sampai Jumat&#10;                &lt;/text&gt;&#10;                {/* panah */}&#10;                &lt;path d='M260 126v30' stroke='#AFC440' strokeWidth='5' strokeLinecap='round' /&gt;&#10;                &lt;path d='M250 150l10 12 10-12' fill='none' stroke='#AFC440' strokeWidth='5' strokeLinecap='round' /&gt;&#10;&#10;                {/* langkah 2 */}&#10;                &lt;rect x='14' y='164' width='492' height='112' rx='16' fill='#FFFFFF' stroke='#E6DFD2' strokeWidth='2' /&gt;&#10;                &lt;circle cx='62' cy='220' r='28' fill='#51277C' /&gt;&#10;                &lt;text x='62' y='230' fontFamily='Trebuchet MS' fontSize='28' fontWeight='bold' fill='#FFFFFF' textAnchor='middle'&gt;&#10;                    2&#10;                &lt;/text&gt;&#10;                &lt;text x='112' y='210' fontFamily='Trebuchet MS' fontSize='24' fontWeight='bold' fill='#51277C'&gt;&#10;                    Tentukan petugas&#10;                &lt;/text&gt;&#10;                &lt;text x='112' y='242' fontFamily='Verdana' fontSize='16' fill='#6B6478'&gt;&#10;                    Atau biarkan kosong supaya direbut orang tua&#10;                &lt;/text&gt;&#10;                {/* panah */}&#10;                &lt;path d='M260 282v30' stroke='#AFC440' strokeWidth='5' strokeLinecap='round' /&gt;&#10;                &lt;path d='M250 306l10 12 10-12' fill='none' stroke='#AFC440' strokeWidth='5' strokeLinecap='round' /&gt;&#10;&#10;                {/* langkah 3 */}&#10;                &lt;rect x='14' y='320' width='492' height='104' rx='16' fill='#51277C' /&gt;&#10;                &lt;circle cx='62' cy='372' r='28' fill='#F3B26C' /&gt;&#10;                &lt;text x='62' y='382' fontFamily='Trebuchet MS' fontSize='28' fontWeight='bold' fill='#51277C' textAnchor='middle'&gt;&#10;                    3&#10;                &lt;/text&gt;&#10;                &lt;text x='112' y='362' fontFamily='Trebuchet MS' fontSize='24' fontWeight='bold' fill='#FFFFFF'&gt;&#10;                    Umumkan&#10;                &lt;/text&gt;&#10;                &lt;text x='112' y='394' fontFamily='Verdana' fontSize='16' fill='#EFEAE1'&gt;&#10;                    Kunci lebih dulu, baru terbit ke orang tua&#10;                &lt;/text&gt;&#10;            &lt;/svg&gt;&#10;        &lt;/Box&gt;&#10;&#10;        {/* kanan 45% · tiga keterangan */}&#10;        &lt;Box style={{ width: '45%', height: '100%', justifyContent: 'space-between' }}&gt;&#10;            {[&#10;                {&#10;                    t: 'Susun — isi menunya',&#10;                    d: 'Satu bulan lebih baik dikerjakan sekaligus. Tiga cara: ketik per hari, salin dari minggu lain, atau tempel teks dari sekolah.',&#10;                    g: 'Bagian 3',&#10;                },&#10;                {&#10;                    t: 'Petugas — siapa ambil snack',&#10;                    d: 'Pilih dari daftar siswa kelas Anda; nama orang tuanya terisi sendiri. Dikosongkan pun boleh.',&#10;                    g: 'Bisa dikosongkan',&#10;                },&#10;                {&#10;                    t: 'Umumkan — baru kelihatan',&#10;                    d: 'Sebelum diumumkan, orang tua tidak melihat apa pun. Jadi jangan khawatir kalau belum muncul.',&#10;                    g: 'Bagian 4',&#10;                },&#10;            ].map((it, i) =&gt; (&#10;                &lt;Box&#10;                    key={i}&#10;                    style={{&#10;                        height: 166,&#10;                        background: '#FFFFFF',&#10;                        borderRadius: 16,&#10;                        boxShadow: '0 4px 20px rgba(0,0,0,0.08)',&#10;                        padding: 22,&#10;                        borderLeft: i === 2 ? '8px solid #F3B26C' : '8px solid #AFC440',&#10;                    }}&#10;                &gt;&#10;                    &lt;Text&#10;                        style={{&#10;                            fontSize: 24,&#10;                            fontWeight: 'bold',&#10;                            color: '#51277C',&#10;                            fontFamily: 'Trebuchet MS',&#10;                            lineHeight: 1.3,&#10;                        }}&#10;                    &gt;&#10;                        {it.t}&#10;                    &lt;/Text&gt;&#10;                    &lt;Text&#10;                        style={{&#10;                            marginTop: 10,&#10;                            fontSize: 17,&#10;                            color: '#6B6478',&#10;                            fontFamily: 'Verdana',&#10;                            lineHeight: 1.5,&#10;                        }}&#10;                    &gt;&#10;                        {it.d}&#10;                    &lt;/Text&gt;&#10;                    &lt;Box style={{ marginTop: 'auto' }}&gt;&#10;                        &lt;Text&#10;                            style={{&#10;                                fontSize: 16,&#10;                                color: '#51277C',&#10;                                fontFamily: 'Verdana',&#10;                                fontWeight: 'bold',&#10;                            }}&#10;                        &gt;&#10;                            {it.g}&#10;                        &lt;/Text&gt;&#10;                    &lt;/Box&gt;&#10;                &lt;/Box&gt;&#10;            ))}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04 / 17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Tiga tugas Anda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26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6325" y="1714500"/>
            <a:ext cx="4953000" cy="4095750"/>
          </a:xfrm>
          <a:prstGeom prst="rect">
            <a:avLst/>
          </a:prstGeom>
          <a:ln/>
        </p:spPr>
      </p:pic>
      <p:sp>
        <p:nvSpPr>
          <p:cNvPr id="227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Susun — isi menunya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Satu bulan lebih baik dikerjakan sekaligus. Tiga cara: ketik per hari, salin dari minggu lain, atau tempel teks dari sekolah.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Bagian 3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Petugas — siapa ambil snack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Pilih dari daftar siswa kelas Anda; nama orang tuanya terisi sendiri. Dikosongkan pun boleh.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Bisa dikosongkan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Umumkan — baru kelihatan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Sebelum diumumkan, orang tua tidak melihat apa pun. Jadi jangan khawatir kalau belum muncul.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Bagian 4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04 / 17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353550" y="4610100"/>
            <a:ext cx="2095500" cy="1809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kedua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Akun &amp;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wewenang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Supaya jelas mana yang bisa dikerjakan sendiri, mana yang minta admin.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53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Admin &amp;amp; Korlas: bedanya di mana&#10;        &lt;/Text&gt;&#10;        &lt;Box style={{ marginTop: 10, width: 72, height: 6, borderRadius: 3, background: '#51277C' }} /&gt;&#10;    &lt;/Box&gt;&#10;&#10;    {/* ── B · area konten ── */}&#10;    &lt;Box style={{ height: 530, flexDirection: 'row', gap: 26 }}&gt;&#10;        {/* kiri 60% · dua kartu wewenang */}&#10;        &lt;Box style={{ width: '60%', height: '100%', justifyContent: 'space-between' }}&gt;&#10;            &lt;Box&#10;                style={{&#10;                    height: 258,&#10;                    background: '#FFFFFF',&#10;                    borderRadius: 16,&#10;                    boxShadow: '0 4px 20px rgba(0,0,0,0.08)',&#10;                    padding: 22,&#10;                    borderTop: '8px solid #AFC440',&#10;                }}&#10;            &gt;&#10;                &lt;Text&#10;                    style={{&#10;                        fontSize: 25,&#10;                        fontWeight: 'bold',&#10;                        color: '#51277C',&#10;                        fontFamily: 'Trebuchet MS',&#10;                    }}&#10;                &gt;&#10;                    Korlas boleh sendiri&#10;                &lt;/Text&gt;&#10;                &lt;Box style={{ marginTop: 12 }}&gt;&#10;                    {[&#10;                        'Menyusun &amp; mengubah jadwal kelasnya, selama belum dikunci',&#10;                        'Menentukan petugas, atau membiarkannya kosong',&#10;                        'Menyalin Sepekan &amp; menempel teks jadwal dari sekolah',&#10;                        'Mengunci lalu mempublikasikan jadwal kelasnya',&#10;                        'Mengambil tanggal piket seperti orang tua lainnya',&#10;                    ].map((s, i) =&gt; (&#10;                        &lt;Box key={i} style={{ flexDirection: 'row', alignItems: 'center', gap: 10, marginTop: 7 }}&gt;&#10;                            &lt;svg width={18} height={18} viewBox='0 0 24 24'&gt;&#10;                                &lt;path d='M5 13l4 4 10-11' fill='none' stroke='#AFC440' strokeWidth='3' strokeLinecap='round' strokeLinejoin='round' /&gt;&#10;                            &lt;/svg&gt;&#10;                            &lt;Text style={{ flex: 1, fontSize: 16, color: '#2A2333', fontFamily: 'Verdana', lineHeight: 1.45 }}&gt;&#10;                                {s}&#10;                            &lt;/Text&gt;&#10;                        &lt;/Box&gt;&#10;                    ))}&#10;                &lt;/Box&gt;&#10;            &lt;/Box&gt;&#10;&#10;            &lt;Box&#10;                style={{&#10;                    height: 254,&#10;                    background: '#FFFFFF',&#10;                    borderRadius: 16,&#10;                    boxShadow: '0 4px 20px rgba(0,0,0,0.08)',&#10;                    padding: 22,&#10;                    borderTop: '8px solid #F3B26C',&#10;                }}&#10;            &gt;&#10;                &lt;Text&#10;                    style={{&#10;                        fontSize: 25,&#10;                        fontWeight: 'bold',&#10;                        color: '#51277C',&#10;                        fontFamily: 'Trebuchet MS',&#10;                    }}&#10;                &gt;&#10;                    Tetap wewenang admin&#10;                &lt;/Text&gt;&#10;                &lt;Box style={{ marginTop: 12 }}&gt;&#10;                    {[&#10;                        'Mengelola katalog menu &amp; kategori',&#10;                        'Mengelola akun orang tua, termasuk mengangkat korlas',&#10;                        'Hari libur sekolah — berlaku untuk semua kelas',&#10;                        'Membuka kunci jadwal yang sudah dikunci atau terbit',&#10;                    ].map((s, i) =&gt; (&#10;                        &lt;Box key={i} style={{ flexDirection: 'row', alignItems: 'center', gap: 10, marginTop: 7 }}&gt;&#10;                            &lt;svg width={18} height={18} viewBox='0 0 24 24'&gt;&#10;                                &lt;path d='M7 7l10 10M17 7L7 17' fill='none' stroke='#F3B26C' strokeWidth='3' strokeLinecap='round' /&gt;&#10;                            &lt;/svg&gt;&#10;                            &lt;Text style={{ flex: 1, fontSize: 16, color: '#2A2333', fontFamily: 'Verdana', lineHeight: 1.45 }}&gt;&#10;                                {s}&#10;                            &lt;/Text&gt;&#10;                        &lt;/Box&gt;&#10;                    ))}&#10;                &lt;/Box&gt;&#10;            &lt;/Box&gt;&#10;        &lt;/Box&gt;&#10;&#10;        {/* kanan 40% · ilustrasi dua peran */}&#10;        &lt;Box&#10;            style={{&#10;                width: '40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360} height={400} viewBox='0 0 360 400'&gt;&#10;                {/* korlas */}&#10;                &lt;rect x='24' y='24' width='312' height='150' rx='18' fill='#FFFFFF' stroke='#AFC440' strokeWidth='3' /&gt;&#10;                &lt;circle cx='76' cy='78' r='30' fill='#AFC440' /&gt;&#10;                &lt;text x='76' y='90' fontFamily='Trebuchet MS' fontSize='30' fontWeight='bold' fill='#3F4718' textAnchor='middle'&gt;&#10;                    K&#10;                &lt;/text&gt;&#10;                &lt;text x='124' y='70' fontFamily='Trebuchet MS' fontSize='24' fontWeight='bold' fill='#51277C'&gt;&#10;                    Korlas&#10;                &lt;/text&gt;&#10;                &lt;text x='124' y='102' fontFamily='Verdana' fontSize='15' fill='#6B6478'&gt;&#10;                    satu kelas&#10;                &lt;/text&gt;&#10;                &lt;rect x='52' y='122' width='256' height='9' rx='5' fill='#DED7CB' /&gt;&#10;                &lt;rect x='52' y='140' width='196' height='9' rx='5' fill='#EDE8DF' /&gt;&#10;&#10;                {/* admin */}&#10;                &lt;rect x='24' y='196' width='312' height='150' rx='18' fill='#51277C' /&gt;&#10;                &lt;circle cx='76' cy='250' r='30' fill='#F3B26C' /&gt;&#10;                &lt;text x='76' y='262' fontFamily='Trebuchet MS' fontSize='30' fontWeight='bold' fill='#51277C' textAnchor='middle'&gt;&#10;                    A&#10;                &lt;/text&gt;&#10;                &lt;text x='124' y='242' fontFamily='Trebuchet MS' fontSize='24' fontWeight='bold' fill='#FFFFFF'&gt;&#10;                    Admin&#10;                &lt;/text&gt;&#10;                &lt;text x='124' y='274' fontFamily='Verdana' fontSize='15' fill='#EFEAE1'&gt;&#10;                    semua kelas&#10;                &lt;/text&gt;&#10;                &lt;rect x='52' y='294' width='256' height='9' rx='5' fill='rgba(255,255,255,0.5)' /&gt;&#10;                &lt;rect x='52' y='312' width='216' height='9' rx='5' fill='rgba(255,255,255,0.3)' /&gt;&#10;&#10;                &lt;text x='180' y='380' fontFamily='Verdana' fontSize='16' fill='#6B6478' textAnchor='middle'&gt;&#10;                    Admin melihat semua kelas&#10;                &lt;/text&gt;&#10;            &lt;/svg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Korlas &amp;amp; Admin&#10;        &lt;/Text&gt;&#10;        &lt;Text style={{ fontSize: 14, color: '#6B6478', fontFamily: 'Verdana' }}&gt;06 / 17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Admin &amp; Korlas: bedanya di mana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609600" y="1314450"/>
            <a:ext cx="6438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609600" y="1314450"/>
            <a:ext cx="6438900" cy="2381250"/>
          </a:xfrm>
          <a:custGeom>
            <a:pathLst>
              <a:path w="676" h="250">
                <a:moveTo>
                  <a:pt x="661" y="0"/>
                </a:moveTo>
                <a:cubicBezTo>
                  <a:pt x="668" y="0"/>
                  <a:pt x="675" y="6"/>
                  <a:pt x="676" y="14"/>
                </a:cubicBezTo>
                <a:cubicBezTo>
                  <a:pt x="675" y="10"/>
                  <a:pt x="672" y="8"/>
                  <a:pt x="668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660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819150" y="1524000"/>
            <a:ext cx="6019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51277C"/>
                </a:solidFill>
                <a:latin typeface="Trebuchet MS"/>
                <a:ea typeface="Trebuchet MS"/>
              </a:rPr>
              <a:t>Korlas boleh sendiri</a:t>
            </a:r>
            <a:endParaRPr/>
          </a:p>
        </p:txBody>
      </p:sp>
      <p:pic>
        <p:nvPicPr>
          <p:cNvPr id="260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038350"/>
            <a:ext cx="171450" cy="171450"/>
          </a:xfrm>
          <a:prstGeom prst="rect">
            <a:avLst/>
          </a:prstGeom>
          <a:ln/>
        </p:spPr>
      </p:pic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085850" y="19907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Menyusun &amp; mengubah jadwal kelasnya, selama belum dikunci</a:t>
            </a:r>
            <a:endParaRPr/>
          </a:p>
        </p:txBody>
      </p:sp>
      <p:pic>
        <p:nvPicPr>
          <p:cNvPr id="26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371725"/>
            <a:ext cx="171450" cy="171450"/>
          </a:xfrm>
          <a:prstGeom prst="rect">
            <a:avLst/>
          </a:prstGeom>
          <a:ln/>
        </p:spPr>
      </p:pic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085850" y="232410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Menentukan petugas, atau membiarkannya kosong</a:t>
            </a:r>
            <a:endParaRPr/>
          </a:p>
        </p:txBody>
      </p:sp>
      <p:pic>
        <p:nvPicPr>
          <p:cNvPr id="264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705100"/>
            <a:ext cx="171450" cy="171450"/>
          </a:xfrm>
          <a:prstGeom prst="rect">
            <a:avLst/>
          </a:prstGeom>
          <a:ln/>
        </p:spPr>
      </p:pic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85850" y="265747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Menyalin Sepekan &amp; menempel teks jadwal dari sekolah</a:t>
            </a:r>
            <a:endParaRPr/>
          </a:p>
        </p:txBody>
      </p:sp>
      <p:pic>
        <p:nvPicPr>
          <p:cNvPr id="266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3038475"/>
            <a:ext cx="171450" cy="171450"/>
          </a:xfrm>
          <a:prstGeom prst="rect">
            <a:avLst/>
          </a:prstGeom>
          <a:ln/>
        </p:spPr>
      </p:pic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085850" y="299085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Mengunci lalu mempublikasikan jadwal kelasnya</a:t>
            </a:r>
            <a:endParaRPr/>
          </a:p>
        </p:txBody>
      </p:sp>
      <p:pic>
        <p:nvPicPr>
          <p:cNvPr id="268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3371850"/>
            <a:ext cx="171450" cy="171450"/>
          </a:xfrm>
          <a:prstGeom prst="rect">
            <a:avLst/>
          </a:prstGeom>
          <a:ln/>
        </p:spPr>
      </p:pic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085850" y="33242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Mengambil tanggal piket seperti orang tua lainnya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09600" y="3943350"/>
            <a:ext cx="6438900" cy="234315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609600" y="3943350"/>
            <a:ext cx="6438900" cy="2343150"/>
          </a:xfrm>
          <a:custGeom>
            <a:pathLst>
              <a:path w="676" h="246">
                <a:moveTo>
                  <a:pt x="661" y="0"/>
                </a:moveTo>
                <a:cubicBezTo>
                  <a:pt x="668" y="0"/>
                  <a:pt x="675" y="6"/>
                  <a:pt x="676" y="14"/>
                </a:cubicBezTo>
                <a:cubicBezTo>
                  <a:pt x="675" y="10"/>
                  <a:pt x="672" y="8"/>
                  <a:pt x="668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660" y="0"/>
                </a:ln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152900"/>
            <a:ext cx="6019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51277C"/>
                </a:solidFill>
                <a:latin typeface="Trebuchet MS"/>
                <a:ea typeface="Trebuchet MS"/>
              </a:rPr>
              <a:t>Tetap wewenang admin</a:t>
            </a:r>
            <a:endParaRPr/>
          </a:p>
        </p:txBody>
      </p:sp>
      <p:pic>
        <p:nvPicPr>
          <p:cNvPr id="27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4667250"/>
            <a:ext cx="171450" cy="171450"/>
          </a:xfrm>
          <a:prstGeom prst="rect">
            <a:avLst/>
          </a:prstGeom>
          <a:ln/>
        </p:spPr>
      </p:pic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85850" y="461962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Mengelola katalog menu &amp; kategori</a:t>
            </a:r>
            <a:endParaRPr/>
          </a:p>
        </p:txBody>
      </p:sp>
      <p:pic>
        <p:nvPicPr>
          <p:cNvPr id="275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000625"/>
            <a:ext cx="171450" cy="171450"/>
          </a:xfrm>
          <a:prstGeom prst="rect">
            <a:avLst/>
          </a:prstGeom>
          <a:ln/>
        </p:spPr>
      </p:pic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085850" y="495300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Mengelola akun orang tua, termasuk mengangkat korlas</a:t>
            </a:r>
            <a:endParaRPr/>
          </a:p>
        </p:txBody>
      </p:sp>
      <p:pic>
        <p:nvPicPr>
          <p:cNvPr id="27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334000"/>
            <a:ext cx="171450" cy="171450"/>
          </a:xfrm>
          <a:prstGeom prst="rect">
            <a:avLst/>
          </a:prstGeom>
          <a:ln/>
        </p:spPr>
      </p:pic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085850" y="5286375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Hari libur sekolah — berlaku untuk semua kelas</a:t>
            </a:r>
            <a:endParaRPr/>
          </a:p>
        </p:txBody>
      </p:sp>
      <p:pic>
        <p:nvPicPr>
          <p:cNvPr id="27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667375"/>
            <a:ext cx="171450" cy="17145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085850" y="5619750"/>
            <a:ext cx="57531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>
                <a:solidFill>
                  <a:srgbClr val="2A2333"/>
                </a:solidFill>
                <a:latin typeface="Verdana"/>
                <a:ea typeface="Verdana"/>
              </a:rPr>
              <a:t>Membuka kunci jadwal yang sudah dikunci atau terbit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296150" y="1238250"/>
            <a:ext cx="4286250" cy="5048250"/>
          </a:xfrm>
          <a:prstGeom prst="roundRect">
            <a:avLst>
              <a:gd name="adj" fmla="val 444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82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724775" y="1857375"/>
            <a:ext cx="3429000" cy="3810000"/>
          </a:xfrm>
          <a:prstGeom prst="rect">
            <a:avLst/>
          </a:prstGeom>
          <a:ln/>
        </p:spPr>
      </p:pic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06 / 17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Kelola akun orang tua sekaligus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290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6325" y="1714500"/>
            <a:ext cx="4953000" cy="4095750"/>
          </a:xfrm>
          <a:prstGeom prst="rect">
            <a:avLst/>
          </a:prstGeom>
          <a:ln/>
        </p:spPr>
      </p:pic>
      <p:sp>
        <p:nvSpPr>
          <p:cNvPr id="291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Satu berkas, dua arah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Unduh daftar akun sebagai Excel, sunting sebanyak yang perlu, lalu unggah kembali berkas yang sama.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Khusus admin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Ada ditimpa, baru ditambah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Username yang sudah terdaftar diperbarui; yang belum ada dibuatkan akun baru. Sel kosong tidak mengubah apa pun.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Dikunci pada username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Pratinjau sebelum berubah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Layar menunjukkan lebih dulu berapa akun dibuat, diperbarui, dan dilewati. Belum ada yang tersimpan.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Aman diulang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07 / 17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11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58300" y="4610100"/>
            <a:ext cx="2190750" cy="1809750"/>
          </a:xfrm>
          <a:prstGeom prst="rect">
            <a:avLst/>
          </a:prstGeom>
          <a:ln/>
        </p:spPr>
      </p:pic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685800" y="15811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1676400" y="17716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838325" y="19145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ketiga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Menyusun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jadwal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85800" y="4514850"/>
            <a:ext cx="67056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Tiga cara mengisi — pilih yang paling dekat dengan bahan yang Anda punya.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menu per hari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609600" y="1238250"/>
            <a:ext cx="10972800" cy="2914650"/>
          </a:xfrm>
          <a:prstGeom prst="roundRect">
            <a:avLst>
              <a:gd name="adj" fmla="val 653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2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409700"/>
            <a:ext cx="10477500" cy="2571750"/>
          </a:xfrm>
          <a:prstGeom prst="rect">
            <a:avLst/>
          </a:prstGeom>
          <a:ln/>
        </p:spPr>
      </p:pic>
      <p:sp>
        <p:nvSpPr>
          <p:cNvPr id="323" name=""/>
          <p:cNvSpPr/>
          <p:nvPr/>
        </p:nvSpPr>
        <p:spPr>
          <a:xfrm rot="0" flipH="0" flipV="0">
            <a:off x="685800" y="4324350"/>
            <a:ext cx="6448425" cy="1962150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685800" y="4324350"/>
            <a:ext cx="6448425" cy="1962150"/>
          </a:xfrm>
          <a:custGeom>
            <a:pathLst>
              <a:path w="677" h="20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98"/>
                </a:lnTo>
                <a:cubicBezTo>
                  <a:pt x="8" y="202"/>
                  <a:pt x="11" y="205"/>
                  <a:pt x="14" y="206"/>
                </a:cubicBezTo>
                <a:cubicBezTo>
                  <a:pt x="6" y="205"/>
                  <a:pt x="0" y="198"/>
                  <a:pt x="0" y="19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14400" y="4552950"/>
            <a:ext cx="591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Pilih menu di setiap tanggal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14400" y="4953000"/>
            <a:ext cx="59150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Satu hari berisi makanan utama dan buah pendamping. Hari yang tidak masuk sekolah cukup ditandai libur — menunya tidak perlu diisi.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7362825" y="4324350"/>
            <a:ext cx="4295775" cy="1962150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7362825" y="4324350"/>
            <a:ext cx="4295775" cy="1962150"/>
          </a:xfrm>
          <a:custGeom>
            <a:pathLst>
              <a:path w="451" h="20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98"/>
                </a:lnTo>
                <a:cubicBezTo>
                  <a:pt x="8" y="202"/>
                  <a:pt x="11" y="205"/>
                  <a:pt x="14" y="206"/>
                </a:cubicBezTo>
                <a:cubicBezTo>
                  <a:pt x="6" y="205"/>
                  <a:pt x="0" y="198"/>
                  <a:pt x="0" y="19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591425" y="4552950"/>
            <a:ext cx="3762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Salin Sepekan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7591425" y="4953000"/>
            <a:ext cx="37623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Duplikasi Senin–Jumat ke minggu lain. Tanggal yang sudah terisi dilewati.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09 / 17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Tempel teks dari sekolah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10 / 17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-1047750" y="4476750"/>
            <a:ext cx="3619500" cy="3619500"/>
          </a:xfrm>
          <a:custGeom>
            <a:pathLst>
              <a:path w="380" h="380">
                <a:moveTo>
                  <a:pt x="195" y="0"/>
                </a:moveTo>
                <a:cubicBezTo>
                  <a:pt x="255" y="2"/>
                  <a:pt x="311" y="32"/>
                  <a:pt x="346" y="81"/>
                </a:cubicBezTo>
                <a:cubicBezTo>
                  <a:pt x="380" y="130"/>
                  <a:pt x="389" y="193"/>
                  <a:pt x="370" y="250"/>
                </a:cubicBezTo>
                <a:lnTo>
                  <a:pt x="110" y="250"/>
                </a:lnTo>
                <a:lnTo>
                  <a:pt x="110" y="18"/>
                </a:lnTo>
                <a:cubicBezTo>
                  <a:pt x="135" y="6"/>
                  <a:pt x="162" y="0"/>
                  <a:pt x="19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2000"/>
                </a:srgbClr>
              </a:gs>
              <a:gs pos="100000">
                <a:srgbClr val="F3B26C">
                  <a:alpha val="12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1323975"/>
            <a:ext cx="4791075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51277C"/>
                </a:solidFill>
                <a:latin typeface="Trebuchet MS"/>
                <a:ea typeface="Trebuchet MS"/>
              </a:rPr>
              <a:t>Tidak perlu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51277C"/>
                </a:solidFill>
                <a:latin typeface="Trebuchet MS"/>
                <a:ea typeface="Trebuchet MS"/>
              </a:rPr>
              <a:t>ketik ulang.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2676525"/>
            <a:ext cx="479107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Jadwal yang dikirim sekolah lewat WhatsApp bisa ditempel apa adanya. Aplikasi membaca rentang tanggal dan baris harinya sendiri.</a:t>
            </a:r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4000500"/>
            <a:ext cx="190500" cy="1905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95350" y="3952875"/>
            <a:ext cx="4505325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Pratinjau ditampilkan lebih dulu — bisa dibatalkan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4514850"/>
            <a:ext cx="190500" cy="190500"/>
          </a:xfrm>
          <a:prstGeom prst="rect">
            <a:avLst/>
          </a:prstGeom>
          <a:ln/>
        </p:spPr>
      </p:pic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95350" y="4324350"/>
            <a:ext cx="4505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Tanggal yang sudah ada jadwalnya dilewati, jadi tempel ulang aman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5172075"/>
            <a:ext cx="190500" cy="190500"/>
          </a:xfrm>
          <a:prstGeom prst="rect">
            <a:avLst/>
          </a:prstGeom>
          <a:ln/>
        </p:spPr>
      </p:pic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95350" y="4981575"/>
            <a:ext cx="4505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Hasilnya masuk sebagai jadwal yang masih bisa diubah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09600" y="5762625"/>
            <a:ext cx="2895600" cy="438150"/>
          </a:xfrm>
          <a:prstGeom prst="roundRect">
            <a:avLst>
              <a:gd name="adj" fmla="val 26087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19150" y="5876925"/>
            <a:ext cx="209550" cy="2095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23950" y="5876925"/>
            <a:ext cx="2171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Verdana"/>
                <a:ea typeface="Verdana"/>
              </a:rPr>
              <a:t>Tombol: Impor Jadwal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5724525" y="1238250"/>
            <a:ext cx="585787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895975" y="1619250"/>
            <a:ext cx="5524500" cy="428625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Petugas piket: siapa yang ambil snack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09600" y="1238250"/>
            <a:ext cx="3219450" cy="5048250"/>
          </a:xfrm>
          <a:prstGeom prst="roundRect">
            <a:avLst>
              <a:gd name="adj" fmla="val 532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57250" y="1485900"/>
            <a:ext cx="2724150" cy="8572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2250" b="1">
                <a:solidFill>
                  <a:srgbClr val="FFFFFF"/>
                </a:solidFill>
                <a:latin typeface="Trebuchet MS"/>
                <a:ea typeface="Trebuchet MS"/>
              </a:rPr>
              <a:t>Satu tanggal,</a:t>
            </a:r>
            <a:endParaRPr/>
          </a:p>
          <a:p>
            <a:pPr>
              <a:lnSpc>
                <a:spcPct val="125000"/>
              </a:lnSpc>
            </a:pPr>
            <a:r>
              <a:rPr lang="en-US" sz="2250" b="1">
                <a:solidFill>
                  <a:srgbClr val="FFFFFF"/>
                </a:solidFill>
                <a:latin typeface="Trebuchet MS"/>
                <a:ea typeface="Trebuchet MS"/>
              </a:rPr>
              <a:t>satu petugas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57250" y="2495550"/>
            <a:ext cx="609600" cy="47625"/>
          </a:xfrm>
          <a:prstGeom prst="roundRect">
            <a:avLst>
              <a:gd name="adj" fmla="val 6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57250" y="5162550"/>
            <a:ext cx="27241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Nama petugas yang Anda isi akan tampil ke orang tua sekalian nama orang tuanya.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4152900" y="1238250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4152900" y="1238250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4362450" y="1447800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Pilih dari daftar siswa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4362450" y="1876425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Kolom petugas berisi nama siswa di kelas Anda. Nama orang tuanya terisi sendiri.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4152900" y="2981325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4152900" y="2981325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4362450" y="3190875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Biarkan kosong bila perlu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4362450" y="3619500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Tanggal tanpa petugas bisa diambil sendiri orang tua — siapa cepat dia dapat.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4152900" y="4714875"/>
            <a:ext cx="4438650" cy="1571625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4152900" y="4714875"/>
            <a:ext cx="4438650" cy="1571625"/>
          </a:xfrm>
          <a:custGeom>
            <a:pathLst>
              <a:path w="466" h="165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7"/>
                </a:lnTo>
                <a:cubicBezTo>
                  <a:pt x="8" y="161"/>
                  <a:pt x="11" y="164"/>
                  <a:pt x="14" y="165"/>
                </a:cubicBezTo>
                <a:cubicBezTo>
                  <a:pt x="6" y="164"/>
                  <a:pt x="0" y="157"/>
                  <a:pt x="0" y="149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4362450" y="4924425"/>
            <a:ext cx="3943350" cy="3429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Tidak ikut direbut orang tua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4362450" y="5353050"/>
            <a:ext cx="3943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Ditandai "Ditetapkan korlas", jadi tidak ada dua orang merasa sudah dapat.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724900" y="1238250"/>
            <a:ext cx="2857500" cy="5048250"/>
          </a:xfrm>
          <a:prstGeom prst="roundRect">
            <a:avLst>
              <a:gd name="adj" fmla="val 6000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57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839200" y="2333625"/>
            <a:ext cx="2628900" cy="28575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11 / 17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63" name="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258300" y="4610100"/>
            <a:ext cx="2190750" cy="1809750"/>
          </a:xfrm>
          <a:prstGeom prst="rect">
            <a:avLst/>
          </a:prstGeom>
          <a:ln/>
        </p:spPr>
      </p:pic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1800225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1676400" y="1990725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2133600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terakhir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6705600" cy="15335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350" b="1">
                <a:solidFill>
                  <a:srgbClr val="FFFFFF"/>
                </a:solidFill>
                <a:latin typeface="Trebuchet MS"/>
                <a:ea typeface="Trebuchet MS"/>
              </a:rPr>
              <a:t>Kunci &amp;</a:t>
            </a:r>
            <a:endParaRPr/>
          </a:p>
          <a:p>
            <a:pPr>
              <a:lnSpc>
                <a:spcPct val="114999"/>
              </a:lnSpc>
            </a:pPr>
            <a:r>
              <a:rPr lang="en-US" sz="4350" b="1">
                <a:solidFill>
                  <a:srgbClr val="FFFFFF"/>
                </a:solidFill>
                <a:latin typeface="Trebuchet MS"/>
                <a:ea typeface="Trebuchet MS"/>
              </a:rPr>
              <a:t>publikasi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468630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Dua langkah terakhir — urutannya tidak bisa dibalik.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Terkunci, lalu terbit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13 / 17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8858250" y="3810000"/>
            <a:ext cx="4381500" cy="4381500"/>
          </a:xfrm>
          <a:custGeom>
            <a:pathLst>
              <a:path w="460" h="460">
                <a:moveTo>
                  <a:pt x="236" y="0"/>
                </a:moveTo>
                <a:lnTo>
                  <a:pt x="242" y="0"/>
                </a:lnTo>
                <a:lnTo>
                  <a:pt x="248" y="1"/>
                </a:lnTo>
                <a:lnTo>
                  <a:pt x="254" y="1"/>
                </a:lnTo>
                <a:lnTo>
                  <a:pt x="259" y="2"/>
                </a:lnTo>
                <a:lnTo>
                  <a:pt x="265" y="3"/>
                </a:lnTo>
                <a:lnTo>
                  <a:pt x="271" y="4"/>
                </a:lnTo>
                <a:lnTo>
                  <a:pt x="276" y="5"/>
                </a:lnTo>
                <a:lnTo>
                  <a:pt x="282" y="6"/>
                </a:lnTo>
                <a:lnTo>
                  <a:pt x="287" y="7"/>
                </a:lnTo>
                <a:lnTo>
                  <a:pt x="293" y="9"/>
                </a:lnTo>
                <a:lnTo>
                  <a:pt x="298" y="10"/>
                </a:lnTo>
                <a:lnTo>
                  <a:pt x="304" y="12"/>
                </a:lnTo>
                <a:lnTo>
                  <a:pt x="309" y="14"/>
                </a:lnTo>
                <a:lnTo>
                  <a:pt x="314" y="16"/>
                </a:lnTo>
                <a:lnTo>
                  <a:pt x="319" y="18"/>
                </a:lnTo>
                <a:lnTo>
                  <a:pt x="325" y="20"/>
                </a:lnTo>
                <a:lnTo>
                  <a:pt x="330" y="23"/>
                </a:lnTo>
                <a:lnTo>
                  <a:pt x="335" y="25"/>
                </a:lnTo>
                <a:lnTo>
                  <a:pt x="340" y="28"/>
                </a:lnTo>
                <a:lnTo>
                  <a:pt x="344" y="30"/>
                </a:lnTo>
                <a:lnTo>
                  <a:pt x="349" y="33"/>
                </a:lnTo>
                <a:lnTo>
                  <a:pt x="350" y="34"/>
                </a:lnTo>
                <a:lnTo>
                  <a:pt x="350" y="320"/>
                </a:lnTo>
                <a:lnTo>
                  <a:pt x="18" y="320"/>
                </a:lnTo>
                <a:lnTo>
                  <a:pt x="18" y="319"/>
                </a:lnTo>
                <a:lnTo>
                  <a:pt x="16" y="314"/>
                </a:lnTo>
                <a:lnTo>
                  <a:pt x="14" y="309"/>
                </a:lnTo>
                <a:lnTo>
                  <a:pt x="12" y="304"/>
                </a:lnTo>
                <a:lnTo>
                  <a:pt x="10" y="298"/>
                </a:lnTo>
                <a:lnTo>
                  <a:pt x="9" y="293"/>
                </a:lnTo>
                <a:lnTo>
                  <a:pt x="7" y="287"/>
                </a:lnTo>
                <a:lnTo>
                  <a:pt x="6" y="282"/>
                </a:lnTo>
                <a:lnTo>
                  <a:pt x="5" y="276"/>
                </a:lnTo>
                <a:lnTo>
                  <a:pt x="4" y="271"/>
                </a:lnTo>
                <a:lnTo>
                  <a:pt x="3" y="265"/>
                </a:lnTo>
                <a:lnTo>
                  <a:pt x="2" y="259"/>
                </a:lnTo>
                <a:lnTo>
                  <a:pt x="1" y="254"/>
                </a:lnTo>
                <a:lnTo>
                  <a:pt x="1" y="248"/>
                </a:lnTo>
                <a:lnTo>
                  <a:pt x="0" y="242"/>
                </a:lnTo>
                <a:lnTo>
                  <a:pt x="0" y="236"/>
                </a:lnTo>
                <a:lnTo>
                  <a:pt x="0" y="230"/>
                </a:lnTo>
                <a:lnTo>
                  <a:pt x="0" y="224"/>
                </a:lnTo>
                <a:lnTo>
                  <a:pt x="0" y="218"/>
                </a:lnTo>
                <a:lnTo>
                  <a:pt x="1" y="212"/>
                </a:lnTo>
                <a:lnTo>
                  <a:pt x="1" y="206"/>
                </a:lnTo>
                <a:lnTo>
                  <a:pt x="2" y="201"/>
                </a:lnTo>
                <a:lnTo>
                  <a:pt x="3" y="195"/>
                </a:lnTo>
                <a:lnTo>
                  <a:pt x="4" y="189"/>
                </a:lnTo>
                <a:lnTo>
                  <a:pt x="5" y="184"/>
                </a:lnTo>
                <a:lnTo>
                  <a:pt x="6" y="178"/>
                </a:lnTo>
                <a:lnTo>
                  <a:pt x="7" y="173"/>
                </a:lnTo>
                <a:lnTo>
                  <a:pt x="9" y="167"/>
                </a:lnTo>
                <a:lnTo>
                  <a:pt x="10" y="162"/>
                </a:lnTo>
                <a:lnTo>
                  <a:pt x="12" y="156"/>
                </a:lnTo>
                <a:lnTo>
                  <a:pt x="14" y="151"/>
                </a:lnTo>
                <a:lnTo>
                  <a:pt x="16" y="146"/>
                </a:lnTo>
                <a:lnTo>
                  <a:pt x="18" y="141"/>
                </a:lnTo>
                <a:lnTo>
                  <a:pt x="20" y="135"/>
                </a:lnTo>
                <a:lnTo>
                  <a:pt x="23" y="130"/>
                </a:lnTo>
                <a:lnTo>
                  <a:pt x="25" y="125"/>
                </a:lnTo>
                <a:lnTo>
                  <a:pt x="28" y="120"/>
                </a:lnTo>
                <a:lnTo>
                  <a:pt x="30" y="116"/>
                </a:lnTo>
                <a:lnTo>
                  <a:pt x="33" y="111"/>
                </a:lnTo>
                <a:lnTo>
                  <a:pt x="36" y="106"/>
                </a:lnTo>
                <a:lnTo>
                  <a:pt x="39" y="101"/>
                </a:lnTo>
                <a:lnTo>
                  <a:pt x="42" y="97"/>
                </a:lnTo>
                <a:lnTo>
                  <a:pt x="46" y="92"/>
                </a:lnTo>
                <a:lnTo>
                  <a:pt x="49" y="88"/>
                </a:lnTo>
                <a:lnTo>
                  <a:pt x="53" y="84"/>
                </a:lnTo>
                <a:lnTo>
                  <a:pt x="56" y="80"/>
                </a:lnTo>
                <a:lnTo>
                  <a:pt x="60" y="75"/>
                </a:lnTo>
                <a:lnTo>
                  <a:pt x="64" y="71"/>
                </a:lnTo>
                <a:lnTo>
                  <a:pt x="67" y="67"/>
                </a:lnTo>
                <a:lnTo>
                  <a:pt x="71" y="64"/>
                </a:lnTo>
                <a:lnTo>
                  <a:pt x="75" y="60"/>
                </a:lnTo>
                <a:lnTo>
                  <a:pt x="80" y="56"/>
                </a:lnTo>
                <a:lnTo>
                  <a:pt x="84" y="53"/>
                </a:lnTo>
                <a:lnTo>
                  <a:pt x="88" y="49"/>
                </a:lnTo>
                <a:lnTo>
                  <a:pt x="92" y="46"/>
                </a:lnTo>
                <a:lnTo>
                  <a:pt x="97" y="42"/>
                </a:lnTo>
                <a:lnTo>
                  <a:pt x="101" y="39"/>
                </a:lnTo>
                <a:lnTo>
                  <a:pt x="106" y="36"/>
                </a:lnTo>
                <a:lnTo>
                  <a:pt x="111" y="33"/>
                </a:lnTo>
                <a:lnTo>
                  <a:pt x="116" y="30"/>
                </a:lnTo>
                <a:lnTo>
                  <a:pt x="120" y="28"/>
                </a:lnTo>
                <a:lnTo>
                  <a:pt x="125" y="25"/>
                </a:lnTo>
                <a:lnTo>
                  <a:pt x="130" y="23"/>
                </a:lnTo>
                <a:lnTo>
                  <a:pt x="135" y="20"/>
                </a:lnTo>
                <a:lnTo>
                  <a:pt x="141" y="18"/>
                </a:lnTo>
                <a:lnTo>
                  <a:pt x="146" y="16"/>
                </a:lnTo>
                <a:lnTo>
                  <a:pt x="151" y="14"/>
                </a:lnTo>
                <a:lnTo>
                  <a:pt x="156" y="12"/>
                </a:lnTo>
                <a:lnTo>
                  <a:pt x="162" y="10"/>
                </a:lnTo>
                <a:lnTo>
                  <a:pt x="167" y="9"/>
                </a:lnTo>
                <a:lnTo>
                  <a:pt x="173" y="7"/>
                </a:lnTo>
                <a:lnTo>
                  <a:pt x="178" y="6"/>
                </a:lnTo>
                <a:lnTo>
                  <a:pt x="184" y="5"/>
                </a:lnTo>
                <a:lnTo>
                  <a:pt x="189" y="4"/>
                </a:lnTo>
                <a:lnTo>
                  <a:pt x="195" y="3"/>
                </a:lnTo>
                <a:lnTo>
                  <a:pt x="201" y="2"/>
                </a:lnTo>
                <a:lnTo>
                  <a:pt x="206" y="1"/>
                </a:lnTo>
                <a:lnTo>
                  <a:pt x="212" y="1"/>
                </a:lnTo>
                <a:lnTo>
                  <a:pt x="218" y="0"/>
                </a:lnTo>
                <a:lnTo>
                  <a:pt x="224" y="0"/>
                </a:lnTo>
                <a:lnTo>
                  <a:pt x="230" y="0"/>
                </a:lnTo>
                <a:close/>
              </a:path>
            </a:pathLst>
          </a:custGeom>
          <a:gradFill>
            <a:gsLst>
              <a:gs pos="0">
                <a:srgbClr val="51277C">
                  <a:alpha val="9000"/>
                </a:srgbClr>
              </a:gs>
              <a:gs pos="100000">
                <a:srgbClr val="7A45A8">
                  <a:alpha val="9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1924050"/>
            <a:ext cx="5857875" cy="16097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51277C"/>
                </a:solidFill>
                <a:latin typeface="Trebuchet MS"/>
                <a:ea typeface="Trebuchet MS"/>
              </a:rPr>
              <a:t>Kunci dulu,</a:t>
            </a:r>
            <a:endParaRPr/>
          </a:p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51277C"/>
                </a:solidFill>
                <a:latin typeface="Trebuchet MS"/>
                <a:ea typeface="Trebuchet MS"/>
              </a:rPr>
              <a:t>baru terbit.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09600" y="3743325"/>
            <a:ext cx="58578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Orang tua baru melihat jadwal setelah diterbitkan. Selama belum, jadwalnya tetap tersimpan — hanya belum diumumkan.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85800" y="4648200"/>
            <a:ext cx="5857875" cy="962025"/>
          </a:xfrm>
          <a:prstGeom prst="roundRect">
            <a:avLst>
              <a:gd name="adj" fmla="val 13861"/>
            </a:avLst>
          </a:prstGeom>
          <a:solidFill>
            <a:srgbClr val="F3B26C">
              <a:alpha val="2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685800" y="4648200"/>
            <a:ext cx="5857875" cy="962025"/>
          </a:xfrm>
          <a:custGeom>
            <a:pathLst>
              <a:path w="615" h="101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95"/>
                </a:lnTo>
                <a:cubicBezTo>
                  <a:pt x="8" y="98"/>
                  <a:pt x="10" y="101"/>
                  <a:pt x="13" y="101"/>
                </a:cubicBezTo>
                <a:cubicBezTo>
                  <a:pt x="6" y="101"/>
                  <a:pt x="0" y="94"/>
                  <a:pt x="0" y="87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57250" y="4819650"/>
            <a:ext cx="54387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Publikasi menolak selama masih ada hari yang belum dikunci. Selesaikan semuanya lebih dulu, baru tekan Publikasi.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791325" y="1238250"/>
            <a:ext cx="4791075" cy="5048250"/>
          </a:xfrm>
          <a:prstGeom prst="roundRect">
            <a:avLst>
              <a:gd name="adj" fmla="val 397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82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43750" y="1714500"/>
            <a:ext cx="4095750" cy="409575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Aksi massal: satu klik untuk banyak hari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88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85825" y="1666875"/>
            <a:ext cx="5334000" cy="419100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6848475" y="12382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6848475" y="12382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58025" y="14478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Centang dulu, lalu pilih aksinya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58025" y="19050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Ada "Pilih minggu ini" di setiap blok minggu dan "Pilih semua" di bagian atas tabel.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058025" y="24193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satu per satu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6848475" y="297180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848475" y="297180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058025" y="318135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Tombol menyesuaikan pilihan Anda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058025" y="3638550"/>
            <a:ext cx="431482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Bilah aksi di bawah layar hanya menghidupkan tombol yang cocok dengan status hari yang dicentang.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058025" y="415290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bisa salah klik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848475" y="4705350"/>
            <a:ext cx="481012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848475" y="4705350"/>
            <a:ext cx="4810125" cy="1581150"/>
          </a:xfrm>
          <a:custGeom>
            <a:pathLst>
              <a:path w="505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058025" y="4914900"/>
            <a:ext cx="43148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Buka kunci massal hanya admin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058025" y="5372100"/>
            <a:ext cx="43148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Korlas tetap terbatas kelasnya sendiri — hari dari kelas lain tidak ikut tersentuh.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058025" y="5886450"/>
            <a:ext cx="431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Aman lintas kelas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14 / 17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Laporan piket: sudah merata?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15 / 17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-1143000" y="-1428750"/>
            <a:ext cx="4191000" cy="4191000"/>
          </a:xfrm>
          <a:custGeom>
            <a:pathLst>
              <a:path w="440" h="440">
                <a:moveTo>
                  <a:pt x="430" y="155"/>
                </a:moveTo>
                <a:lnTo>
                  <a:pt x="432" y="160"/>
                </a:lnTo>
                <a:lnTo>
                  <a:pt x="433" y="165"/>
                </a:lnTo>
                <a:lnTo>
                  <a:pt x="434" y="170"/>
                </a:lnTo>
                <a:lnTo>
                  <a:pt x="436" y="176"/>
                </a:lnTo>
                <a:lnTo>
                  <a:pt x="437" y="181"/>
                </a:lnTo>
                <a:lnTo>
                  <a:pt x="437" y="187"/>
                </a:lnTo>
                <a:lnTo>
                  <a:pt x="438" y="192"/>
                </a:lnTo>
                <a:lnTo>
                  <a:pt x="439" y="198"/>
                </a:lnTo>
                <a:lnTo>
                  <a:pt x="439" y="203"/>
                </a:lnTo>
                <a:lnTo>
                  <a:pt x="440" y="209"/>
                </a:lnTo>
                <a:lnTo>
                  <a:pt x="440" y="214"/>
                </a:lnTo>
                <a:lnTo>
                  <a:pt x="440" y="220"/>
                </a:lnTo>
                <a:lnTo>
                  <a:pt x="440" y="226"/>
                </a:lnTo>
                <a:lnTo>
                  <a:pt x="440" y="231"/>
                </a:lnTo>
                <a:lnTo>
                  <a:pt x="439" y="237"/>
                </a:lnTo>
                <a:lnTo>
                  <a:pt x="439" y="242"/>
                </a:lnTo>
                <a:lnTo>
                  <a:pt x="438" y="248"/>
                </a:lnTo>
                <a:lnTo>
                  <a:pt x="437" y="253"/>
                </a:lnTo>
                <a:lnTo>
                  <a:pt x="437" y="259"/>
                </a:lnTo>
                <a:lnTo>
                  <a:pt x="436" y="264"/>
                </a:lnTo>
                <a:lnTo>
                  <a:pt x="434" y="270"/>
                </a:lnTo>
                <a:lnTo>
                  <a:pt x="433" y="275"/>
                </a:lnTo>
                <a:lnTo>
                  <a:pt x="432" y="280"/>
                </a:lnTo>
                <a:lnTo>
                  <a:pt x="430" y="285"/>
                </a:lnTo>
                <a:lnTo>
                  <a:pt x="428" y="291"/>
                </a:lnTo>
                <a:lnTo>
                  <a:pt x="427" y="296"/>
                </a:lnTo>
                <a:lnTo>
                  <a:pt x="425" y="301"/>
                </a:lnTo>
                <a:lnTo>
                  <a:pt x="423" y="306"/>
                </a:lnTo>
                <a:lnTo>
                  <a:pt x="421" y="311"/>
                </a:lnTo>
                <a:lnTo>
                  <a:pt x="418" y="315"/>
                </a:lnTo>
                <a:lnTo>
                  <a:pt x="416" y="320"/>
                </a:lnTo>
                <a:lnTo>
                  <a:pt x="413" y="325"/>
                </a:lnTo>
                <a:lnTo>
                  <a:pt x="411" y="329"/>
                </a:lnTo>
                <a:lnTo>
                  <a:pt x="408" y="334"/>
                </a:lnTo>
                <a:lnTo>
                  <a:pt x="405" y="339"/>
                </a:lnTo>
                <a:lnTo>
                  <a:pt x="402" y="343"/>
                </a:lnTo>
                <a:lnTo>
                  <a:pt x="399" y="347"/>
                </a:lnTo>
                <a:lnTo>
                  <a:pt x="396" y="352"/>
                </a:lnTo>
                <a:lnTo>
                  <a:pt x="393" y="356"/>
                </a:lnTo>
                <a:lnTo>
                  <a:pt x="390" y="360"/>
                </a:lnTo>
                <a:lnTo>
                  <a:pt x="386" y="364"/>
                </a:lnTo>
                <a:lnTo>
                  <a:pt x="383" y="368"/>
                </a:lnTo>
                <a:lnTo>
                  <a:pt x="379" y="372"/>
                </a:lnTo>
                <a:lnTo>
                  <a:pt x="376" y="376"/>
                </a:lnTo>
                <a:lnTo>
                  <a:pt x="372" y="379"/>
                </a:lnTo>
                <a:lnTo>
                  <a:pt x="368" y="383"/>
                </a:lnTo>
                <a:lnTo>
                  <a:pt x="364" y="386"/>
                </a:lnTo>
                <a:lnTo>
                  <a:pt x="360" y="390"/>
                </a:lnTo>
                <a:lnTo>
                  <a:pt x="356" y="393"/>
                </a:lnTo>
                <a:lnTo>
                  <a:pt x="352" y="396"/>
                </a:lnTo>
                <a:lnTo>
                  <a:pt x="347" y="399"/>
                </a:lnTo>
                <a:lnTo>
                  <a:pt x="343" y="402"/>
                </a:lnTo>
                <a:lnTo>
                  <a:pt x="339" y="405"/>
                </a:lnTo>
                <a:lnTo>
                  <a:pt x="334" y="408"/>
                </a:lnTo>
                <a:lnTo>
                  <a:pt x="329" y="411"/>
                </a:lnTo>
                <a:lnTo>
                  <a:pt x="325" y="413"/>
                </a:lnTo>
                <a:lnTo>
                  <a:pt x="320" y="416"/>
                </a:ln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20" y="150"/>
                </a:lnTo>
                <a:lnTo>
                  <a:pt x="429" y="150"/>
                </a:ln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609600" y="1009650"/>
            <a:ext cx="5857875" cy="2343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10000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Merata,</a:t>
            </a:r>
            <a:endParaRPr/>
          </a:p>
          <a:p>
            <a:pPr>
              <a:lnSpc>
                <a:spcPct val="110000"/>
              </a:lnSpc>
            </a:pPr>
            <a:r>
              <a:rPr lang="en-US" sz="4650" b="1">
                <a:solidFill>
                  <a:srgbClr val="51277C"/>
                </a:solidFill>
                <a:latin typeface="Trebuchet MS"/>
                <a:ea typeface="Trebuchet MS"/>
              </a:rPr>
              <a:t>bukan sekadar penuh.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609600" y="3562350"/>
            <a:ext cx="58578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Menu Laporan menghitung berapa kali setiap orang tua sudah mengambil piket, lengkap dengan tanggal dan menunya. Angkanya diambil dari tempat yang sama dengan yang dipakai orang tua saat mengambil tanggal.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685800" y="5143500"/>
            <a:ext cx="5857875" cy="1381125"/>
          </a:xfrm>
          <a:prstGeom prst="roundRect">
            <a:avLst>
              <a:gd name="adj" fmla="val 9655"/>
            </a:avLst>
          </a:prstGeom>
          <a:solidFill>
            <a:srgbClr val="F3B26C">
              <a:alpha val="2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5143500"/>
            <a:ext cx="5857875" cy="1381125"/>
          </a:xfrm>
          <a:custGeom>
            <a:pathLst>
              <a:path w="615" h="145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139"/>
                </a:lnTo>
                <a:cubicBezTo>
                  <a:pt x="8" y="142"/>
                  <a:pt x="10" y="145"/>
                  <a:pt x="13" y="145"/>
                </a:cubicBezTo>
                <a:cubicBezTo>
                  <a:pt x="6" y="145"/>
                  <a:pt x="0" y="138"/>
                  <a:pt x="0" y="131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57250" y="5314950"/>
            <a:ext cx="54387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Yang paling berguna justru satu daftar ini: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57250" y="5724525"/>
            <a:ext cx="543877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Belum pernah ambil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57250" y="6057900"/>
            <a:ext cx="5438775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75">
                <a:solidFill>
                  <a:srgbClr val="2A2333"/>
                </a:solidFill>
                <a:latin typeface="Verdana"/>
                <a:ea typeface="Verdana"/>
              </a:rPr>
              <a:t>merekalah yang bisa diajak lebih dulu bulan depan.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791325" y="1238250"/>
            <a:ext cx="4791075" cy="5048250"/>
          </a:xfrm>
          <a:prstGeom prst="roundRect">
            <a:avLst>
              <a:gd name="adj" fmla="val 3976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21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43750" y="1714500"/>
            <a:ext cx="4095750" cy="409575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Empat hal yang perlu diingat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09600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09600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83820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29" name="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85925"/>
            <a:ext cx="285750" cy="285750"/>
          </a:xfrm>
          <a:prstGeom prst="rect">
            <a:avLst/>
          </a:prstGeom>
          <a:ln/>
        </p:spPr>
      </p:pic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38200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Kosongkan petugas sebelum terbit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83820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838200" y="3219450"/>
            <a:ext cx="2162175" cy="2333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Bila tanggalnya ingin direbut orang tua, biarkan petugas kosong sebelum dipublikasikan. Setelah terbit, yang masih bisa diisi hanya petugas — menu &amp; catatan tetap terkunci.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38200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Tentukan sebelum kunci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400425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3400425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36290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3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685925"/>
            <a:ext cx="285750" cy="285750"/>
          </a:xfrm>
          <a:prstGeom prst="rect">
            <a:avLst/>
          </a:prstGeom>
          <a:ln/>
        </p:spPr>
      </p:pic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3629025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Selesaikan semua dulu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6290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3629025" y="3219450"/>
            <a:ext cx="2152650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Publikasi menolak selama masih ada hari yang belum dikunci. Periksa kartu status per kelas sebelum menekan tombolnya.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629025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Jangan separuh jadi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181725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6181725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4103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685925"/>
            <a:ext cx="285750" cy="285750"/>
          </a:xfrm>
          <a:prstGeom prst="rect">
            <a:avLst/>
          </a:prstGeom>
          <a:ln/>
        </p:spPr>
      </p:pic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410325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Revisi sesudah terbit: minta admin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64103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410325" y="3219450"/>
            <a:ext cx="2162175" cy="1457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Membuka kunci jadwal wewenang admin. Korlas tidak bisa mencairkan jadwal yang sudah dikunci atau terbit.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410325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Sampaikan ke admin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8972550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8972550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920115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pic>
        <p:nvPicPr>
          <p:cNvPr id="153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44025" y="1685925"/>
            <a:ext cx="285750" cy="285750"/>
          </a:xfrm>
          <a:prstGeom prst="rect">
            <a:avLst/>
          </a:prstGeom>
          <a:ln/>
        </p:spPr>
      </p:pic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201150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Hari libur sekolah wewenang admin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920115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9201150" y="3219450"/>
            <a:ext cx="2152650" cy="1752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Korlas bisa menandai libur pada jadwal kelasnya sendiri. Hari libur yang berlaku untuk semua kelas ditambahkan admin.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9201150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Berlaku sekolah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09600" y="5848350"/>
            <a:ext cx="10972800" cy="438150"/>
          </a:xfrm>
          <a:prstGeom prst="roundRect">
            <a:avLst>
              <a:gd name="adj" fmla="val 30435"/>
            </a:avLst>
          </a:prstGeom>
          <a:solidFill>
            <a:srgbClr val="51277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276600" y="5962650"/>
            <a:ext cx="5638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Verdana"/>
                <a:ea typeface="Verdana"/>
              </a:rPr>
              <a:t>Intinya: susun, tentukan petugas, kunci, lalu terbitkan.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905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Korlas &amp; Admin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16 / 17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3619500" y="857250"/>
            <a:ext cx="4953000" cy="4953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-762000" y="4572000"/>
            <a:ext cx="3048000" cy="3048000"/>
          </a:xfrm>
          <a:custGeom>
            <a:pathLst>
              <a:path w="320" h="320">
                <a:moveTo>
                  <a:pt x="164" y="0"/>
                </a:moveTo>
                <a:cubicBezTo>
                  <a:pt x="221" y="2"/>
                  <a:pt x="272" y="33"/>
                  <a:pt x="300" y="82"/>
                </a:cubicBezTo>
                <a:cubicBezTo>
                  <a:pt x="327" y="131"/>
                  <a:pt x="327" y="191"/>
                  <a:pt x="299" y="240"/>
                </a:cubicBezTo>
                <a:lnTo>
                  <a:pt x="80" y="240"/>
                </a:lnTo>
                <a:lnTo>
                  <a:pt x="80" y="21"/>
                </a:lnTo>
                <a:cubicBezTo>
                  <a:pt x="104" y="7"/>
                  <a:pt x="132" y="0"/>
                  <a:pt x="16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8000"/>
                </a:srgbClr>
              </a:gs>
              <a:gs pos="100000">
                <a:srgbClr val="F3B26C">
                  <a:alpha val="18000"/>
                </a:srgbClr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166" name=""/>
          <p:cNvPicPr>
            <a:picLocks noChangeAspect="1"/>
          </p:cNvPicPr>
          <p:nvPr/>
        </p:nvPicPr>
        <p:blipFill>
          <a:blip r:embed="rId1"/>
          <a:srcRect l="0" t="52" r="0" b="52"/>
          <a:stretch>
            <a:fillRect/>
          </a:stretch>
        </p:blipFill>
        <p:spPr>
          <a:xfrm rot="0" flipH="0" flipV="0">
            <a:off x="5143500" y="981075"/>
            <a:ext cx="1905000" cy="1847850"/>
          </a:xfrm>
          <a:prstGeom prst="rect">
            <a:avLst/>
          </a:prstGeom>
          <a:ln/>
        </p:spPr>
      </p:pic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19600" y="3076575"/>
            <a:ext cx="33528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51277C"/>
                </a:solidFill>
                <a:latin typeface="Trebuchet MS"/>
                <a:ea typeface="Trebuchet MS"/>
              </a:rPr>
              <a:t>Terima kasih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5638800" y="403860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2162175" y="4314825"/>
            <a:ext cx="7867650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2A2333"/>
                </a:solidFill>
                <a:latin typeface="Verdana"/>
                <a:ea typeface="Verdana"/>
              </a:rPr>
              <a:t>Coba tempel jadwal dari teks sekolah minggu ini, lalu periksa Laporannya.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467100" y="4829175"/>
            <a:ext cx="5267325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Ada yang tidak beres? Sampaikan kepada admin sekolah.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4962525" y="5410200"/>
            <a:ext cx="2276475" cy="466725"/>
          </a:xfrm>
          <a:prstGeom prst="roundRect">
            <a:avLst>
              <a:gd name="adj" fmla="val 2038776"/>
            </a:avLst>
          </a:prstGeom>
          <a:solidFill>
            <a:srgbClr val="F3B26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229225" y="5543550"/>
            <a:ext cx="209550" cy="209550"/>
          </a:xfrm>
          <a:prstGeom prst="rect">
            <a:avLst/>
          </a:prstGeom>
          <a:ln/>
        </p:spPr>
      </p:pic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5553075" y="5534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2026-10-01T14:31:45Z</dcterms:created>
  <dcterms:modified xsi:type="dcterms:W3CDTF">2026-10-01T14:31:45Z</dcterms:modified>
</cp:coreProperties>
</file>