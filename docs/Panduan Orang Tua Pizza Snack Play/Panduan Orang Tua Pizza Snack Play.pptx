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20" Type="http://schemas.openxmlformats.org/officeDocument/2006/relationships/viewProps" Target="viewProps.xml" /><Relationship Id="rId15" Type="http://schemas.openxmlformats.org/officeDocument/2006/relationships/slide" Target="slides/slide15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9" Type="http://schemas.openxmlformats.org/officeDocument/2006/relationships/tableStyles" Target="tableStyles.xml" /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5" Type="http://schemas.openxmlformats.org/officeDocument/2006/relationships/slide" Target="slides/slide5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7" Type="http://schemas.openxmlformats.org/officeDocument/2006/relationships/slide" Target="slides/slide7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3" Type="http://schemas.openxmlformats.org/officeDocument/2006/relationships/image" Target="media/image3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2" Type="http://schemas.openxmlformats.org/officeDocument/2006/relationships/image" Target="media/image2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svg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19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20.svg" /><Relationship Id="rId1" Type="http://schemas.openxmlformats.org/officeDocument/2006/relationships/image" Target="media/image18.svg" /><Relationship Id="rId4" Type="http://schemas.openxmlformats.org/officeDocument/2006/relationships/image" Target="media/image21.svg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2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3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4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5.svg" /></Relationships>
</file>

<file path=ppt/slides/_rels/slide8.xml.rels><?xml version="1.0" encoding="UTF-8" standalone="yes"?><Relationships xmlns="http://schemas.openxmlformats.org/package/2006/relationships"><Relationship Id="rId3" Type="http://schemas.openxmlformats.org/officeDocument/2006/relationships/image" Target="media/image28.svg" /><Relationship Id="rId1" Type="http://schemas.openxmlformats.org/officeDocument/2006/relationships/image" Target="media/image26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7.svg" /><Relationship Id="rId6" Type="http://schemas.openxmlformats.org/officeDocument/2006/relationships/image" Target="media/image31.svg" /><Relationship Id="rId4" Type="http://schemas.openxmlformats.org/officeDocument/2006/relationships/image" Target="media/image29.svg" /><Relationship Id="rId5" Type="http://schemas.openxmlformats.org/officeDocument/2006/relationships/image" Target="media/image30.svg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32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Relationship Id="rId2" Type="http://schemas.openxmlformats.org/officeDocument/2006/relationships/image" Target="media/image6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Relationship Id="rId2" Type="http://schemas.openxmlformats.org/officeDocument/2006/relationships/image" Target="media/image9.svg" /><Relationship Id="rId3" Type="http://schemas.openxmlformats.org/officeDocument/2006/relationships/image" Target="media/image10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12.svg" /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15.svg" /><Relationship Id="rId2" Type="http://schemas.openxmlformats.org/officeDocument/2006/relationships/image" Target="media/image13.svg" /><Relationship Id="rId3" Type="http://schemas.openxmlformats.org/officeDocument/2006/relationships/image" Target="media/image14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Relationship Id="rId2" Type="http://schemas.openxmlformats.org/officeDocument/2006/relationships/image" Target="media/image16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&#13;&#10;    style={{&#13;&#10;        width: '1280px',&#13;&#10;        height: '720px',&#13;&#10;        background: '#FAF7F2',&#13;&#10;        flexDirection: 'row',&#13;&#10;        padding: 0,&#13;&#10;        position: 'relative',&#13;&#10;        overflow: 'hidden',&#13;&#10;    }}&#13;&#10;&gt;&#13;&#10;    {/* dekorasi latar — lingkaran besar semi-transparan */}&#13;&#10;    &lt;Box&#13;&#10;        style={{&#13;&#10;            position: 'absolute',&#13;&#10;            top: -140,&#13;&#10;            right: -120,&#13;&#10;            width: 520,&#13;&#10;            height: 520,&#13;&#10;            borderRadius: 260,&#13;&#10;            background: 'linear-gradient(135deg, #51277C 0%, #7A45A8 100%)',&#13;&#10;            opacity: 0.10,&#13;&#10;        }}&#13;&#10;    /&gt;&#13;&#10;    &lt;Box&#13;&#10;        style={{&#13;&#10;            position: 'absolute',&#13;&#10;            bottom: -90,&#13;&#10;            left: -80,&#13;&#10;            width: 360,&#13;&#10;            height: 360,&#13;&#10;            borderRadius: 180,&#13;&#10;            background: 'linear-gradient(135deg, #AFC440 0%, #F3B26C 100%)',&#13;&#10;            opacity: 0.14,&#13;&#10;        }}&#13;&#10;    /&gt;&#13;&#10;&#13;&#10;    {/* ── kolom kiri: judul ── */}&#13;&#10;    &lt;Box&#13;&#10;        style={{&#13;&#10;            position: 'relative',&#13;&#10;            zIndex: 1,&#13;&#10;            width: '56%',&#13;&#10;            paddingTop: 96,&#13;&#10;            paddingBottom: 96,&#13;&#10;            paddingLeft: 64,&#13;&#10;            paddingRight: 32,&#13;&#10;            justifyContent: 'center',&#13;&#10;        }}&#13;&#10;    &gt;&#13;&#10;        &lt;Box&#13;&#10;            style={{&#13;&#10;                flexDirection: 'row',&#13;&#10;                alignItems: 'center',&#13;&#10;                gap: 10,&#13;&#10;                alignSelf: 'flex-start',&#13;&#10;                background: '#51277C',&#13;&#10;                borderRadius: 999,&#13;&#10;                paddingTop: 9,&#13;&#10;                paddingBottom: 9,&#13;&#10;                paddingLeft: 20,&#13;&#10;                paddingRight: 22,&#13;&#10;            }}&#13;&#10;        &gt;&#13;&#10;            &lt;svg width={20} height={20} viewBox=&quot;0 0 640 512&quot; xmlns=&quot;http://www.w3.org/2000/svg&quot;&gt;&lt;path fill=&quot;#F3B26C&quot; d=&quot;M144 0a80 80 0 1 1 0 160A80 80 0 1 1 144 0zM512 0a80 80 0 1 1 0 160A80 80 0 1 1 512 0zM0 298.7C0 239.8 47.8 192 106.7 192h42.7c15.9 0 31 3.5 44.6 9.7c-1.3 7.2-1.9 14.7-1.9 22.3c0 38.2 16.8 72.5 43.3 96c-.2 0-.4 0-.7 0H21.3C9.6 320 0 310.4 0 298.7zM405.3 320c-.2 0-.4 0-.7 0c26.6-23.5 43.3-57.8 43.3-96c0-7.6-.7-15-1.9-22.3c13.6-6.3 28.7-9.7 44.6-9.7h42.7C592.2 192 640 239.8 640 298.7c0 11.8-9.6 21.3-21.3 21.3H405.3zM224 224a96 96 0 1 1 192 0 96 96 0 1 1 -192 0zM128 485.3C128 411.7 187.7 352 261.3 352H378.7C452.3 352 512 411.7 512 485.3c0 14.7-11.9 26.7-26.7 26.7H154.7c-14.7 0-26.7-11.9-26.7-26.7z&quot; /&gt;&lt;/svg&gt;&#13;&#10;            &lt;Text style={{ fontSize: 17, color: '#FFFFFF', fontFamily: 'Verdana', fontWeight: 'bold' }}&gt;&#13;&#10;                Panduan Orang Tua Murid&#13;&#10;            &lt;/Text&gt;&#13;&#10;        &lt;/Box&gt;&#13;&#10;&#13;&#10;        &lt;Text&#13;&#10;            style={{&#13;&#10;                marginTop: 26,&#13;&#10;                fontSize: 66,&#13;&#10;                fontWeight: 'bold',&#13;&#10;                color: '#51277C',&#13;&#10;                fontFamily: 'Trebuchet MS',&#13;&#10;                lineHeight: 1.15,&#13;&#10;            }}&#13;&#10;        &gt;&#13;&#10;            Pizza Snack Play&#13;&#10;        &lt;/Text&gt;&#13;&#10;&#13;&#10;        &lt;Box style={{ marginTop: 18, width: 96, height: 7, borderRadius: 4, background: '#AFC440' }} /&gt;&#13;&#10;&#13;&#10;        &lt;Text&#13;&#10;            style={{&#13;&#10;                marginTop: 26,&#13;&#10;                fontSize: 23,&#13;&#10;                color: '#2A2333',&#13;&#10;                fontFamily: 'Verdana',&#13;&#10;                lineHeight: 1.55,&#13;&#10;            }}&#13;&#10;        &gt;&#13;&#10;            Jadwal snack anak, giliran piket, dan menu hari ini —&#13;&#10;            &lt;span style={{ fontWeight: 'bold', color: '#51277C' }}&gt; semuanya langsung kelihatan di HP&lt;/span&gt;&#13;&#10;            {' '}Bapak dan Ibu.&#13;&#10;        &lt;/Text&gt;&#13;&#10;&#13;&#10;        &lt;Text&#13;&#10;            style={{&#13;&#10;                marginTop: 22,&#13;&#10;                fontSize: 19,&#13;&#10;                color: '#6B6478',&#13;&#10;                fontFamily: 'Verdana',&#13;&#10;                lineHeight: 1.5,&#13;&#10;            }}&#13;&#10;        &gt;&#13;&#10;            Tidak perlu lagi tanya-tanya ke grup.&#13;&#10;        &lt;/Text&gt;&#13;&#10;    &lt;/Box&gt;&#13;&#10;&#13;&#10;    {/* ── kolom kanan: logo + ilustrasi ── */}&#13;&#10;    &lt;Box&#13;&#10;        style={{&#13;&#10;            position: 'relative',&#13;&#10;            zIndex: 1,&#13;&#10;            width: '44%',&#13;&#10;            justifyContent: 'center',&#13;&#10;            alignItems: 'center',&#13;&#10;        }}&#13;&#10;    &gt;&#13;&#10;        &lt;Image&#13;&#10;            src=&quot;assets/app_logo.png&quot;&#13;&#10;            style={{ width: 400, height: 388, objectFit: 'contain' }}&#13;&#10;        /&gt;&#13;&#10;&#13;&#10;        &lt;Box&#13;&#10;            style={{&#13;&#10;                marginTop: 18,&#13;&#10;                flexDirection: 'row',&#13;&#10;                alignItems: 'center',&#13;&#10;                gap: 12,&#13;&#10;                background: 'rgba(81,39,124,0.07)',&#13;&#10;                borderRadius: 14,&#13;&#10;                paddingTop: 12,&#13;&#10;                paddingBottom: 12,&#13;&#10;                paddingLeft: 22,&#13;&#10;                paddingRight: 22,&#13;&#10;            }}&#13;&#10;        &gt;&#13;&#10;            &lt;svg width={34} height={34} viewBox='0 0 24 24'&gt;&#13;&#10;                &lt;path&#13;&#10;                    d='M7 2v3M17 2v3M3 9h18M5 5h14a2 2 0 0 1 2 2v12a2 2 0 0 1-2 2H5a2 2 0 0 1-2-2V7a2 2 0 0 1 2-2z'&#13;&#10;                    fill='none'&#13;&#10;                    stroke='#51277C'&#13;&#10;                    strokeWidth='2'&#13;&#10;                    strokeLinecap='round'&#13;&#10;                /&gt;&#13;&#10;            &lt;/svg&gt;&#13;&#10;            &lt;Text style={{ fontSize: 18, color: '#51277C', fontFamily: 'Verdana', fontWeight: 'bold' }}&gt;&#13;&#10;                Senin sampai Jumat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8382000" y="-1333500"/>
            <a:ext cx="4953000" cy="4953000"/>
          </a:xfrm>
          <a:custGeom>
            <a:pathLst>
              <a:path w="520" h="520">
                <a:moveTo>
                  <a:pt x="400" y="479"/>
                </a:move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400" y="140"/>
                </a:lnTo>
                <a:close/>
              </a:path>
            </a:pathLst>
          </a:custGeom>
          <a:gradFill>
            <a:gsLst>
              <a:gs pos="0">
                <a:srgbClr val="51277C">
                  <a:alpha val="10000"/>
                </a:srgbClr>
              </a:gs>
              <a:gs pos="100000">
                <a:srgbClr val="7A45A8">
                  <a:alpha val="1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762000" y="4286250"/>
            <a:ext cx="3429000" cy="3429000"/>
          </a:xfrm>
          <a:custGeom>
            <a:pathLst>
              <a:path w="360" h="360">
                <a:moveTo>
                  <a:pt x="185" y="0"/>
                </a:moveTo>
                <a:cubicBezTo>
                  <a:pt x="248" y="2"/>
                  <a:pt x="306" y="37"/>
                  <a:pt x="337" y="92"/>
                </a:cubicBezTo>
                <a:cubicBezTo>
                  <a:pt x="368" y="147"/>
                  <a:pt x="368" y="215"/>
                  <a:pt x="336" y="270"/>
                </a:cubicBezTo>
                <a:lnTo>
                  <a:pt x="80" y="270"/>
                </a:lnTo>
                <a:lnTo>
                  <a:pt x="80" y="30"/>
                </a:lnTo>
                <a:cubicBezTo>
                  <a:pt x="110" y="11"/>
                  <a:pt x="144" y="0"/>
                  <a:pt x="180" y="0"/>
                </a:cubicBezTo>
                <a:close/>
              </a:path>
            </a:pathLst>
          </a:custGeom>
          <a:gradFill>
            <a:gsLst>
              <a:gs pos="0">
                <a:srgbClr val="AFC440">
                  <a:alpha val="14000"/>
                </a:srgbClr>
              </a:gs>
              <a:gs pos="100000">
                <a:srgbClr val="F3B26C">
                  <a:alpha val="14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09600" y="1552575"/>
            <a:ext cx="3057525" cy="371475"/>
          </a:xfrm>
          <a:prstGeom prst="roundRect">
            <a:avLst>
              <a:gd name="adj" fmla="val 2561538"/>
            </a:avLst>
          </a:prstGeom>
          <a:solidFill>
            <a:srgbClr val="51277C"/>
          </a:solidFill>
          <a:ln/>
        </p:spPr>
        <p:txBody>
          <a:bodyPr/>
          <a:p/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647825"/>
            <a:ext cx="190500" cy="19050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085850" y="1638300"/>
            <a:ext cx="2371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Verdana"/>
                <a:ea typeface="Verdana"/>
              </a:rPr>
              <a:t>Panduan Orang Tua Murid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2171700"/>
            <a:ext cx="5915025" cy="876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950" b="1">
                <a:solidFill>
                  <a:srgbClr val="51277C"/>
                </a:solidFill>
                <a:latin typeface="Trebuchet MS"/>
                <a:ea typeface="Trebuchet MS"/>
              </a:rPr>
              <a:t>Pizza Snack Play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3219450"/>
            <a:ext cx="914400" cy="66675"/>
          </a:xfrm>
          <a:prstGeom prst="roundRect">
            <a:avLst>
              <a:gd name="adj" fmla="val 57143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533775"/>
            <a:ext cx="5915025" cy="1228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725">
                <a:solidFill>
                  <a:srgbClr val="2A2333"/>
                </a:solidFill>
                <a:latin typeface="Verdana"/>
                <a:ea typeface="Verdana"/>
              </a:rPr>
              <a:t>Jadwal snack anak, giliran piket, dan menu hari ini —</a:t>
            </a:r>
            <a:r>
              <a:rPr lang="en-US" sz="1725" b="1">
                <a:solidFill>
                  <a:srgbClr val="51277C"/>
                </a:solidFill>
                <a:latin typeface="Verdana"/>
                <a:ea typeface="Verdana"/>
              </a:rPr>
              <a:t xml:space="preserve"> semuanya langsung kelihatan di HP</a:t>
            </a:r>
            <a:r>
              <a:rPr lang="en-US" sz="1725">
                <a:solidFill>
                  <a:srgbClr val="2A2333"/>
                </a:solidFill>
                <a:latin typeface="Verdana"/>
                <a:ea typeface="Verdana"/>
              </a:rPr>
              <a:t xml:space="preserve"> </a:t>
            </a:r>
            <a:r>
              <a:rPr lang="en-US" sz="1725">
                <a:solidFill>
                  <a:srgbClr val="2A2333"/>
                </a:solidFill>
                <a:latin typeface="Verdana"/>
                <a:ea typeface="Verdana"/>
              </a:rPr>
              <a:t>Bapak dan Ibu.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4972050"/>
            <a:ext cx="591502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425">
                <a:solidFill>
                  <a:srgbClr val="6B6478"/>
                </a:solidFill>
                <a:latin typeface="Verdana"/>
                <a:ea typeface="Verdana"/>
              </a:rPr>
              <a:t>Tidak perlu lagi tanya-tanya ke grup.</a:t>
            </a:r>
            <a:endParaRPr/>
          </a:p>
        </p:txBody>
      </p:sp>
      <p:pic>
        <p:nvPicPr>
          <p:cNvPr id="12" name=""/>
          <p:cNvPicPr>
            <a:picLocks noChangeAspect="1"/>
          </p:cNvPicPr>
          <p:nvPr/>
        </p:nvPicPr>
        <p:blipFill>
          <a:blip r:embed="rId2"/>
          <a:srcRect l="0" t="52" r="0" b="52"/>
          <a:stretch>
            <a:fillRect/>
          </a:stretch>
        </p:blipFill>
        <p:spPr>
          <a:xfrm rot="0" flipH="0" flipV="0">
            <a:off x="7610475" y="1219200"/>
            <a:ext cx="3810000" cy="3695700"/>
          </a:xfrm>
          <a:prstGeom prst="rect">
            <a:avLst/>
          </a:prstGeom>
          <a:ln/>
        </p:spPr>
      </p:pic>
      <p:sp>
        <p:nvSpPr>
          <p:cNvPr id="13" name=""/>
          <p:cNvSpPr/>
          <p:nvPr/>
        </p:nvSpPr>
        <p:spPr>
          <a:xfrm rot="0" flipH="0" flipV="0">
            <a:off x="8115300" y="5086350"/>
            <a:ext cx="2800350" cy="552450"/>
          </a:xfrm>
          <a:prstGeom prst="roundRect">
            <a:avLst>
              <a:gd name="adj" fmla="val 24138"/>
            </a:avLst>
          </a:prstGeom>
          <a:solidFill>
            <a:srgbClr val="51277C">
              <a:alpha val="7000"/>
            </a:srgbClr>
          </a:solidFill>
          <a:ln/>
        </p:spPr>
        <p:txBody>
          <a:bodyPr/>
          <a:p/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24850" y="5200650"/>
            <a:ext cx="323850" cy="323850"/>
          </a:xfrm>
          <a:prstGeom prst="rect">
            <a:avLst/>
          </a:prstGeom>
          <a:ln/>
        </p:spPr>
      </p:pic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763000" y="5257800"/>
            <a:ext cx="1943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51277C"/>
                </a:solidFill>
                <a:latin typeface="Verdana"/>
                <a:ea typeface="Verdana"/>
              </a:rPr>
              <a:t>Senin sampai Jumat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2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(20–130)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Isi panduan ini&#10;        &lt;/Text&gt;&#10;        &lt;Box style={{ marginTop: 10, width: 72, height: 6, borderRadius: 3, background: '#51277C' }} /&gt;&#10;    &lt;/Box&gt;&#10;&#10;    {/* ── B · area konten (130–660) ── */}&#10;    &lt;Box style={{ height: 530, flexDirection: 'row', gap: 28 }}&gt;&#10;        {/* kolom kiri 32% — penanda jumlah bagian */}&#10;        &lt;Box&#10;            style={{&#10;                width: '32%',&#10;                height: '100%',&#10;                background: 'linear-gradient(135deg, #51277C 0%, #7A45A8 100%)',&#10;                borderRadius: 18,&#10;                padding: 28,&#10;                justifyContent: 'space-between',&#10;            }}&#10;        &gt;&#10;            &lt;Box&gt;&#10;                &lt;Text&#10;                    style={{&#10;                        fontSize: 96,&#10;                        fontWeight: 'bold',&#10;                        color: '#FFFFFF',&#10;                        fontFamily: 'Trebuchet MS',&#10;                        lineHeight: 1,&#10;                    }}&#10;                &gt;&#10;                    4&#10;                &lt;/Text&gt;&#10;                &lt;Text&#10;                    style={{&#10;                        marginTop: 6,&#10;                        fontSize: 24,&#10;                        fontWeight: 'bold',&#10;                        color: '#F3B26C',&#10;                        fontFamily: 'Trebuchet MS',&#10;                    }}&#10;                &gt;&#10;                    bagian&#10;                &lt;/Text&gt;&#10;            &lt;/Box&gt;&#10;            &lt;Text&#10;                style={{&#10;                    fontSize: 17,&#10;                    color: 'rgba(255,255,255,0.88)',&#10;                    fontFamily: 'Verdana',&#10;                    lineHeight: 1.5,&#10;                }}&#10;            &gt;&#10;                Singkat saja. Bagian 2 dan 3 yang paling sering dipakai sehari-hari.&#10;            &lt;/Text&gt;&#10;        &lt;/Box&gt;&#10;&#10;        {/* kolom kanan 68% — daftar bagian */}&#10;        &lt;Box style={{ width: '68%', height: '100%', justifyContent: 'space-between' }}&gt;&#10;            {[&#10;                {&#10;                    n: '01',&#10;                    t: 'Kenapa ada aplikasi ini',&#10;                    d: 'Masalah yang selama ini bikin repot, dan apa yang berubah.',&#10;                    p: '3–5',&#10;                },&#10;                {&#10;                    n: '02',&#10;                    t: 'Cara mulai',&#10;                    d: 'Memasang aplikasi di HP, lalu masuk memakai akun dari sekolah.',&#10;                    p: '6–8',&#10;                },&#10;                {&#10;                    n: '03',&#10;                    t: 'Dipakai tiap hari',&#10;                    d: 'Melihat jadwal snack, mengambil tanggal piket, mencari menu.',&#10;                    p: '9–13',&#10;                },&#10;                {&#10;                    n: '04',&#10;                    t: 'Yang perlu diingat',&#10;                    d: 'Empat aturan yang paling sering ditanyakan orang tua.',&#10;                    p: '14–15',&#10;                },&#10;            ].map((it, i) =&gt; (&#10;                &lt;Box&#10;                    key={i}&#10;                    style={{&#10;                        flexDirection: 'row',&#10;                        alignItems: 'center',&#10;                        gap: 20,&#10;                        height: 122,&#10;                        background: '#FFFFFF',&#10;                        borderRadius: 16,&#10;                        boxShadow: '0 4px 20px rgba(0,0,0,0.08)',&#10;                        paddingLeft: 24,&#10;                        paddingRight: 28,&#10;                        borderLeft: '8px solid #AFC440',&#10;                    }}&#10;                &gt;&#10;                    &lt;Box&#10;                        style={{&#10;                            width: 56,&#10;                            height: 56,&#10;                            borderRadius: 28,&#10;                            background: 'rgba(81,39,124,0.09)',&#10;                            justifyContent: 'center',&#10;                            alignItems: 'center',&#10;                        }}&#10;                    &gt;&#10;                        &lt;Text&#10;                            style={{&#10;                                fontSize: 24,&#10;                                fontWeight: 'bold',&#10;                                color: '#51277C',&#10;                                fontFamily: 'Trebuchet MS',&#10;                            }}&#10;                        &gt;&#10;                            {it.n}&#10;                        &lt;/Text&gt;&#10;                    &lt;/Box&gt;&#10;                    &lt;Box style={{ flex: 1 }}&gt;&#10;                        &lt;Text&#10;                            style={{&#10;                                fontSize: 25,&#10;                                fontWeight: 'bold',&#10;                                color: '#2A2333',&#10;                                fontFamily: 'Trebuchet MS',&#10;                                lineHeight: 1.3,&#10;                            }}&#10;                        &gt;&#10;                            {it.t}&#10;                        &lt;/Text&gt;&#10;                        &lt;Text&#10;                            style={{&#10;                                marginTop: 5,&#10;                                fontSize: 18,&#10;                                color: '#6B6478',&#10;                                fontFamily: 'Verdana',&#10;                                lineHeight: 1.45,&#10;                            }}&#10;                        &gt;&#10;                            {it.d}&#10;                        &lt;/Text&gt;&#10;                    &lt;/Box&gt;&#10;                    &lt;Text&#10;                        style={{&#10;                            fontSize: 17,&#10;                            color: '#51277C',&#10;                            fontFamily: 'Verdana',&#10;                            fontWeight: 'bold',&#10;                        }}&#10;                    &gt;&#10;                        {it.p}&#10;                    &lt;/Text&gt;&#10;                &lt;/Box&gt;&#10;            ))}&#10;        &lt;/Box&gt;&#10;    &lt;/Box&gt;&#10;&#10;    {/* ── C · bilah kaki (660–700)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Orang Tua&#10;        &lt;/Text&gt;&#10;        &lt;Text style={{ fontSize: 14, color: '#6B6478', fontFamily: 'Verdana' }}&gt;02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Isi panduan ini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609600" y="1238250"/>
            <a:ext cx="3429000" cy="504825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76300" y="1504950"/>
            <a:ext cx="28956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Trebuchet MS"/>
                <a:ea typeface="Trebuchet MS"/>
              </a:rPr>
              <a:t>4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76300" y="2667000"/>
            <a:ext cx="2895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3B26C"/>
                </a:solidFill>
                <a:latin typeface="Trebuchet MS"/>
                <a:ea typeface="Trebuchet MS"/>
              </a:rPr>
              <a:t>bagian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76300" y="5429250"/>
            <a:ext cx="2895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Singkat saja. Bagian 2 dan 3 yang paling sering dipakai sehari-hari.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4381500" y="1238250"/>
            <a:ext cx="7277100" cy="116205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4381500" y="1238250"/>
            <a:ext cx="7277100" cy="1162050"/>
          </a:xfrm>
          <a:custGeom>
            <a:pathLst>
              <a:path w="764" h="12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14"/>
                </a:lnTo>
                <a:cubicBezTo>
                  <a:pt x="8" y="118"/>
                  <a:pt x="11" y="121"/>
                  <a:pt x="14" y="122"/>
                </a:cubicBezTo>
                <a:cubicBezTo>
                  <a:pt x="6" y="121"/>
                  <a:pt x="0" y="114"/>
                  <a:pt x="0" y="10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4610100" y="15525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>
              <a:alpha val="9000"/>
            </a:srgbClr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743450" y="1685925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01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334000" y="1457325"/>
            <a:ext cx="543877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75" b="1">
                <a:solidFill>
                  <a:srgbClr val="2A2333"/>
                </a:solidFill>
                <a:latin typeface="Trebuchet MS"/>
                <a:ea typeface="Trebuchet MS"/>
              </a:rPr>
              <a:t>Kenapa ada aplikasi ini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334000" y="1876425"/>
            <a:ext cx="5438775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Masalah yang selama ini bikin repot, dan apa yang berubah.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0963275" y="1724025"/>
            <a:ext cx="352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Verdana"/>
                <a:ea typeface="Verdana"/>
              </a:rPr>
              <a:t>3–5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4381500" y="2533650"/>
            <a:ext cx="7277100" cy="116205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4381500" y="2533650"/>
            <a:ext cx="7277100" cy="1162050"/>
          </a:xfrm>
          <a:custGeom>
            <a:pathLst>
              <a:path w="764" h="12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14"/>
                </a:lnTo>
                <a:cubicBezTo>
                  <a:pt x="8" y="118"/>
                  <a:pt x="11" y="121"/>
                  <a:pt x="14" y="122"/>
                </a:cubicBezTo>
                <a:cubicBezTo>
                  <a:pt x="6" y="121"/>
                  <a:pt x="0" y="114"/>
                  <a:pt x="0" y="10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4610100" y="28479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>
              <a:alpha val="9000"/>
            </a:srgbClr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743450" y="2981325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02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334000" y="2752725"/>
            <a:ext cx="543877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75" b="1">
                <a:solidFill>
                  <a:srgbClr val="2A2333"/>
                </a:solidFill>
                <a:latin typeface="Trebuchet MS"/>
                <a:ea typeface="Trebuchet MS"/>
              </a:rPr>
              <a:t>Cara mulai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334000" y="3171825"/>
            <a:ext cx="54387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Memasang aplikasi di HP, lalu masuk memakai akun dari sekolah.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0963275" y="3019425"/>
            <a:ext cx="352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Verdana"/>
                <a:ea typeface="Verdana"/>
              </a:rPr>
              <a:t>6–8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4381500" y="3829050"/>
            <a:ext cx="7277100" cy="116205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4381500" y="3829050"/>
            <a:ext cx="7277100" cy="1162050"/>
          </a:xfrm>
          <a:custGeom>
            <a:pathLst>
              <a:path w="764" h="12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14"/>
                </a:lnTo>
                <a:cubicBezTo>
                  <a:pt x="8" y="118"/>
                  <a:pt x="11" y="121"/>
                  <a:pt x="14" y="122"/>
                </a:cubicBezTo>
                <a:cubicBezTo>
                  <a:pt x="6" y="121"/>
                  <a:pt x="0" y="114"/>
                  <a:pt x="0" y="10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4610100" y="41433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>
              <a:alpha val="9000"/>
            </a:srgbClr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4743450" y="4276725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03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334000" y="4048125"/>
            <a:ext cx="532447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75" b="1">
                <a:solidFill>
                  <a:srgbClr val="2A2333"/>
                </a:solidFill>
                <a:latin typeface="Trebuchet MS"/>
                <a:ea typeface="Trebuchet MS"/>
              </a:rPr>
              <a:t>Dipakai tiap hari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334000" y="4467225"/>
            <a:ext cx="53244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Melihat jadwal snack, mengambil tanggal piket, mencari menu.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0848975" y="4314825"/>
            <a:ext cx="466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Verdana"/>
                <a:ea typeface="Verdana"/>
              </a:rPr>
              <a:t>9–13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4381500" y="5124450"/>
            <a:ext cx="7277100" cy="116205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4381500" y="5124450"/>
            <a:ext cx="7277100" cy="1162050"/>
          </a:xfrm>
          <a:custGeom>
            <a:pathLst>
              <a:path w="764" h="12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14"/>
                </a:lnTo>
                <a:cubicBezTo>
                  <a:pt x="8" y="118"/>
                  <a:pt x="11" y="121"/>
                  <a:pt x="14" y="122"/>
                </a:cubicBezTo>
                <a:cubicBezTo>
                  <a:pt x="6" y="121"/>
                  <a:pt x="0" y="114"/>
                  <a:pt x="0" y="10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4610100" y="54387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>
              <a:alpha val="9000"/>
            </a:srgbClr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743450" y="5572125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04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334000" y="5343525"/>
            <a:ext cx="521017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75" b="1">
                <a:solidFill>
                  <a:srgbClr val="2A2333"/>
                </a:solidFill>
                <a:latin typeface="Trebuchet MS"/>
                <a:ea typeface="Trebuchet MS"/>
              </a:rPr>
              <a:t>Yang perlu diingat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334000" y="5762625"/>
            <a:ext cx="5210175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Empat aturan yang paling sering ditanyakan orang tua.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0734675" y="5610225"/>
            <a:ext cx="581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Verdana"/>
                <a:ea typeface="Verdana"/>
              </a:rPr>
              <a:t>14–15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02 / 16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0" name="" descr="&lt;Slide&#10;    style={{&#10;        width: '1280px',&#10;        height: '720px',&#10;        background: 'linear-gradient(135deg, #51277C 0%, #7A45A8 100%)',&#10;        paddingTop: 60,&#10;        paddingBottom: 60,&#10;        paddingLeft: 72,&#10;        paddingRight: 72,&#10;        justifyContent: 'center',&#10;        position: 'relative',&#10;        overflow: 'hidden',&#10;    }}&#10;&gt;&#10;    {/* dekorasi: lingkaran + kisi kalender */}&#10;    &lt;Box&#10;        style={{&#10;            position: 'absolute',&#10;            top: -100,&#10;            right: -60,&#10;            width: 420,&#10;            height: 420,&#10;            borderRadius: 210,&#10;            background: '#AFC440',&#10;            opacity: 0.14,&#10;        }}&#10;    /&gt;&#10;    &lt;Box style={{ position: 'absolute', bottom: 46, right: 78, opacity: 0.16 }}&gt;&#10;        &lt;svg width={240} height={190} viewBox='0 0 240 190'&gt;&#10;            &lt;rect x='10' y='26' width='220' height='156' rx='16' fill='none' stroke='#FFFFFF' strokeWidth='6' /&gt;&#10;            &lt;path d='M10 62h220' stroke='#FFFFFF' strokeWidth='6' /&gt;&#10;            &lt;path d='M60 8v30M180 8v30' stroke='#FFFFFF' strokeWidth='8' strokeLinecap='round' /&gt;&#10;            &lt;rect x='42' y='84' width='34' height='26' rx='6' fill='#FFFFFF' /&gt;&#10;            &lt;rect x='102' y='84' width='34' height='26' rx='6' fill='#FFFFFF' /&gt;&#10;            &lt;rect x='162' y='84' width='34' height='26' rx='6' fill='#FFFFFF' /&gt;&#10;            &lt;rect x='42' y='128' width='34' height='26' rx='6' fill='#FFFFFF' /&gt;&#10;            &lt;rect x='102' y='128' width='34' height='26' rx='6' fill='#FFFFFF' /&gt;&#10;            &lt;rect x='162' y='128' width='34' height='26' rx='6' fill='#F3B26C' /&gt;&#10;        &lt;/svg&gt;&#10;    &lt;/Box&gt;&#10;&#10;    {/* isi */}&#10;    &lt;Box style={{ position: 'relative', zIndex: 1, width: '62%' }}&gt;&#10;        &lt;Box&#10;            style={{&#10;                flexDirection: 'row',&#10;                alignItems: 'center',&#10;                gap: 14,&#10;                alignSelf: 'flex-start',&#10;            }}&#10;        &gt;&#10;            &lt;Text&#10;                style={{&#10;                    fontSize: 76,&#10;                    fontWeight: 'bold',&#10;                    color: '#F3B26C',&#10;                    fontFamily: 'Trebuchet MS',&#10;                    lineHeight: 1,&#10;                }}&#10;            &gt;&#10;                01&#10;            &lt;/Text&gt;&#10;            &lt;Box style={{ width: 3, height: 52, background: 'rgba(255,255,255,0.45)' }} /&gt;&#10;            &lt;Text&#10;                style={{&#10;                    fontSize: 19,&#10;                    color: 'rgba(255,255,255,0.8)',&#10;                    fontFamily: 'Verdana',&#10;                }}&#10;            &gt;&#10;                Bagian pertama&#10;            &lt;/Text&gt;&#10;        &lt;/Box&gt;&#10;&#10;        &lt;Text&#10;            style={{&#10;                marginTop: 26,&#10;                fontSize: 60,&#10;                fontWeight: 'bold',&#10;                color: '#FFFFFF',&#10;                fontFamily: 'Trebuchet MS',&#10;                lineHeight: 1.15,&#10;            }}&#10;        &gt;&#10;            Kenapa ada{'\n'}aplikasi ini&#10;        &lt;/Text&gt;&#10;&#10;        &lt;Text&#10;            style={{&#10;                marginTop: 24,&#10;                fontSize: 22,&#10;                color: 'rgba(255,255,255,0.88)',&#10;                fontFamily: 'Verdana',&#10;                lineHeight: 1.5,&#10;            }}&#10;        &gt;&#10;            Kita mulai dari keluhan yang paling sering terdengar.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8763000" y="-952500"/>
            <a:ext cx="4000500" cy="4000500"/>
          </a:xfrm>
          <a:custGeom>
            <a:pathLst>
              <a:path w="420" h="420">
                <a:moveTo>
                  <a:pt x="360" y="357"/>
                </a:moveTo>
                <a:lnTo>
                  <a:pt x="358" y="358"/>
                </a:lnTo>
                <a:lnTo>
                  <a:pt x="355" y="362"/>
                </a:lnTo>
                <a:lnTo>
                  <a:pt x="351" y="365"/>
                </a:lnTo>
                <a:lnTo>
                  <a:pt x="347" y="369"/>
                </a:lnTo>
                <a:lnTo>
                  <a:pt x="344" y="372"/>
                </a:lnTo>
                <a:lnTo>
                  <a:pt x="340" y="375"/>
                </a:lnTo>
                <a:lnTo>
                  <a:pt x="336" y="378"/>
                </a:lnTo>
                <a:lnTo>
                  <a:pt x="332" y="381"/>
                </a:lnTo>
                <a:lnTo>
                  <a:pt x="327" y="384"/>
                </a:lnTo>
                <a:lnTo>
                  <a:pt x="323" y="387"/>
                </a:lnTo>
                <a:lnTo>
                  <a:pt x="319" y="390"/>
                </a:lnTo>
                <a:lnTo>
                  <a:pt x="314" y="392"/>
                </a:lnTo>
                <a:lnTo>
                  <a:pt x="310" y="395"/>
                </a:ln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58" y="355"/>
                </a:lnTo>
                <a:lnTo>
                  <a:pt x="55" y="351"/>
                </a:lnTo>
                <a:lnTo>
                  <a:pt x="51" y="347"/>
                </a:lnTo>
                <a:lnTo>
                  <a:pt x="48" y="344"/>
                </a:lnTo>
                <a:lnTo>
                  <a:pt x="45" y="340"/>
                </a:lnTo>
                <a:lnTo>
                  <a:pt x="42" y="336"/>
                </a:lnTo>
                <a:lnTo>
                  <a:pt x="39" y="332"/>
                </a:lnTo>
                <a:lnTo>
                  <a:pt x="36" y="327"/>
                </a:lnTo>
                <a:lnTo>
                  <a:pt x="33" y="323"/>
                </a:lnTo>
                <a:lnTo>
                  <a:pt x="30" y="319"/>
                </a:lnTo>
                <a:lnTo>
                  <a:pt x="28" y="314"/>
                </a:lnTo>
                <a:lnTo>
                  <a:pt x="25" y="310"/>
                </a:lnTo>
                <a:lnTo>
                  <a:pt x="23" y="306"/>
                </a:lnTo>
                <a:lnTo>
                  <a:pt x="21" y="301"/>
                </a:lnTo>
                <a:lnTo>
                  <a:pt x="19" y="296"/>
                </a:lnTo>
                <a:lnTo>
                  <a:pt x="17" y="292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48"/>
                </a:lnTo>
                <a:lnTo>
                  <a:pt x="11" y="143"/>
                </a:lnTo>
                <a:lnTo>
                  <a:pt x="13" y="138"/>
                </a:lnTo>
                <a:lnTo>
                  <a:pt x="15" y="133"/>
                </a:lnTo>
                <a:lnTo>
                  <a:pt x="17" y="128"/>
                </a:lnTo>
                <a:lnTo>
                  <a:pt x="19" y="124"/>
                </a:lnTo>
                <a:lnTo>
                  <a:pt x="21" y="119"/>
                </a:lnTo>
                <a:lnTo>
                  <a:pt x="23" y="114"/>
                </a:lnTo>
                <a:lnTo>
                  <a:pt x="25" y="110"/>
                </a:lnTo>
                <a:lnTo>
                  <a:pt x="28" y="106"/>
                </a:lnTo>
                <a:lnTo>
                  <a:pt x="30" y="101"/>
                </a:lnTo>
                <a:lnTo>
                  <a:pt x="31" y="100"/>
                </a:lnTo>
                <a:lnTo>
                  <a:pt x="360" y="100"/>
                </a:lnTo>
                <a:close/>
              </a:path>
            </a:pathLst>
          </a:custGeom>
          <a:solidFill>
            <a:srgbClr val="AFC440">
              <a:alpha val="14000"/>
            </a:srgbClr>
          </a:solidFill>
          <a:ln/>
        </p:spPr>
        <p:txBody>
          <a:bodyPr/>
          <a:p/>
        </p:txBody>
      </p:sp>
      <p:pic>
        <p:nvPicPr>
          <p:cNvPr id="193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63050" y="4610100"/>
            <a:ext cx="2286000" cy="1809750"/>
          </a:xfrm>
          <a:prstGeom prst="rect">
            <a:avLst/>
          </a:prstGeom>
          <a:ln/>
        </p:spPr>
      </p:pic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85800" y="17716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3B26C"/>
                </a:solidFill>
                <a:latin typeface="Trebuchet MS"/>
                <a:ea typeface="Trebuchet MS"/>
              </a:rPr>
              <a:t>01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1676400" y="1962150"/>
            <a:ext cx="28575" cy="4953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838325" y="2105025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0000"/>
                  </a:srgbClr>
                </a:solidFill>
                <a:latin typeface="Verdana"/>
                <a:ea typeface="Verdana"/>
              </a:rPr>
              <a:t>Bagian pertama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85800" y="2895600"/>
            <a:ext cx="6705600" cy="1581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Kenapa ada</a:t>
            </a:r>
            <a:endParaRPr/>
          </a:p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aplikasi ini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85800" y="4705350"/>
            <a:ext cx="67056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Kita mulai dari keluhan yang paling sering terdengar.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9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Dulu, begini masalahnya&#10;        &lt;/Text&gt;&#10;        &lt;Box style={{ marginTop: 10, width: 72, height: 6, borderRadius: 3, background: '#51277C' }} /&gt;&#10;    &lt;/Box&gt;&#10;&#10;    {/* ── B · area konten ── */}&#10;    &lt;Box style={{ height: 530, flexDirection: 'row', gap: 28 }}&gt;&#10;        {/* kiri 60% — ilustrasi grup &amp; kertas jadwal */}&#10;        &lt;Box&#10;            style={{&#10;                width: '60%',&#10;                height: '100%',&#10;                background: 'rgba(81,39,124,0.06)',&#10;                borderRadius: 20,&#10;                justifyContent: 'center',&#10;                alignItems: 'center',&#10;            }}&#10;        &gt;&#10;            &lt;svg width={620} height={430} viewBox='0 0 620 430'&gt;&#10;                {/* kertas jadwal cetak, miring */}&#10;                &lt;g transform='rotate(-7 150 215)'&gt;&#10;                    &lt;rect x='26' y='34' width='250' height='350' rx='12' fill='#FFFFFF' stroke='#DCD5C9' strokeWidth='3' /&gt;&#10;                    &lt;rect x='58' y='74' width='170' height='15' rx='7' fill='#51277C' opacity='0.55' /&gt;&#10;                    &lt;rect x='58' y='118' width='186' height='10' rx='5' fill='#E6E0D5' /&gt;&#10;                    &lt;rect x='58' y='146' width='150' height='10' rx='5' fill='#EFEAE1' /&gt;&#10;                    &lt;rect x='58' y='174' width='176' height='10' rx='5' fill='#EFEAE1' /&gt;&#10;                    &lt;rect x='58' y='202' width='132' height='10' rx='5' fill='#EFEAE1' /&gt;&#10;                    &lt;rect x='58' y='230' width='164' height='10' rx='5' fill='#EFEAE1' /&gt;&#10;                    &lt;rect x='58' y='258' width='120' height='10' rx='5' fill='#EFEAE1' /&gt;&#10;                    &lt;rect x='58' y='286' width='158' height='10' rx='5' fill='#EFEAE1' /&gt;&#10;                    &lt;rect x='58' y='314' width='140' height='10' rx='5' fill='#E6E0D5' /&gt;&#10;                &lt;/g&gt;&#10;&#10;                {/* gelembung chat bertumpuk */}&#10;                &lt;g&gt;&#10;                    &lt;rect x='296' y='46' width='300' height='92' rx='18' fill='#FFFFFF' stroke='#E3DCCF' strokeWidth='3' /&gt;&#10;                    &lt;path d='M320 138 l0 26 l26 -26 z' fill='#FFFFFF' stroke='#E3DCCF' strokeWidth='3' /&gt;&#10;                    &lt;rect x='322' y='70' width='230' height='12' rx='6' fill='#C9C1B4' /&gt;&#10;                    &lt;rect x='322' y='94' width='170' height='12' rx='6' fill='#DED7CB' /&gt;&#10;                &lt;/g&gt;&#10;                &lt;g&gt;&#10;                    &lt;rect x='330' y='166' width='286' height='92' rx='18' fill='#AFC440' opacity='0.30' /&gt;&#10;                    &lt;path d='M354 258 l0 24 l24 -24 z' fill='#AFC440' opacity='0.30' /&gt;&#10;                    &lt;rect x='356' y='190' width='210' height='12' rx='6' fill='#6E7A32' opacity='0.55' /&gt;&#10;                    &lt;rect x='356' y='214' width='150' height='12' rx='6' fill='#6E7A32' opacity='0.40' /&gt;&#10;                &lt;/g&gt;&#10;                &lt;g&gt;&#10;                    &lt;rect x='288' y='286' width='312' height='96' rx='18' fill='#FFFFFF' stroke='#E3DCCF' strokeWidth='3' /&gt;&#10;                    &lt;path d='M566 382 l0 24 l-24 -24 z' fill='#FFFFFF' stroke='#E3DCCF' strokeWidth='3' /&gt;&#10;                    &lt;rect x='314' y='310' width='200' height='12' rx='6' fill='#C9C1B4' /&gt;&#10;                    &lt;rect x='314' y='334' width='150' height='12' rx='6' fill='#DED7CB' /&gt;&#10;                &lt;/g&gt;&#10;&#10;                {/* tanda tanya besar */}&#10;                &lt;circle cx='546' cy='62' r='44' fill='#F3B26C' /&gt;&#10;                &lt;text&#10;                    x='546'&#10;                    y='82'&#10;                    fontFamily='Trebuchet MS'&#10;                    fontSize='54'&#10;                    fontWeight='bold'&#10;                    fill='#51277C'&#10;                    textAnchor='middle'&#10;                &gt;&#10;                    ?&#10;                &lt;/text&gt;&#10;            &lt;/svg&gt;&#10;        &lt;/Box&gt;&#10;&#10;        {/* kanan 40% — tiga masalah */}&#10;        &lt;Box style={{ width: '40%', height: '100%', justifyContent: 'space-between' }}&gt;&#10;            &lt;Box&#10;                style={{&#10;                    height: 166,&#10;                    background: '#FFFFFF',&#10;                    borderRadius: 16,&#10;                    boxShadow: '0 4px 20px rgba(0,0,0,0.08)',&#10;                    padding: 20,&#10;                }}&#10;            &gt;&#10;                &lt;Box style={{ flexDirection: 'row', gap: 14, alignItems: 'flex-start' }}&gt;&#10;                    &lt;Box&#10;                        style={{&#10;                            width: 48,&#10;                            height: 48,&#10;                            borderRadius: 24,&#10;                            background: 'rgba(81,39,124,0.10)',&#10;                            justifyContent: 'center',&#10;                            alignItems: 'center',&#10;                        }}&#10;                    &gt;&#10;                        &lt;svg width={26} height={26} viewBox=&quot;0 0 512 512&quot; xmlns=&quot;http://www.w3.org/2000/svg&quot;&gt;&lt;path fill=&quot;#51277C&quot; d=&quot;M512 240c0 114.9-114.6 208-256 208c-37.1 0-72.3-6.4-104.1-17.9c-11.9 8.7-31.3 20.6-54.3 30.6C73.6 471.1 44.7 480 16 480c-6.5 0-12.3-3.9-14.8-9.9c-2.5-6-1.1-12.8 3.4-17.4l0 0 0 0 0 0 0 0 .3-.3c.3-.3 .7-.7 1.3-1.4c1.1-1.2 2.8-3.1 4.9-5.7c4.1-5 9.6-12.4 15.2-21.6c10-16.6 19.5-38.4 21.4-62.9C17.7 326.8 0 285.1 0 240C0 125.1 114.6 32 256 32s256 93.1 256 208z&quot; /&gt;&lt;/svg&gt;&#10;                    &lt;/Box&gt;&#10;                    &lt;Box style={{ flex: 1 }}&gt;&#10;                        &lt;Text&#10;                            style={{&#10;                                fontSize: 24,&#10;                                fontWeight: 'bold',&#10;                                color: '#2A2333',&#10;                                fontFamily: 'Trebuchet MS',&#10;                                lineHeight: 1.3,&#10;                            }}&#10;                        &gt;&#10;                            Menu harus ditanya&#10;                        &lt;/Text&gt;&#10;                    &lt;/Box&gt;&#10;                &lt;/Box&gt;&#10;                &lt;Text&#10;                    style={{&#10;                        marginTop: 12,&#10;                        fontSize: 18,&#10;                        color: '#6B6478',&#10;                        fontFamily: 'Verdana',&#10;                        lineHeight: 1.45,&#10;                    }}&#10;                &gt;&#10;                    Tidak ada satu tempat yang jadi rujukan. Jawabannya kadang lambat, kadang beda-beda.&#10;                &lt;/Text&gt;&#10;                &lt;Box style={{ marginTop: 'auto' }}&gt;&#10;                    &lt;Text style={{ fontSize: 15, color: '#51277C', fontFamily: 'Verdana', fontWeight: 'bold' }}&gt;&#10;                        Setiap hari&#10;                    &lt;/Text&gt;&#10;                &lt;/Box&gt;&#10;            &lt;/Box&gt;&#10;&#10;            &lt;Box&#10;                style={{&#10;                    height: 166,&#10;                    background: '#FFFFFF',&#10;                    borderRadius: 16,&#10;                    boxShadow: '0 4px 20px rgba(0,0,0,0.08)',&#10;                    padding: 20,&#10;                }}&#10;            &gt;&#10;                &lt;Box style={{ flexDirection: 'row', gap: 14, alignItems: 'flex-start' }}&gt;&#10;                    &lt;Box&#10;                        style={{&#10;                            width: 48,&#10;                            height: 48,&#10;                            borderRadius: 24,&#10;                            background: 'rgba(81,39,124,0.10)',&#10;                            justifyContent: 'center',&#10;                            alignItems: 'center',&#10;                        }}&#10;                    &gt;&#10;                        &lt;svg width={26} height={26} viewBox=&quot;0 0 384 512&quot; xmlns=&quot;http://www.w3.org/2000/svg&quot;&gt;&lt;path fill=&quot;#51277C&quot; d=&quot;M0 64C0 28.7 28.7 0 64 0H224V128c0 17.7 14.3 32 32 32H384V448c0 35.3-28.7 64-64 64H64c-35.3 0-64-28.7-64-64V64zm384 64H256V0L384 128z&quot; /&gt;&lt;/svg&gt;&#10;                    &lt;/Box&gt;&#10;                    &lt;Box style={{ flex: 1 }}&gt;&#10;                        &lt;Text&#10;                            style={{&#10;                                fontSize: 24,&#10;                                fontWeight: 'bold',&#10;                                color: '#2A2333',&#10;                                fontFamily: 'Trebuchet MS',&#10;                                lineHeight: 1.3,&#10;                            }}&#10;                        &gt;&#10;                            Riwayat hilang&#10;                        &lt;/Text&gt;&#10;                    &lt;/Box&gt;&#10;                &lt;/Box&gt;&#10;                &lt;Text&#10;                    style={{&#10;                        marginTop: 12,&#10;                        fontSize: 18,&#10;                        color: '#6B6478',&#10;                        fontFamily: 'Verdana',&#10;                        lineHeight: 1.45,&#10;                    }}&#10;                &gt;&#10;                    Menu bulan lalu tidak tersimpan rapi. Ingin tahu rotasinya, harus buka-buka lagi.&#10;                &lt;/Text&gt;&#10;                &lt;Box style={{ marginTop: 'auto' }}&gt;&#10;                    &lt;Text style={{ fontSize: 15, color: '#51277C', fontFamily: 'Verdana', fontWeight: 'bold' }}&gt;&#10;                        Tidak bisa dilacak&#10;                    &lt;/Text&gt;&#10;                &lt;/Box&gt;&#10;            &lt;/Box&gt;&#10;&#10;            &lt;Box&#10;                style={{&#10;                    height: 166,&#10;                    background: '#FFFFFF',&#10;                    borderRadius: 16,&#10;                    boxShadow: '0 4px 20px rgba(0,0,0,0.08)',&#10;                    padding: 20,&#10;                    borderLeft: '8px solid #F3B26C',&#10;                }}&#10;            &gt;&#10;                &lt;Box style={{ flexDirection: 'row', gap: 14, alignItems: 'flex-start' }}&gt;&#10;                    &lt;Box&#10;                        style={{&#10;                            width: 48,&#10;                            height: 48,&#10;                            borderRadius: 24,&#10;                            background: 'rgba(243,178,108,0.28)',&#10;                            justifyContent: 'center',&#10;                            alignItems: 'center',&#10;                        }}&#10;                    &gt;&#10;                        &lt;svg width={26} height={26} viewBox=&quot;0 0 512 512&quot; xmlns=&quot;http://www.w3.org/2000/svg&quot;&gt;&lt;path fill=&quot;#51277C&quot; d=&quot;M256 512A256 256 0 1 0 256 0a256 256 0 1 0 0 512zm0-384c13.3 0 24 10.7 24 24V264c0 13.3-10.7 24-24 24s-24-10.7-24-24V152c0-13.3 10.7-24 24-24zM224 352a32 32 0 1 1 64 0 32 32 0 1 1 -64 0z&quot; /&gt;&lt;/svg&gt;&#10;                    &lt;/Box&gt;&#10;                    &lt;Box style={{ flex: 1 }}&gt;&#10;                        &lt;Text&#10;                            style={{&#10;                                fontSize: 24,&#10;                                fontWeight: 'bold',&#10;                                color: '#2A2333',&#10;                                fontFamily: 'Trebuchet MS',&#10;                                lineHeight: 1.3,&#10;                            }}&#10;                        &gt;&#10;                            Rebutan tanggal&#10;                        &lt;/Text&gt;&#10;                    &lt;/Box&gt;&#10;                &lt;/Box&gt;&#10;                &lt;Text&#10;                    style={{&#10;                        marginTop: 12,&#10;                        fontSize: 18,&#10;                        color: '#6B6478',&#10;                        fontFamily: 'Verdana',&#10;                        lineHeight: 1.45,&#10;                    }}&#10;                &gt;&#10;                    Dua orang bisa merasa sama-sama sudah mengambil tanggal yang sama.&#10;                &lt;/Text&gt;&#10;                &lt;Box style={{ marginTop: 'auto' }}&gt;&#10;                    &lt;Text style={{ fontSize: 15, color: '#51277C', fontFamily: 'Verdana', fontWeight: 'bold' }}&gt;&#10;                        Paling sering jadi masalah&#10;                    &lt;/Text&gt;&#10;                &lt;/Box&gt;&#10;            &lt;/Box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Orang Tua&#10;        &lt;/Text&gt;&#10;        &lt;Text style={{ fontSize: 14, color: '#6B6478', fontFamily: 'Verdana' }}&gt;04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Dulu, begini masalahnya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609600" y="1238250"/>
            <a:ext cx="6419850" cy="5048250"/>
          </a:xfrm>
          <a:prstGeom prst="roundRect">
            <a:avLst>
              <a:gd name="adj" fmla="val 3774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2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66775" y="1714500"/>
            <a:ext cx="5905500" cy="4095750"/>
          </a:xfrm>
          <a:prstGeom prst="rect">
            <a:avLst/>
          </a:prstGeom>
          <a:ln/>
        </p:spPr>
      </p:pic>
      <p:sp>
        <p:nvSpPr>
          <p:cNvPr id="205" name=""/>
          <p:cNvSpPr/>
          <p:nvPr/>
        </p:nvSpPr>
        <p:spPr>
          <a:xfrm rot="0" flipH="0" flipV="0">
            <a:off x="7296150" y="1238250"/>
            <a:ext cx="4286250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7486650" y="14287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2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591425" y="1533525"/>
            <a:ext cx="247650" cy="247650"/>
          </a:xfrm>
          <a:prstGeom prst="rect">
            <a:avLst/>
          </a:prstGeom>
          <a:ln/>
        </p:spPr>
      </p:pic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077200" y="1428750"/>
            <a:ext cx="33147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Menu harus ditanya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486650" y="2000250"/>
            <a:ext cx="3905250" cy="895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Tidak ada satu tempat yang jadi rujukan. Jawabannya kadang lambat, kadang beda-beda.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486650" y="2457450"/>
            <a:ext cx="390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1277C"/>
                </a:solidFill>
                <a:latin typeface="Verdana"/>
                <a:ea typeface="Verdana"/>
              </a:rPr>
              <a:t>Setiap hari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7296150" y="2971800"/>
            <a:ext cx="4286250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7486650" y="31623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2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591425" y="3267075"/>
            <a:ext cx="247650" cy="247650"/>
          </a:xfrm>
          <a:prstGeom prst="rect">
            <a:avLst/>
          </a:prstGeom>
          <a:ln/>
        </p:spPr>
      </p:pic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077200" y="3162300"/>
            <a:ext cx="33147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Riwayat hilang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486650" y="3733800"/>
            <a:ext cx="39052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Menu bulan lalu tidak tersimpan rapi. Ingin tahu rotasinya, harus buka-buka lagi.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486650" y="4191000"/>
            <a:ext cx="390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1277C"/>
                </a:solidFill>
                <a:latin typeface="Verdana"/>
                <a:ea typeface="Verdana"/>
              </a:rPr>
              <a:t>Tidak bisa dilacak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7372350" y="4705350"/>
            <a:ext cx="4286250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7372350" y="4705350"/>
            <a:ext cx="4286250" cy="1581150"/>
          </a:xfrm>
          <a:custGeom>
            <a:pathLst>
              <a:path w="450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7562850" y="48958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3B26C">
              <a:alpha val="28000"/>
            </a:srgbClr>
          </a:solidFill>
          <a:ln/>
        </p:spPr>
        <p:txBody>
          <a:bodyPr/>
          <a:p/>
        </p:txBody>
      </p:sp>
      <p:pic>
        <p:nvPicPr>
          <p:cNvPr id="2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667625" y="5000625"/>
            <a:ext cx="247650" cy="247650"/>
          </a:xfrm>
          <a:prstGeom prst="rect">
            <a:avLst/>
          </a:prstGeom>
          <a:ln/>
        </p:spPr>
      </p:pic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153400" y="4895850"/>
            <a:ext cx="32385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Rebutan tanggal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562850" y="5467350"/>
            <a:ext cx="38290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Dua orang bisa merasa sama-sama sudah mengambil tanggal yang sama.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562850" y="5924550"/>
            <a:ext cx="3829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1277C"/>
                </a:solidFill>
                <a:latin typeface="Verdana"/>
                <a:ea typeface="Verdana"/>
              </a:rPr>
              <a:t>Paling sering jadi masalah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04 / 16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6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Sekarang: cukup satu aplikasi&#10;        &lt;/Text&gt;&#10;        &lt;Box style={{ marginTop: 10, width: 72, height: 6, borderRadius: 3, background: '#51277C' }} /&gt;&#10;    &lt;/Box&gt;&#10;&#10;    {/* ── B · area konten ── */}&#10;    &lt;Box style={{ height: 530, flexDirection: 'row', gap: 28 }}&gt;&#10;        {/* ── kiri 44% · teks ── */}&#10;        &lt;Box&#10;            style={{&#10;                width: '44%',&#10;                justifyContent: 'center',&#10;            }}&#10;        &gt;&#10;        &lt;Box&#10;            style={{&#10;                flexDirection: 'row',&#10;                alignItems: 'center',&#10;                gap: 10,&#10;                alignSelf: 'flex-start',&#10;                background: 'rgba(175,196,64,0.28)',&#10;                borderRadius: 999,&#10;                paddingTop: 8,&#10;                paddingBottom: 8,&#10;                paddingLeft: 18,&#10;                paddingRight: 20,&#10;            }}&#10;        &gt;&#10;            &lt;Text style={{ fontSize: 16, color: '#4F5A24', fontFamily: 'Verdana', fontWeight: 'bold' }}&gt;&#10;                Solusinya&#10;            &lt;/Text&gt;&#10;        &lt;/Box&gt;&#10;&#10;        &lt;Text&#10;            style={{&#10;                marginTop: 18,&#10;                fontSize: 46,&#10;                fontWeight: 'bold',&#10;                color: '#51277C',&#10;                fontFamily: 'Trebuchet MS',&#10;                lineHeight: 1.15,&#10;            }}&#10;        &gt;&#10;            Menu jelas,{'\n'}giliran jelas.&#10;        &lt;/Text&gt;&#10;&#10;        &lt;Text&#10;            style={{&#10;                marginTop: 16,&#10;                fontSize: 21,&#10;                color: '#2A2333',&#10;                fontFamily: 'Verdana',&#10;                lineHeight: 1.5,&#10;            }}&#10;        &gt;&#10;            Tidak perlu tanya-tanya lagi ke grup.&#10;        &lt;/Text&gt;&#10;&#10;        &lt;Box style={{ marginTop: 22, gap: 14 }}&gt;&#10;            {[&#10;                'Jadwal snack kelihatan kapan saja',&#10;                'Giliran piket anak tercatat rapi',&#10;                'Tanggal kosong bisa diambil sendiri',&#10;            ].map((t, i) =&gt; (&#10;                &lt;Box key={i} style={{ flexDirection: 'row', alignItems: 'center', gap: 14 }}&gt;&#10;                    &lt;Box&#10;                        style={{&#10;                            width: 34,&#10;                            height: 34,&#10;                            borderRadius: 17,&#10;                            background: '#AFC440',&#10;                            justifyContent: 'center',&#10;                            alignItems: 'center',&#10;                        }}&#10;                    &gt;&#10;                        &lt;svg width={18} height={18} viewBox=&quot;0 0 448 512&quot; xmlns=&quot;http://www.w3.org/2000/svg&quot;&gt;&lt;path fill=&quot;#FFFFFF&quot; d=&quot;M438.6 105.4c12.5 12.5 12.5 32.8 0 45.3l-256 256c-12.5 12.5-32.8 12.5-45.3 0l-128-128c-12.5-12.5-12.5-32.8 0-45.3s32.8-12.5 45.3 0L160 338.7 393.4 105.4c12.5-12.5 32.8-12.5 45.3 0z&quot; /&gt;&lt;/svg&gt;&#10;                    &lt;/Box&gt;&#10;                    &lt;Text style={{ fontSize: 20, color: '#2A2333', fontFamily: 'Verdana' }}&gt;{t}&lt;/Text&gt;&#10;                &lt;/Box&gt;&#10;            ))}&#10;        &lt;/Box&gt;&#10;&#10;        &lt;Box&#10;            style={{&#10;                marginTop: 24,&#10;                alignSelf: 'flex-start',&#10;                background: '#F3B26C',&#10;                borderRadius: 14,&#10;                paddingTop: 13,&#10;                paddingBottom: 13,&#10;                paddingLeft: 24,&#10;                paddingRight: 26,&#10;            }}&#10;        &gt;&#10;            &lt;Text style={{ fontSize: 19, color: '#51277C', fontFamily: 'Trebuchet MS', fontWeight: 'bold' }}&gt;&#10;                Satu tempat. Satu rujukan.&#10;            &lt;/Text&gt;&#10;        &lt;/Box&gt;&#10;    &lt;/Box&gt;&#10;&#10;    {/* ── kanan 52% · panel ungu + ponsel ── */}&#10;    &lt;Box&#10;        style={{&#10;            width: '52%',&#10;            height: '100%',&#10;            background: 'linear-gradient(135deg, #51277C 0%, #7A45A8 100%)',&#10;            borderRadius: 20,&#10;            justifyContent: 'center',&#10;            alignItems: 'center',&#10;            position: 'relative',&#10;            overflow: 'hidden',&#10;        }}&#10;    &gt;&#10;        &lt;Box&#10;            style={{&#10;                position: 'absolute',&#10;                top: -110,&#10;                left: -90,&#10;                width: 340,&#10;                height: 340,&#10;                borderRadius: 170,&#10;                background: '#AFC440',&#10;                opacity: 0.16,&#10;            }}&#10;        /&gt;&#10;        &lt;Box style={{ position: 'relative', zIndex: 1 }}&gt;&#10;            &lt;svg width={376} height={490} viewBox='0 0 430 560'&gt;&#10;                {/* bingkai ponsel */}&#10;                &lt;rect x='12' y='10' width='406' height='540' rx='46' fill='#FFFFFF' stroke='#E3DCCF' strokeWidth='4' /&gt;&#10;                &lt;rect x='176' y='26' width='78' height='11' rx='6' fill='#DCD5C9' /&gt;&#10;&#10;                {/* bilah atas aplikasi */}&#10;                &lt;rect x='38' y='56' width='354' height='62' rx='14' fill='#51277C' /&gt;&#10;                &lt;text x='60' y='96' fontFamily='Trebuchet MS' fontSize='25' fontWeight='bold' fill='#FFFFFF'&gt;&#10;                    Hari Ini&#10;                &lt;/text&gt;&#10;                &lt;circle cx='366' cy='87' r='16' fill='#F3B26C' /&gt;&#10;&#10;                {/* kartu menu hari ini */}&#10;                &lt;rect x='38' y='136' width='354' height='128' rx='16' fill='#F7F3EC' stroke='#E6DFD2' strokeWidth='2' /&gt;&#10;                &lt;rect x='60' y='158' width='92' height='26' rx='13' fill='#AFC440' /&gt;&#10;                &lt;text x='74' y='177' fontFamily='Verdana' fontSize='15' fill='#3F4718'&gt;&#10;                    Selasa&#10;                &lt;/text&gt;&#10;                &lt;text x='60' y='218' fontFamily='Trebuchet MS' fontSize='26' fontWeight='bold' fill='#2A2333'&gt;&#10;                    Roti coklat&#10;                &lt;/text&gt;&#10;                &lt;text x='60' y='246' fontFamily='Verdana' fontSize='19' fill='#6B6478'&gt;&#10;                    + Jeruk manis&#10;                &lt;/text&gt;&#10;&#10;                {/* kartu minggu ini */}&#10;                &lt;rect x='38' y='280' width='354' height='166' rx='16' fill='#F7F3EC' stroke='#E6DFD2' strokeWidth='2' /&gt;&#10;                &lt;text x='60' y='310' fontFamily='Trebuchet MS' fontSize='21' fontWeight='bold' fill='#51277C'&gt;&#10;                    Minggu ini&#10;                &lt;/text&gt;&#10;                &lt;rect x='60' y='326' width='310' height='1' fill='#E6DFD2' /&gt;&#10;                &lt;circle cx='74' cy='352' r='7' fill='#AFC440' /&gt;&#10;                &lt;rect x='92' y='344' width='150' height='11' rx='5' fill='#C9C1B4' /&gt;&#10;                &lt;circle cx='74' cy='382' r='7' fill='#AFC440' /&gt;&#10;                &lt;rect x='92' y='374' width='120' height='11' rx='5' fill='#DED7CB' /&gt;&#10;                &lt;circle cx='74' cy='412' r='7' fill='#F3B26C' /&gt;&#10;                &lt;rect x='92' y='404' width='160' height='11' rx='5' fill='#DED7CB' /&gt;&#10;&#10;                {/* bilah navigasi bawah */}&#10;                &lt;rect x='52' y='470' width='326' height='60' rx='30' fill='#FFFFFF' stroke='#E6DFD2' strokeWidth='2' /&gt;&#10;                &lt;circle cx='100' cy='500' r='11' fill='#51277C' /&gt;&#10;                &lt;circle cx='160' cy='500' r='11' fill='#DED7CB' /&gt;&#10;                &lt;circle cx='270' cy='500' r='11' fill='#DED7CB' /&gt;&#10;                &lt;circle cx='330' cy='500' r='11' fill='#DED7CB' /&gt;&#10;                &lt;circle cx='215' cy='470' r='24' fill='#51277C' /&gt;&#10;                &lt;rect x='203' y='459' width='24' height='4' rx='2' fill='#FFFFFF' /&gt;&#10;                &lt;rect x='203' y='467' width='24' height='4' rx='2' fill='#FFFFFF' /&gt;&#10;                &lt;rect x='203' y='475' width='24' height='4' rx='2' fill='#FFFFFF' /&gt;&#10;            &lt;/svg&gt;&#10;        &lt;/Box&gt;&#10;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Orang Tua&#10;        &lt;/Text&gt;&#10;        &lt;Text style={{ fontSize: 14, color: '#6B6478', fontFamily: 'Verdana' }}&gt;0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Sekarang: cukup satu aplikasi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609600" y="1571625"/>
            <a:ext cx="1190625" cy="342900"/>
          </a:xfrm>
          <a:prstGeom prst="roundRect">
            <a:avLst>
              <a:gd name="adj" fmla="val 2775000"/>
            </a:avLst>
          </a:prstGeom>
          <a:solidFill>
            <a:srgbClr val="AFC440">
              <a:alpha val="28000"/>
            </a:srgbClr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81050" y="1647825"/>
            <a:ext cx="828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4F5A24"/>
                </a:solidFill>
                <a:latin typeface="Verdana"/>
                <a:ea typeface="Verdana"/>
              </a:rPr>
              <a:t>Solusinya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9600" y="2085975"/>
            <a:ext cx="4829175" cy="12096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450" b="1">
                <a:solidFill>
                  <a:srgbClr val="51277C"/>
                </a:solidFill>
                <a:latin typeface="Trebuchet MS"/>
                <a:ea typeface="Trebuchet MS"/>
              </a:rPr>
              <a:t>Menu jelas,</a:t>
            </a:r>
            <a:endParaRPr/>
          </a:p>
          <a:p>
            <a:pPr>
              <a:lnSpc>
                <a:spcPct val="114999"/>
              </a:lnSpc>
            </a:pPr>
            <a:r>
              <a:rPr lang="en-US" sz="3450" b="1">
                <a:solidFill>
                  <a:srgbClr val="51277C"/>
                </a:solidFill>
                <a:latin typeface="Trebuchet MS"/>
                <a:ea typeface="Trebuchet MS"/>
              </a:rPr>
              <a:t>giliran jelas.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09600" y="3448050"/>
            <a:ext cx="4829175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75">
                <a:solidFill>
                  <a:srgbClr val="2A2333"/>
                </a:solidFill>
                <a:latin typeface="Verdana"/>
                <a:ea typeface="Verdana"/>
              </a:rPr>
              <a:t>Tidak perlu tanya-tanya lagi ke grup.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09600" y="40195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AFC440"/>
          </a:solidFill>
          <a:ln/>
        </p:spPr>
        <p:txBody>
          <a:bodyPr/>
          <a:p/>
        </p:txBody>
      </p:sp>
      <p:pic>
        <p:nvPicPr>
          <p:cNvPr id="2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4095750"/>
            <a:ext cx="171450" cy="171450"/>
          </a:xfrm>
          <a:prstGeom prst="rect">
            <a:avLst/>
          </a:prstGeom>
          <a:ln/>
        </p:spPr>
      </p:pic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066800" y="4067175"/>
            <a:ext cx="3305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2A2333"/>
                </a:solidFill>
                <a:latin typeface="Verdana"/>
                <a:ea typeface="Verdana"/>
              </a:rPr>
              <a:t>Jadwal snack kelihatan kapan saja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09600" y="44767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AFC440"/>
          </a:solidFill>
          <a:ln/>
        </p:spPr>
        <p:txBody>
          <a:bodyPr/>
          <a:p/>
        </p:txBody>
      </p:sp>
      <p:pic>
        <p:nvPicPr>
          <p:cNvPr id="2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4552950"/>
            <a:ext cx="171450" cy="171450"/>
          </a:xfrm>
          <a:prstGeom prst="rect">
            <a:avLst/>
          </a:prstGeom>
          <a:ln/>
        </p:spPr>
      </p:pic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066800" y="4524375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2A2333"/>
                </a:solidFill>
                <a:latin typeface="Verdana"/>
                <a:ea typeface="Verdana"/>
              </a:rPr>
              <a:t>Giliran piket anak tercatat rapi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09600" y="49339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AFC440"/>
          </a:solidFill>
          <a:ln/>
        </p:spPr>
        <p:txBody>
          <a:bodyPr/>
          <a:p/>
        </p:txBody>
      </p:sp>
      <p:pic>
        <p:nvPicPr>
          <p:cNvPr id="2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5010150"/>
            <a:ext cx="171450" cy="171450"/>
          </a:xfrm>
          <a:prstGeom prst="rect">
            <a:avLst/>
          </a:prstGeom>
          <a:ln/>
        </p:spPr>
      </p:pic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066800" y="4981575"/>
            <a:ext cx="3400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2A2333"/>
                </a:solidFill>
                <a:latin typeface="Verdana"/>
                <a:ea typeface="Verdana"/>
              </a:rPr>
              <a:t>Tanggal kosong bisa diambil sendiri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09600" y="5486400"/>
            <a:ext cx="2771775" cy="466725"/>
          </a:xfrm>
          <a:prstGeom prst="roundRect">
            <a:avLst>
              <a:gd name="adj" fmla="val 28571"/>
            </a:avLst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38200" y="5610225"/>
            <a:ext cx="2295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51277C"/>
                </a:solidFill>
                <a:latin typeface="Trebuchet MS"/>
                <a:ea typeface="Trebuchet MS"/>
              </a:rPr>
              <a:t>Satu tempat. Satu rujukan.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05 / 16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5705475" y="1238250"/>
            <a:ext cx="5705475" cy="5048250"/>
          </a:xfrm>
          <a:prstGeom prst="roundRect">
            <a:avLst>
              <a:gd name="adj" fmla="val 3774"/>
            </a:avLst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4848225" y="190500"/>
            <a:ext cx="3238500" cy="3238500"/>
          </a:xfrm>
          <a:custGeom>
            <a:pathLst>
              <a:path w="340" h="340">
                <a:moveTo>
                  <a:pt x="330" y="112"/>
                </a:moveTo>
                <a:cubicBezTo>
                  <a:pt x="354" y="178"/>
                  <a:pt x="335" y="252"/>
                  <a:pt x="282" y="298"/>
                </a:cubicBezTo>
                <a:cubicBezTo>
                  <a:pt x="228" y="344"/>
                  <a:pt x="152" y="353"/>
                  <a:pt x="90" y="320"/>
                </a:cubicBezTo>
                <a:lnTo>
                  <a:pt x="90" y="130"/>
                </a:lnTo>
                <a:cubicBezTo>
                  <a:pt x="90" y="119"/>
                  <a:pt x="99" y="110"/>
                  <a:pt x="110" y="110"/>
                </a:cubicBezTo>
                <a:lnTo>
                  <a:pt x="329" y="110"/>
                </a:lnTo>
                <a:close/>
              </a:path>
            </a:pathLst>
          </a:custGeom>
          <a:solidFill>
            <a:srgbClr val="AFC440">
              <a:alpha val="16000"/>
            </a:srgbClr>
          </a:solidFill>
          <a:ln/>
        </p:spPr>
        <p:txBody>
          <a:bodyPr/>
          <a:p/>
        </p:txBody>
      </p:sp>
      <p:pic>
        <p:nvPicPr>
          <p:cNvPr id="2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72275" y="1428750"/>
            <a:ext cx="3581400" cy="466725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50" name="" descr="&lt;Slide&#10;    style={{&#10;        width: '1280px',&#10;        height: '720px',&#10;        background: 'linear-gradient(135deg, #51277C 0%, #7A45A8 100%)',&#10;        paddingTop: 60,&#10;        paddingBottom: 60,&#10;        paddingLeft: 72,&#10;        paddingRight: 72,&#10;        justifyContent: 'center',&#10;        position: 'relative',&#10;        overflow: 'hidden',&#10;    }}&#10;&gt;&#10;    {/* dekorasi: ponsel + panah unduh */}&#10;    &lt;Box&#10;        style={{&#10;            position: 'absolute',&#10;            bottom: -120,&#10;            right: -70,&#10;            width: 440,&#10;            height: 440,&#10;            borderRadius: 220,&#10;            background: '#AFC440',&#10;            opacity: 0.14,&#10;        }}&#10;    /&gt;&#10;    &lt;Box style={{ position: 'absolute', top: 74, right: 92, opacity: 0.20 }}&gt;&#10;        &lt;svg width={230} height={250} viewBox='0 0 230 250'&gt;&#10;            &lt;rect x='52' y='10' width='126' height='210' rx='22' fill='none' stroke='#FFFFFF' strokeWidth='6' /&gt;&#10;            &lt;rect x='96' y='24' width='38' height='7' rx='4' fill='#FFFFFF' /&gt;&#10;            &lt;path d='M92 150 v46 M74 180 l18 18 l18 -18' fill='none' stroke='#FFFFFF' strokeWidth='8' strokeLinecap='round' strokeLinejoin='round' /&gt;&#10;            &lt;path d='M52 196 h126' stroke='#FFFFFF' strokeWidth='6' /&gt;&#10;        &lt;/svg&gt;&#10;    &lt;/Box&gt;&#10;&#10;    {/* isi */}&#10;    &lt;Box style={{ position: 'relative', zIndex: 1, width: '62%' }}&gt;&#10;        &lt;Box style={{ flexDirection: 'row', alignItems: 'center', gap: 14, alignSelf: 'flex-start' }}&gt;&#10;            &lt;Text&#10;                style={{&#10;                    fontSize: 76,&#10;                    fontWeight: 'bold',&#10;                    color: '#F3B26C',&#10;                    fontFamily: 'Trebuchet MS',&#10;                    lineHeight: 1,&#10;                }}&#10;            &gt;&#10;                02&#10;            &lt;/Text&gt;&#10;            &lt;Box style={{ width: 3, height: 52, background: 'rgba(255,255,255,0.45)' }} /&gt;&#10;            &lt;Text style={{ fontSize: 19, color: 'rgba(255,255,255,0.8)', fontFamily: 'Verdana' }}&gt;&#10;                Bagian kedua&#10;            &lt;/Text&gt;&#10;        &lt;/Box&gt;&#10;&#10;        &lt;Text&#10;            style={{&#10;                marginTop: 26,&#10;                fontSize: 60,&#10;                fontWeight: 'bold',&#10;                color: '#FFFFFF',&#10;                fontFamily: 'Trebuchet MS',&#10;                lineHeight: 1.15,&#10;            }}&#10;        &gt;&#10;            Cara mulai&#10;        &lt;/Text&gt;&#10;&#10;        &lt;Text&#10;            style={{&#10;                marginTop: 24,&#10;                fontSize: 22,&#10;                color: 'rgba(255,255,255,0.88)',&#10;                fontFamily: 'Verdana',&#10;                lineHeight: 1.5,&#10;            }}&#10;        &gt;&#10;            Dua langkah saja, lalu aplikasinya siap dipakai.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8667750" y="3810000"/>
            <a:ext cx="4191000" cy="4191000"/>
          </a:xfrm>
          <a:custGeom>
            <a:pathLst>
              <a:path w="440" h="440">
                <a:moveTo>
                  <a:pt x="226" y="0"/>
                </a:moveTo>
                <a:lnTo>
                  <a:pt x="231" y="0"/>
                </a:lnTo>
                <a:lnTo>
                  <a:pt x="237" y="1"/>
                </a:lnTo>
                <a:lnTo>
                  <a:pt x="242" y="1"/>
                </a:lnTo>
                <a:lnTo>
                  <a:pt x="248" y="2"/>
                </a:lnTo>
                <a:lnTo>
                  <a:pt x="253" y="3"/>
                </a:lnTo>
                <a:lnTo>
                  <a:pt x="259" y="3"/>
                </a:lnTo>
                <a:lnTo>
                  <a:pt x="264" y="4"/>
                </a:lnTo>
                <a:lnTo>
                  <a:pt x="270" y="6"/>
                </a:lnTo>
                <a:lnTo>
                  <a:pt x="275" y="7"/>
                </a:lnTo>
                <a:lnTo>
                  <a:pt x="280" y="8"/>
                </a:lnTo>
                <a:lnTo>
                  <a:pt x="285" y="10"/>
                </a:lnTo>
                <a:lnTo>
                  <a:pt x="291" y="12"/>
                </a:lnTo>
                <a:lnTo>
                  <a:pt x="296" y="13"/>
                </a:lnTo>
                <a:lnTo>
                  <a:pt x="301" y="15"/>
                </a:lnTo>
                <a:lnTo>
                  <a:pt x="306" y="17"/>
                </a:lnTo>
                <a:lnTo>
                  <a:pt x="311" y="19"/>
                </a:lnTo>
                <a:lnTo>
                  <a:pt x="315" y="22"/>
                </a:lnTo>
                <a:lnTo>
                  <a:pt x="320" y="24"/>
                </a:lnTo>
                <a:lnTo>
                  <a:pt x="325" y="27"/>
                </a:lnTo>
                <a:lnTo>
                  <a:pt x="329" y="29"/>
                </a:lnTo>
                <a:lnTo>
                  <a:pt x="334" y="32"/>
                </a:lnTo>
                <a:lnTo>
                  <a:pt x="339" y="35"/>
                </a:lnTo>
                <a:lnTo>
                  <a:pt x="343" y="38"/>
                </a:lnTo>
                <a:lnTo>
                  <a:pt x="347" y="41"/>
                </a:lnTo>
                <a:lnTo>
                  <a:pt x="352" y="44"/>
                </a:lnTo>
                <a:lnTo>
                  <a:pt x="356" y="47"/>
                </a:lnTo>
                <a:lnTo>
                  <a:pt x="360" y="50"/>
                </a:lnTo>
                <a:lnTo>
                  <a:pt x="364" y="54"/>
                </a:lnTo>
                <a:lnTo>
                  <a:pt x="368" y="57"/>
                </a:lnTo>
                <a:lnTo>
                  <a:pt x="370" y="59"/>
                </a:lnTo>
                <a:lnTo>
                  <a:pt x="370" y="320"/>
                </a:lnTo>
                <a:lnTo>
                  <a:pt x="24" y="320"/>
                </a:lnTo>
                <a:lnTo>
                  <a:pt x="22" y="315"/>
                </a:lnTo>
                <a:lnTo>
                  <a:pt x="19" y="311"/>
                </a:lnTo>
                <a:lnTo>
                  <a:pt x="17" y="306"/>
                </a:lnTo>
                <a:lnTo>
                  <a:pt x="15" y="301"/>
                </a:lnTo>
                <a:lnTo>
                  <a:pt x="13" y="296"/>
                </a:lnTo>
                <a:lnTo>
                  <a:pt x="12" y="291"/>
                </a:lnTo>
                <a:lnTo>
                  <a:pt x="10" y="285"/>
                </a:lnTo>
                <a:lnTo>
                  <a:pt x="8" y="280"/>
                </a:lnTo>
                <a:lnTo>
                  <a:pt x="7" y="275"/>
                </a:lnTo>
                <a:lnTo>
                  <a:pt x="6" y="270"/>
                </a:lnTo>
                <a:lnTo>
                  <a:pt x="4" y="264"/>
                </a:lnTo>
                <a:lnTo>
                  <a:pt x="3" y="259"/>
                </a:lnTo>
                <a:lnTo>
                  <a:pt x="3" y="253"/>
                </a:lnTo>
                <a:lnTo>
                  <a:pt x="2" y="248"/>
                </a:lnTo>
                <a:lnTo>
                  <a:pt x="1" y="242"/>
                </a:lnTo>
                <a:lnTo>
                  <a:pt x="1" y="237"/>
                </a:lnTo>
                <a:lnTo>
                  <a:pt x="0" y="231"/>
                </a:lnTo>
                <a:lnTo>
                  <a:pt x="0" y="226"/>
                </a:lnTo>
                <a:lnTo>
                  <a:pt x="0" y="220"/>
                </a:lnTo>
                <a:lnTo>
                  <a:pt x="0" y="214"/>
                </a:lnTo>
                <a:lnTo>
                  <a:pt x="0" y="209"/>
                </a:lnTo>
                <a:lnTo>
                  <a:pt x="1" y="203"/>
                </a:lnTo>
                <a:lnTo>
                  <a:pt x="1" y="198"/>
                </a:lnTo>
                <a:lnTo>
                  <a:pt x="2" y="192"/>
                </a:lnTo>
                <a:lnTo>
                  <a:pt x="3" y="187"/>
                </a:lnTo>
                <a:lnTo>
                  <a:pt x="3" y="181"/>
                </a:lnTo>
                <a:lnTo>
                  <a:pt x="4" y="176"/>
                </a:lnTo>
                <a:lnTo>
                  <a:pt x="6" y="170"/>
                </a:lnTo>
                <a:lnTo>
                  <a:pt x="7" y="165"/>
                </a:lnTo>
                <a:lnTo>
                  <a:pt x="8" y="160"/>
                </a:lnTo>
                <a:lnTo>
                  <a:pt x="10" y="155"/>
                </a:lnTo>
                <a:lnTo>
                  <a:pt x="12" y="149"/>
                </a:lnTo>
                <a:lnTo>
                  <a:pt x="13" y="144"/>
                </a:lnTo>
                <a:lnTo>
                  <a:pt x="15" y="139"/>
                </a:lnTo>
                <a:lnTo>
                  <a:pt x="17" y="134"/>
                </a:lnTo>
                <a:lnTo>
                  <a:pt x="19" y="129"/>
                </a:lnTo>
                <a:lnTo>
                  <a:pt x="22" y="125"/>
                </a:lnTo>
                <a:lnTo>
                  <a:pt x="24" y="120"/>
                </a:lnTo>
                <a:lnTo>
                  <a:pt x="27" y="115"/>
                </a:lnTo>
                <a:lnTo>
                  <a:pt x="29" y="111"/>
                </a:lnTo>
                <a:lnTo>
                  <a:pt x="32" y="106"/>
                </a:lnTo>
                <a:lnTo>
                  <a:pt x="35" y="101"/>
                </a:lnTo>
                <a:lnTo>
                  <a:pt x="38" y="97"/>
                </a:lnTo>
                <a:lnTo>
                  <a:pt x="41" y="93"/>
                </a:lnTo>
                <a:lnTo>
                  <a:pt x="44" y="88"/>
                </a:lnTo>
                <a:lnTo>
                  <a:pt x="47" y="84"/>
                </a:lnTo>
                <a:lnTo>
                  <a:pt x="50" y="80"/>
                </a:lnTo>
                <a:lnTo>
                  <a:pt x="54" y="76"/>
                </a:lnTo>
                <a:lnTo>
                  <a:pt x="57" y="72"/>
                </a:lnTo>
                <a:lnTo>
                  <a:pt x="61" y="68"/>
                </a:lnTo>
                <a:lnTo>
                  <a:pt x="64" y="64"/>
                </a:lnTo>
                <a:lnTo>
                  <a:pt x="68" y="61"/>
                </a:lnTo>
                <a:lnTo>
                  <a:pt x="72" y="57"/>
                </a:lnTo>
                <a:lnTo>
                  <a:pt x="76" y="54"/>
                </a:lnTo>
                <a:lnTo>
                  <a:pt x="80" y="50"/>
                </a:lnTo>
                <a:lnTo>
                  <a:pt x="84" y="47"/>
                </a:lnTo>
                <a:lnTo>
                  <a:pt x="88" y="44"/>
                </a:lnTo>
                <a:lnTo>
                  <a:pt x="93" y="41"/>
                </a:lnTo>
                <a:lnTo>
                  <a:pt x="97" y="38"/>
                </a:lnTo>
                <a:lnTo>
                  <a:pt x="101" y="35"/>
                </a:lnTo>
                <a:lnTo>
                  <a:pt x="106" y="32"/>
                </a:lnTo>
                <a:lnTo>
                  <a:pt x="111" y="29"/>
                </a:lnTo>
                <a:lnTo>
                  <a:pt x="115" y="27"/>
                </a:lnTo>
                <a:lnTo>
                  <a:pt x="120" y="24"/>
                </a:lnTo>
                <a:lnTo>
                  <a:pt x="125" y="22"/>
                </a:lnTo>
                <a:lnTo>
                  <a:pt x="129" y="19"/>
                </a:lnTo>
                <a:lnTo>
                  <a:pt x="134" y="17"/>
                </a:lnTo>
                <a:lnTo>
                  <a:pt x="139" y="15"/>
                </a:lnTo>
                <a:lnTo>
                  <a:pt x="144" y="13"/>
                </a:lnTo>
                <a:lnTo>
                  <a:pt x="149" y="12"/>
                </a:lnTo>
                <a:lnTo>
                  <a:pt x="155" y="10"/>
                </a:lnTo>
                <a:lnTo>
                  <a:pt x="160" y="8"/>
                </a:lnTo>
                <a:lnTo>
                  <a:pt x="165" y="7"/>
                </a:lnTo>
                <a:lnTo>
                  <a:pt x="170" y="6"/>
                </a:lnTo>
                <a:lnTo>
                  <a:pt x="176" y="4"/>
                </a:lnTo>
                <a:lnTo>
                  <a:pt x="181" y="3"/>
                </a:lnTo>
                <a:lnTo>
                  <a:pt x="187" y="3"/>
                </a:lnTo>
                <a:lnTo>
                  <a:pt x="192" y="2"/>
                </a:lnTo>
                <a:lnTo>
                  <a:pt x="198" y="1"/>
                </a:lnTo>
                <a:lnTo>
                  <a:pt x="203" y="1"/>
                </a:lnTo>
                <a:lnTo>
                  <a:pt x="209" y="0"/>
                </a:lnTo>
                <a:lnTo>
                  <a:pt x="214" y="0"/>
                </a:lnTo>
                <a:lnTo>
                  <a:pt x="220" y="0"/>
                </a:lnTo>
                <a:close/>
              </a:path>
            </a:pathLst>
          </a:custGeom>
          <a:solidFill>
            <a:srgbClr val="AFC440">
              <a:alpha val="14000"/>
            </a:srgbClr>
          </a:solidFill>
          <a:ln/>
        </p:spPr>
        <p:txBody>
          <a:bodyPr/>
          <a:p/>
        </p:txBody>
      </p:sp>
      <p:pic>
        <p:nvPicPr>
          <p:cNvPr id="253" name="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24950" y="704850"/>
            <a:ext cx="2190750" cy="2381250"/>
          </a:xfrm>
          <a:prstGeom prst="rect">
            <a:avLst/>
          </a:prstGeom>
          <a:ln/>
        </p:spPr>
      </p:pic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85800" y="217170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3B26C"/>
                </a:solidFill>
                <a:latin typeface="Trebuchet MS"/>
                <a:ea typeface="Trebuchet MS"/>
              </a:rPr>
              <a:t>02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1676400" y="2362200"/>
            <a:ext cx="28575" cy="4953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838325" y="2505075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0000"/>
                  </a:srgbClr>
                </a:solidFill>
                <a:latin typeface="Verdana"/>
                <a:ea typeface="Verdana"/>
              </a:rPr>
              <a:t>Bagian kedua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85800" y="3295650"/>
            <a:ext cx="6705600" cy="7905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Cara mulai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85800" y="4314825"/>
            <a:ext cx="67056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Dua langkah saja, lalu aplikasinya siap dipakai.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59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Pasang ke layar utama HP&#10;        &lt;/Text&gt;&#10;        &lt;Box style={{ marginTop: 10, width: 72, height: 6, borderRadius: 3, background: '#51277C' }} /&gt;&#10;    &lt;/Box&gt;&#10;&#10;    {/* ── B · area konten ── */}&#10;    &lt;Box style={{ height: 530, flexDirection: 'row', gap: 30 }}&gt;&#10;        {/* kiri 55% · ilustrasi */}&#10;        &lt;Box&#10;            style={{&#10;                width: '55%',&#10;                height: '100%',&#10;                background: 'rgba(81,39,124,0.06)',&#10;                borderRadius: 20,&#10;                justifyContent: 'center',&#10;                alignItems: 'center',&#10;            }}&#10;        &gt;&#10;            &lt;svg width={600} height={430} viewBox='0 0 600 430'&gt;&#10;                {/* ponsel kiri — browser */}&#10;                &lt;rect x='24' y='34' width='204' height='362' rx='30' fill='#FFFFFF' stroke='#E3DCCF' strokeWidth='4' /&gt;&#10;                &lt;rect x='104' y='50' width='44' height='9' rx='5' fill='#DCD5C9' /&gt;&#10;                &lt;rect x='48' y='76' width='156' height='34' rx='10' fill='#EFEAE1' /&gt;&#10;                &lt;rect x='48' y='126' width='156' height='10' rx='5' fill='#DED7CB' /&gt;&#10;                &lt;rect x='48' y='148' width='118' height='10' rx='5' fill='#EDE8DF' /&gt;&#10;                &lt;rect x='48' y='186' width='156' height='10' rx='5' fill='#EDE8DF' /&gt;&#10;                &lt;rect x='48' y='208' width='132' height='10' rx='5' fill='#EDE8DF' /&gt;&#10;                &lt;rect x='48' y='246' width='156' height='10' rx='5' fill='#EDE8DF' /&gt;&#10;                {/* tombol Pasang */}&#10;                &lt;rect x='48' y='292' width='156' height='54' rx='14' fill='#F3B26C' /&gt;&#10;                &lt;text x='126' y='326' fontFamily='Trebuchet MS' fontSize='24' fontWeight='bold' fill='#51277C' textAnchor='middle'&gt;&#10;                    Pasang&#10;                &lt;/text&gt;&#10;&#10;                {/* panah */}&#10;                &lt;path&#10;                    d='M248 215 h60 M292 195 l20 20 l-20 20'&#10;                    fill='none'&#10;                    stroke='#51277C'&#10;                    strokeWidth='7'&#10;                    strokeLinecap='round'&#10;                    strokeLinejoin='round'&#10;                /&gt;&#10;&#10;                {/* ponsel kanan — layar utama */}&#10;                &lt;rect x='330' y='54' width='244' height='322' rx='30' fill='#FFFFFF' stroke='#E3DCCF' strokeWidth='4' /&gt;&#10;                &lt;rect x='430' y='70' width='44' height='9' rx='5' fill='#DCD5C9' /&gt;&#10;                {/* ikon-ikon lain */}&#10;                &lt;rect x='358' y='100' width='48' height='48' rx='13' fill='#EFEAE1' /&gt;&#10;                &lt;rect x='424' y='100' width='48' height='48' rx='13' fill='#EFEAE1' /&gt;&#10;                &lt;rect x='490' y='100' width='48' height='48' rx='13' fill='#EFEAE1' /&gt;&#10;                &lt;rect x='358' y='170' width='48' height='48' rx='13' fill='#EFEAE1' /&gt;&#10;                &lt;rect x='424' y='170' width='48' height='48' rx='13' fill='#EFEAE1' /&gt;&#10;                &lt;rect x='490' y='170' width='48' height='48' rx='13' fill='#EFEAE1' /&gt;&#10;                &lt;rect x='358' y='240' width='48' height='48' rx='13' fill='#EFEAE1' /&gt;&#10;                &lt;rect x='490' y='240' width='48' height='48' rx='13' fill='#EFEAE1' /&gt;&#10;                {/* ikon aplikasi — baru muncul */}&#10;                &lt;rect x='418' y='234' width='64' height='64' rx='16' fill='#B6E9EC' /&gt;&#10;                &lt;rect x='430' y='246' width='30' height='26' rx='5' fill='#FFFFFF' /&gt;&#10;                &lt;path d='M430 246 h30' stroke='#51277C' strokeWidth='4' /&gt;&#10;                &lt;path d='M472 288 l-14 -14 a20 20 0 0 1 14 -6 z' fill='#F3B26C' /&gt;&#10;                &lt;circle cx='404' cy='228' r='13' fill='#AFC440' /&gt;&#10;                &lt;text x='404' y='235' fontFamily='Verdana' fontSize='14' fontWeight='bold' fill='#FFFFFF' textAnchor='middle'&gt;&#10;                    1&#10;                &lt;/text&gt;&#10;            &lt;/svg&gt;&#10;        &lt;/Box&gt;&#10;&#10;        {/* kanan 45% · langkah */}&#10;        &lt;Box style={{ width: '45%', height: '100%' }}&gt;&#10;            &lt;Box style={{ gap: 10 }}&gt;&#10;                {[&#10;                    { a: 'Buka alamat aplikasi', d: 'Lewat browser HP — Chrome atau Edge.' },&#10;                    { a: 'Ketuk tombol &quot;Pasang&quot;', d: 'Muncul sendiri di bagian bawah layar.' },&#10;                    { a: 'Ikon muncul di layar utama', d: 'Berciri pizza dan kalender, warna hijau muda.' },&#10;                    { a: 'Ketuk ikonnya', d: 'Terbuka seperti aplikasi biasa. Tidak perlu mengetik alamat lagi.' },&#10;                ].map((s, i) =&gt; (&#10;                    &lt;Box&#10;                        key={i}&#10;                        style={{&#10;                            height: 96,&#10;                            flexDirection: 'row',&#10;                            alignItems: 'center',&#10;                            gap: 16,&#10;                            background: '#FFFFFF',&#10;                            borderRadius: 14,&#10;                            boxShadow: '0 4px 20px rgba(0,0,0,0.08)',&#10;                            paddingLeft: 18,&#10;                            paddingRight: 20,&#10;                        }}&#10;                    &gt;&#10;                        &lt;Box&#10;                            style={{&#10;                                width: 44,&#10;                                height: 44,&#10;                                borderRadius: 22,&#10;                                background: '#51277C',&#10;                                justifyContent: 'center',&#10;                                alignItems: 'center',&#10;                            }}&#10;                        &gt;&#10;                            &lt;Text&#10;                                style={{&#10;                                    fontSize: 22,&#10;                                    fontWeight: 'bold',&#10;                                    color: '#FFFFFF',&#10;                                    fontFamily: 'Trebuchet MS',&#10;                                }}&#10;                            &gt;&#10;                                {i + 1}&#10;                            &lt;/Text&gt;&#10;                        &lt;/Box&gt;&#10;                        &lt;Box style={{ flex: 1 }}&gt;&#10;                            &lt;Text&#10;                                style={{&#10;                                    fontSize: 20,&#10;                                    fontWeight: 'bold',&#10;                                    color: '#2A2333',&#10;                                    fontFamily: 'Trebuchet MS',&#10;                                    lineHeight: 1.3,&#10;                                }}&#10;                            &gt;&#10;                                {s.a}&#10;                            &lt;/Text&gt;&#10;                            &lt;Text&#10;                                style={{&#10;                                    marginTop: 3,&#10;                                    fontSize: 17,&#10;                                    color: '#6B6478',&#10;                                    fontFamily: 'Verdana',&#10;                                    lineHeight: 1.4,&#10;                                }}&#10;                            &gt;&#10;                                {s.d}&#10;                            &lt;/Text&gt;&#10;                        &lt;/Box&gt;&#10;                    &lt;/Box&gt;&#10;                ))}&#10;            &lt;/Box&gt;&#10;&#10;            {/* catatan iOS */}&#10;            &lt;Box&#10;                style={{&#10;                    marginTop: 20,&#10;                    height: 96,&#10;                    background: '#FFFFFF',&#10;                    borderLeft: '8px solid #F3B26C',&#10;                    borderRadius: 14,&#10;                    boxShadow: '0 4px 20px rgba(0,0,0,0.08)',&#10;                    paddingTop: 16,&#10;                    paddingBottom: 16,&#10;                    paddingLeft: 20,&#10;                    paddingRight: 20,&#10;                    justifyContent: 'center',&#10;                }}&#10;            &gt;&#10;                &lt;Text&#10;                    style={{&#10;                        fontSize: 18,&#10;                        fontWeight: 'bold',&#10;                        color: '#51277C',&#10;                        fontFamily: 'Trebuchet MS',&#10;                    }}&#10;                &gt;&#10;                    Kalau memakai iPhone&#10;                &lt;/Text&gt;&#10;                &lt;Text&#10;                    style={{&#10;                        marginTop: 5,&#10;                        fontSize: 17,&#10;                        color: '#6B6478',&#10;                        fontFamily: 'Verdana',&#10;                        lineHeight: 1.4,&#10;                    }}&#10;                &gt;&#10;                    Tombol Bagikan, lalu pilih &quot;Add to Home Screen&quot;.&#10;                &lt;/Text&gt;&#10;            &lt;/Box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Orang Tua&#10;        &lt;/Text&gt;&#10;        &lt;Text style={{ fontSize: 14, color: '#6B6478', fontFamily: 'Verdana' }}&gt;07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Pasang ke layar utama HP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609600" y="1238250"/>
            <a:ext cx="5876925" cy="5048250"/>
          </a:xfrm>
          <a:prstGeom prst="roundRect">
            <a:avLst>
              <a:gd name="adj" fmla="val 3774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2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5325" y="1714500"/>
            <a:ext cx="5715000" cy="4095750"/>
          </a:xfrm>
          <a:prstGeom prst="rect">
            <a:avLst/>
          </a:prstGeom>
          <a:ln/>
        </p:spPr>
      </p:pic>
      <p:sp>
        <p:nvSpPr>
          <p:cNvPr id="265" name=""/>
          <p:cNvSpPr/>
          <p:nvPr/>
        </p:nvSpPr>
        <p:spPr>
          <a:xfrm rot="0" flipH="0" flipV="0">
            <a:off x="6772275" y="1238250"/>
            <a:ext cx="4810125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6943725" y="14859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7096125" y="157162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rebuchet MS"/>
                <a:ea typeface="Trebuchet MS"/>
              </a:rPr>
              <a:t>1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7515225" y="1390650"/>
            <a:ext cx="38766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00" b="1">
                <a:solidFill>
                  <a:srgbClr val="2A2333"/>
                </a:solidFill>
                <a:latin typeface="Trebuchet MS"/>
                <a:ea typeface="Trebuchet MS"/>
              </a:rPr>
              <a:t>Buka alamat aplikasi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515225" y="1724025"/>
            <a:ext cx="38766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Lewat browser HP — Chrome atau Edge.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772275" y="2247900"/>
            <a:ext cx="4810125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6943725" y="24955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096125" y="25812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rebuchet MS"/>
                <a:ea typeface="Trebuchet MS"/>
              </a:rPr>
              <a:t>2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515225" y="2400300"/>
            <a:ext cx="38766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00" b="1">
                <a:solidFill>
                  <a:srgbClr val="2A2333"/>
                </a:solidFill>
                <a:latin typeface="Trebuchet MS"/>
                <a:ea typeface="Trebuchet MS"/>
              </a:rPr>
              <a:t>Ketuk tombol "Pasang"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7515225" y="2733675"/>
            <a:ext cx="38766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Muncul sendiri di bagian bawah layar.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772275" y="3257550"/>
            <a:ext cx="4810125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6" name=""/>
          <p:cNvSpPr/>
          <p:nvPr/>
        </p:nvSpPr>
        <p:spPr>
          <a:xfrm rot="0" flipH="0" flipV="0">
            <a:off x="6943725" y="35052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096125" y="359092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rebuchet MS"/>
                <a:ea typeface="Trebuchet MS"/>
              </a:rPr>
              <a:t>3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515225" y="3409950"/>
            <a:ext cx="38766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00" b="1">
                <a:solidFill>
                  <a:srgbClr val="2A2333"/>
                </a:solidFill>
                <a:latin typeface="Trebuchet MS"/>
                <a:ea typeface="Trebuchet MS"/>
              </a:rPr>
              <a:t>Ikon muncul di layar utama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515225" y="3743325"/>
            <a:ext cx="38766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Berciri pizza dan kalender, warna hijau muda.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772275" y="4267200"/>
            <a:ext cx="4810125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6943725" y="45148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096125" y="46005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rebuchet MS"/>
                <a:ea typeface="Trebuchet MS"/>
              </a:rPr>
              <a:t>4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515225" y="4286250"/>
            <a:ext cx="3876675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00" b="1">
                <a:solidFill>
                  <a:srgbClr val="2A2333"/>
                </a:solidFill>
                <a:latin typeface="Trebuchet MS"/>
                <a:ea typeface="Trebuchet MS"/>
              </a:rPr>
              <a:t>Ketuk ikonnya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515225" y="4619625"/>
            <a:ext cx="38766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Terbuka seperti aplikasi biasa. Tidak perlu mengetik alamat lagi.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848475" y="5372100"/>
            <a:ext cx="4810125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6848475" y="5372100"/>
            <a:ext cx="4810125" cy="914400"/>
          </a:xfrm>
          <a:custGeom>
            <a:pathLst>
              <a:path w="505" h="96">
                <a:moveTo>
                  <a:pt x="13" y="0"/>
                </a:moveTo>
                <a:cubicBezTo>
                  <a:pt x="10" y="0"/>
                  <a:pt x="8" y="3"/>
                  <a:pt x="8" y="6"/>
                </a:cubicBezTo>
                <a:lnTo>
                  <a:pt x="8" y="90"/>
                </a:lnTo>
                <a:cubicBezTo>
                  <a:pt x="8" y="93"/>
                  <a:pt x="10" y="96"/>
                  <a:pt x="13" y="96"/>
                </a:cubicBezTo>
                <a:cubicBezTo>
                  <a:pt x="6" y="96"/>
                  <a:pt x="0" y="89"/>
                  <a:pt x="0" y="82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038975" y="5562600"/>
            <a:ext cx="4352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51277C"/>
                </a:solidFill>
                <a:latin typeface="Trebuchet MS"/>
                <a:ea typeface="Trebuchet MS"/>
              </a:rPr>
              <a:t>Kalau memakai iPhone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7038975" y="5819775"/>
            <a:ext cx="435292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Tombol Bagikan, lalu pilih "Add to Home Screen".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07 / 16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91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Masuk memakai akun dari sekolah&#10;        &lt;/Text&gt;&#10;        &lt;Box style={{ marginTop: 10, width: 72, height: 6, borderRadius: 3, background: '#51277C' }} /&gt;&#10;    &lt;/Box&gt;&#10;&#10;    {/* ── B · area konten ── */}&#10;    &lt;Box style={{ height: 530, flexDirection: 'row', gap: 28 }}&gt;&#10;        {/* kiri 30% · panel ungu */}&#10;        &lt;Box&#10;            style={{&#10;                width: '30%',&#10;                height: '100%',&#10;                background: 'linear-gradient(135deg, #51277C 0%, #7A45A8 100%)',&#10;                borderRadius: 20,&#10;                padding: 26,&#10;                justifyContent: 'space-between',&#10;                alignItems: 'center',&#10;            }}&#10;        &gt;&#10;            &lt;Box style={{ alignItems: 'center' }}&gt;&#10;                &lt;Text&#10;                    style={{&#10;                        fontSize: 16,&#10;                        color: 'rgba(255,255,255,0.75)',&#10;                        fontFamily: 'Verdana',&#10;                    }}&#10;                &gt;&#10;                    Langkah 2&#10;                &lt;/Text&gt;&#10;                &lt;Text&#10;                    style={{&#10;                        marginTop: 8,&#10;                        fontSize: 40,&#10;                        fontWeight: 'bold',&#10;                        color: '#FFFFFF',&#10;                        fontFamily: 'Trebuchet MS',&#10;                    }}&#10;                &gt;&#10;                    Masuk&#10;                &lt;/Text&gt;&#10;            &lt;/Box&gt;&#10;&#10;            &lt;svg width={170} height={170} viewBox='0 0 170 170'&gt;&#10;                &lt;rect x='34' y='74' width='102' height='80' rx='14' fill='#F3B26C' /&gt;&#10;                &lt;path&#10;                    d='M58 74 v-20 a27 27 0 0 1 54 0 v20'&#10;                    fill='none'&#10;                    stroke='#FFFFFF'&#10;                    strokeWidth='10'&#10;                    strokeLinecap='round'&#10;                /&gt;&#10;                &lt;circle cx='85' cy='108' r='10' fill='#51277C' /&gt;&#10;                &lt;rect x='81' y='114' width='8' height='20' rx='4' fill='#51277C' /&gt;&#10;                &lt;circle cx='132' cy='44' r='22' fill='none' stroke='#AFC440' strokeWidth='8' /&gt;&#10;                &lt;path d='M148 60 l16 16' stroke='#AFC440' strokeWidth='8' strokeLinecap='round' /&gt;&#10;            &lt;/svg&gt;&#10;&#10;            &lt;Text&#10;                style={{&#10;                    fontSize: 17,&#10;                    color: 'rgba(255,255,255,0.9)',&#10;                    fontFamily: 'Verdana',&#10;                    lineHeight: 1.5,&#10;                    textAlign: 'center',&#10;                }}&#10;            &gt;&#10;                Wajib masuk dulu sebelum jadwal bisa dilihat.&#10;            &lt;/Text&gt;&#10;        &lt;/Box&gt;&#10;&#10;        {/* kanan 70% · empat keterangan */}&#10;        &lt;Box style={{ width: '70%', height: '100%', justifyContent: 'space-between' }}&gt;&#10;            {[&#10;                {&#10;                    vb: '0 0 448 512',&#10;                    d: 'M224 256A128 128 0 1 0 224 0a128 128 0 1 0 0 256zm-45.7 48C79.8 304 0 383.8 0 482.3C0 498.7 13.3 512 29.7 512H418.3c16.4 0 29.7-13.3 29.7-29.7C448 383.8 368.2 304 269.7 304H178.3z',&#10;                    t: 'Akunnya dibuatkan sekolah',&#10;                    d: 'Username dan password diberikan oleh admin sekolah. Bapak/Ibu tidak perlu mendaftar sendiri.',&#10;                },&#10;                {&#10;                    vb: '0 0 640 512',&#10;                    d: 'M144 0a80 80 0 1 1 0 160A80 80 0 1 1 144 0zM512 0a80 80 0 1 1 0 160A80 80 0 1 1 512 0zM0 298.7C0 239.8 47.8 192 106.7 192h42.7c15.9 0 31 3.5 44.6 9.7c-1.3 7.2-1.9 14.7-1.9 22.3c0 38.2 16.8 72.5 43.3 96c-.2 0-.4 0-.7 0H21.3C9.6 320 0 310.4 0 298.7zM405.3 320c-.2 0-.4 0-.7 0c26.6-23.5 43.3-57.8 43.3-96c0-7.6-.7-15-1.9-22.3c13.6-6.3 28.7-9.7 44.6-9.7h42.7C592.2 192 640 239.8 640 298.7c0 11.8-9.6 21.3-21.3 21.3H405.3zM224 224a96 96 0 1 1 192 0 96 96 0 1 1 -192 0zM128 485.3C128 411.7 187.7 352 261.3 352H378.7C452.3 352 512 411.7 512 485.3c0 14.7-11.9 26.7-26.7 26.7H154.7c-14.7 0-26.7-11.9-26.7-26.7z',&#10;                    t: 'Satu akun bisa untuk beberapa anak',&#10;                    d: 'Punya dua anak di kelas berbeda? Cukup satu akun — pilih kelasnya di bagian atas layar. Anak bisa ditambah di menu Profil.',&#10;                },&#10;                {&#10;                    vb: '0 0 512 512',&#10;                    d: 'M336 352c97.2 0 176-78.8 176-176S433.2 0 336 0S160 78.8 160 176c0 18.7 2.9 36.8 8.3 53.7L7 391c-4.5 4.5-7 10.6-7 17v80c0 13.3 10.7 24 24 24h80c13.3 0 24-10.7 24-24V448h40c13.3 0 24-10.7 24-24V384h40c6.4 0 12.5-2.5 17-7l33.3-33.3c16.9 5.4 35 8.3 53.7 8.3zM376 96a40 40 0 1 1 0 80 40 40 0 1 1 0-80z',&#10;                    t: 'Password bisa diganti sendiri',&#10;                    d: 'Ada menu Profil di dalam aplikasi. Kalau lupa, minta reset kepada admin sekolah sebelum salah mencoba berulang kali.',&#10;                },&#10;                {&#10;                    vb: '0 0 448 512',&#10;                    d: 'M144 144v48H304V144c0-44.2-35.8-80-80-80s-80 35.8-80 80zM80 192V144C80 64.5 144.5 0 224 0s144 64.5 144 144v48h16c35.3 0 64 28.7 64 64V448c0 35.3-28.7 64-64 64H64c-35.3 0-64-28.7-64-64V256c0-35.3 28.7-64 64-64H80z',&#10;                    t: 'Hati-hati: 5 kali salah, akun terkunci',&#10;                    d: 'Salah password 5 kali berturut-turut mengunci akun. Tidak bisa dibuka sendiri — hubungi admin sekolah, nanti dibukakan.',&#10;                    warn: true,&#10;                },&#10;                {&#10;                    vb: '0 0 512 512',&#10;                    d: 'M256 0c4.6 0 9.2 1 13.4 2.9L457.7 82.8c22 9.3 38.4 31 38.3 57.2c-.5 99.2-41.3 280.7-213.6 363.2c-16.7 8-36.1 8-52.8 0C57.3 420.7 16.5 239.2 16 140c-.1-26.2 16.3-47.9 38.3-57.2L242.7 2.9C246.8 1 251.4 0 256 0z',&#10;                    t: 'Kenapa harus masuk?',&#10;                    d: 'Supaya jadwal dan nama anak hanya dilihat oleh orang tuanya sendiri, bukan orang lain.',&#10;                },&#10;            ].map((c, idx) =&gt; (&#10;                &lt;Box&#10;                    key={idx}&#10;                    style={{&#10;                        height: 100,&#10;                        flexDirection: 'row',&#10;                        alignItems: 'center',&#10;                        gap: 20,&#10;                        background: '#FFFFFF',&#10;                        borderRadius: 16,&#10;                        boxShadow: '0 4px 20px rgba(0,0,0,0.08)',&#10;                        paddingLeft: 24,&#10;                        paddingRight: 26,&#10;                        borderLeft: c.warn ? '8px solid #F3B26C' : '8px solid #AFC440',&#10;                    }}&#10;                &gt;&#10;                    &lt;Box&#10;                        style={{&#10;                            width: 54,&#10;                            height: 54,&#10;                            borderRadius: 27,&#10;                            background: 'rgba(81,39,124,0.10)',&#10;                            justifyContent: 'center',&#10;                            alignItems: 'center',&#10;                        }}&#10;                    &gt;&#10;                        &lt;svg width={28} height={28} viewBox={c.vb} xmlns=&quot;http://www.w3.org/2000/svg&quot;&gt;&lt;path fill=&quot;#51277C&quot; d={c.d} /&gt;&lt;/svg&gt;&#10;                    &lt;/Box&gt;&#10;                    &lt;Box style={{ flex: 1 }}&gt;&#10;                        &lt;Text&#10;                            style={{&#10;                                fontSize: 24,&#10;                                fontWeight: 'bold',&#10;                                color: '#2A2333',&#10;                                fontFamily: 'Trebuchet MS',&#10;                                lineHeight: 1.3,&#10;                            }}&#10;                        &gt;&#10;                            {c.t}&#10;                        &lt;/Text&gt;&#10;                        &lt;Text&#10;                            style={{&#10;                                marginTop: 5,&#10;                                fontSize: 18,&#10;                                color: '#6B6478',&#10;                                fontFamily: 'Verdana',&#10;                                lineHeight: 1.45,&#10;                            }}&#10;                        &gt;&#10;                            {c.d}&#10;                        &lt;/Text&gt;&#10;                    &lt;/Box&gt;&#10;                &lt;/Box&gt;&#10;            ))}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Orang Tua&#10;        &lt;/Text&gt;&#10;        &lt;Text style={{ fontSize: 14, color: '#6B6478', fontFamily: 'Verdana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Masuk memakai akun dari sekolah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95" name=""/>
          <p:cNvSpPr/>
          <p:nvPr/>
        </p:nvSpPr>
        <p:spPr>
          <a:xfrm rot="0" flipH="0" flipV="0">
            <a:off x="609600" y="1238250"/>
            <a:ext cx="3209925" cy="5048250"/>
          </a:xfrm>
          <a:prstGeom prst="roundRect">
            <a:avLst>
              <a:gd name="adj" fmla="val 5935"/>
            </a:avLst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819275" y="1485900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5000"/>
                  </a:srgbClr>
                </a:solidFill>
                <a:latin typeface="Verdana"/>
                <a:ea typeface="Verdana"/>
              </a:rPr>
              <a:t>Langkah 2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676400" y="1752600"/>
            <a:ext cx="10858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Trebuchet MS"/>
                <a:ea typeface="Trebuchet MS"/>
              </a:rPr>
              <a:t>Masuk</a:t>
            </a:r>
            <a:endParaRPr/>
          </a:p>
        </p:txBody>
      </p:sp>
      <p:pic>
        <p:nvPicPr>
          <p:cNvPr id="2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409700" y="3019425"/>
            <a:ext cx="1619250" cy="1619250"/>
          </a:xfrm>
          <a:prstGeom prst="rect">
            <a:avLst/>
          </a:prstGeom>
          <a:ln/>
        </p:spPr>
      </p:pic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57250" y="5448300"/>
            <a:ext cx="2714625" cy="5905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Verdana"/>
                <a:ea typeface="Verdana"/>
              </a:rPr>
              <a:t>Wajib masuk dulu sebelum jadwal bisa dilihat.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4162425" y="1238250"/>
            <a:ext cx="7496175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4162425" y="1238250"/>
            <a:ext cx="7496175" cy="952500"/>
          </a:xfrm>
          <a:custGeom>
            <a:pathLst>
              <a:path w="787" h="100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92"/>
                </a:lnTo>
                <a:cubicBezTo>
                  <a:pt x="8" y="96"/>
                  <a:pt x="11" y="99"/>
                  <a:pt x="14" y="100"/>
                </a:cubicBezTo>
                <a:cubicBezTo>
                  <a:pt x="6" y="99"/>
                  <a:pt x="0" y="92"/>
                  <a:pt x="0" y="8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4391025" y="145732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3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14850" y="1581150"/>
            <a:ext cx="266700" cy="266700"/>
          </a:xfrm>
          <a:prstGeom prst="rect">
            <a:avLst/>
          </a:prstGeom>
          <a:ln/>
        </p:spPr>
      </p:pic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5095875" y="1209675"/>
            <a:ext cx="62388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Akunnya dibuatkan sekolah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095875" y="1619250"/>
            <a:ext cx="62388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Username dan password diberikan oleh admin sekolah. Bapak/Ibu tidak perlu mendaftar sendiri.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4162425" y="2266950"/>
            <a:ext cx="7496175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4162425" y="2266950"/>
            <a:ext cx="7496175" cy="952500"/>
          </a:xfrm>
          <a:custGeom>
            <a:pathLst>
              <a:path w="787" h="100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92"/>
                </a:lnTo>
                <a:cubicBezTo>
                  <a:pt x="8" y="96"/>
                  <a:pt x="11" y="99"/>
                  <a:pt x="14" y="100"/>
                </a:cubicBezTo>
                <a:cubicBezTo>
                  <a:pt x="6" y="99"/>
                  <a:pt x="0" y="92"/>
                  <a:pt x="0" y="8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4391025" y="248602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3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14850" y="2609850"/>
            <a:ext cx="266700" cy="266700"/>
          </a:xfrm>
          <a:prstGeom prst="rect">
            <a:avLst/>
          </a:prstGeom>
          <a:ln/>
        </p:spPr>
      </p:pic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5095875" y="2238375"/>
            <a:ext cx="62388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Satu akun bisa untuk beberapa anak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5095875" y="2647950"/>
            <a:ext cx="62388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Punya dua anak di kelas berbeda? Cukup satu akun — pilih kelasnya di bagian atas layar. Anak bisa ditambah di menu Profil.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4162425" y="3286125"/>
            <a:ext cx="7496175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4162425" y="3286125"/>
            <a:ext cx="7496175" cy="952500"/>
          </a:xfrm>
          <a:custGeom>
            <a:pathLst>
              <a:path w="787" h="100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92"/>
                </a:lnTo>
                <a:cubicBezTo>
                  <a:pt x="8" y="96"/>
                  <a:pt x="11" y="99"/>
                  <a:pt x="14" y="100"/>
                </a:cubicBezTo>
                <a:cubicBezTo>
                  <a:pt x="6" y="99"/>
                  <a:pt x="0" y="92"/>
                  <a:pt x="0" y="8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4391025" y="350520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3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514850" y="3629025"/>
            <a:ext cx="266700" cy="266700"/>
          </a:xfrm>
          <a:prstGeom prst="rect">
            <a:avLst/>
          </a:prstGeom>
          <a:ln/>
        </p:spPr>
      </p:pic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5095875" y="3257550"/>
            <a:ext cx="62388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Password bisa diganti sendiri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5095875" y="3667125"/>
            <a:ext cx="62388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Ada menu Profil di dalam aplikasi. Kalau lupa, minta reset kepada admin sekolah sebelum salah mencoba berulang kali.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4162425" y="4314825"/>
            <a:ext cx="7496175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4162425" y="4314825"/>
            <a:ext cx="7496175" cy="952500"/>
          </a:xfrm>
          <a:custGeom>
            <a:pathLst>
              <a:path w="787" h="100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92"/>
                </a:lnTo>
                <a:cubicBezTo>
                  <a:pt x="8" y="96"/>
                  <a:pt x="11" y="99"/>
                  <a:pt x="14" y="100"/>
                </a:cubicBezTo>
                <a:cubicBezTo>
                  <a:pt x="6" y="99"/>
                  <a:pt x="0" y="92"/>
                  <a:pt x="0" y="8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4391025" y="453390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3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514850" y="4657725"/>
            <a:ext cx="266700" cy="266700"/>
          </a:xfrm>
          <a:prstGeom prst="rect">
            <a:avLst/>
          </a:prstGeom>
          <a:ln/>
        </p:spPr>
      </p:pic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095875" y="4286250"/>
            <a:ext cx="62388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Hati-hati: 5 kali salah, akun terkunci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095875" y="4695825"/>
            <a:ext cx="62388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Salah password 5 kali berturut-turut mengunci akun. Tidak bisa dibuka sendiri — hubungi admin sekolah, nanti dibukakan.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4162425" y="5334000"/>
            <a:ext cx="7496175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5" name=""/>
          <p:cNvSpPr/>
          <p:nvPr/>
        </p:nvSpPr>
        <p:spPr>
          <a:xfrm rot="0" flipH="0" flipV="0">
            <a:off x="4162425" y="5334000"/>
            <a:ext cx="7496175" cy="952500"/>
          </a:xfrm>
          <a:custGeom>
            <a:pathLst>
              <a:path w="787" h="100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92"/>
                </a:lnTo>
                <a:cubicBezTo>
                  <a:pt x="8" y="96"/>
                  <a:pt x="11" y="99"/>
                  <a:pt x="14" y="100"/>
                </a:cubicBezTo>
                <a:cubicBezTo>
                  <a:pt x="6" y="99"/>
                  <a:pt x="0" y="92"/>
                  <a:pt x="0" y="8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326" name=""/>
          <p:cNvSpPr/>
          <p:nvPr/>
        </p:nvSpPr>
        <p:spPr>
          <a:xfrm rot="0" flipH="0" flipV="0">
            <a:off x="4391025" y="555307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3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4514850" y="5676900"/>
            <a:ext cx="266700" cy="266700"/>
          </a:xfrm>
          <a:prstGeom prst="rect">
            <a:avLst/>
          </a:prstGeom>
          <a:ln/>
        </p:spPr>
      </p:pic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5095875" y="5305425"/>
            <a:ext cx="62388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Kenapa harus masuk?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5095875" y="5715000"/>
            <a:ext cx="62388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Supaya jadwal dan nama anak hanya dilihat oleh orang tuanya sendiri, bukan orang lain.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08 / 16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32" name="" descr="&lt;Slide&#10;    style={{&#10;        width: '1280px',&#10;        height: '720px',&#10;        background: 'linear-gradient(135deg, #51277C 0%, #7A45A8 100%)',&#10;        paddingTop: 60,&#10;        paddingBottom: 60,&#10;        paddingLeft: 72,&#10;        paddingRight: 72,&#10;        justifyContent: 'center',&#10;        position: 'relative',&#10;        overflow: 'hidden',&#10;    }}&#10;&gt;&#10;    {/* dekorasi: kalender + centang */}&#10;    &lt;Box&#10;        style={{&#10;            position: 'absolute',&#10;            top: -110,&#10;            right: 140,&#10;            width: 380,&#10;            height: 380,&#10;            borderRadius: 190,&#10;            background: '#F3B26C',&#10;            opacity: 0.16,&#10;        }}&#10;    /&gt;&#10;    &lt;Box style={{ position: 'absolute', bottom: 62, right: 84, opacity: 0.20 }}&gt;&#10;        &lt;svg width={250} height={210} viewBox='0 0 250 210'&gt;&#10;            &lt;rect x='14' y='30' width='222' height='166' rx='18' fill='none' stroke='#FFFFFF' strokeWidth='6' /&gt;&#10;            &lt;path d='M14 74 h222' stroke='#FFFFFF' strokeWidth='6' /&gt;&#10;            &lt;path d='M64 10 v34M186 10 v34' stroke='#FFFFFF' strokeWidth='8' strokeLinecap='round' /&gt;&#10;            &lt;path d='M52 152 l30 32 l66 -74' fill='none' stroke='#AFC440' strokeWidth='14' strokeLinecap='round' strokeLinejoin='round' /&gt;&#10;        &lt;/svg&gt;&#10;    &lt;/Box&gt;&#10;&#10;    {/* isi */}&#10;    &lt;Box style={{ position: 'relative', zIndex: 1, width: '62%' }}&gt;&#10;        &lt;Box style={{ flexDirection: 'row', alignItems: 'center', gap: 14, alignSelf: 'flex-start' }}&gt;&#10;            &lt;Text&#10;                style={{&#10;                    fontSize: 76,&#10;                    fontWeight: 'bold',&#10;                    color: '#F3B26C',&#10;                    fontFamily: 'Trebuchet MS',&#10;                    lineHeight: 1,&#10;                }}&#10;            &gt;&#10;                03&#10;            &lt;/Text&gt;&#10;            &lt;Box style={{ width: 3, height: 52, background: 'rgba(255,255,255,0.45)' }} /&gt;&#10;            &lt;Text style={{ fontSize: 19, color: 'rgba(255,255,255,0.8)', fontFamily: 'Verdana' }}&gt;&#10;                Bagian ketiga&#10;            &lt;/Text&gt;&#10;        &lt;/Box&gt;&#10;&#10;        &lt;Text&#10;            style={{&#10;                marginTop: 26,&#10;                fontSize: 60,&#10;                fontWeight: 'bold',&#10;                color: '#FFFFFF',&#10;                fontFamily: 'Trebuchet MS',&#10;                lineHeight: 1.15,&#10;            }}&#10;        &gt;&#10;            Dipakai{'\n'}tiap hari&#10;        &lt;/Text&gt;&#10;&#10;        &lt;Text&#10;            style={{&#10;                marginTop: 24,&#10;                fontSize: 22,&#10;                color: 'rgba(255,255,255,0.88)',&#10;                fontFamily: 'Verdana',&#10;                lineHeight: 1.5,&#10;            }}&#10;        &gt;&#10;            Tiga hal yang paling sering dibuka orang tua.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7239000" y="-1047750"/>
            <a:ext cx="3619500" cy="3619500"/>
          </a:xfrm>
          <a:custGeom>
            <a:pathLst>
              <a:path w="380" h="380">
                <a:moveTo>
                  <a:pt x="363" y="112"/>
                </a:moveTo>
                <a:cubicBezTo>
                  <a:pt x="399" y="192"/>
                  <a:pt x="376" y="286"/>
                  <a:pt x="307" y="340"/>
                </a:cubicBezTo>
                <a:cubicBezTo>
                  <a:pt x="237" y="394"/>
                  <a:pt x="140" y="393"/>
                  <a:pt x="72" y="339"/>
                </a:cubicBezTo>
                <a:cubicBezTo>
                  <a:pt x="3" y="284"/>
                  <a:pt x="-19" y="190"/>
                  <a:pt x="18" y="110"/>
                </a:cubicBezTo>
                <a:lnTo>
                  <a:pt x="362" y="110"/>
                </a:lnTo>
                <a:close/>
              </a:path>
            </a:pathLst>
          </a:custGeom>
          <a:solidFill>
            <a:srgbClr val="F3B26C">
              <a:alpha val="16000"/>
            </a:srgbClr>
          </a:solidFill>
          <a:ln/>
        </p:spPr>
        <p:txBody>
          <a:bodyPr/>
          <a:p/>
        </p:txBody>
      </p:sp>
      <p:pic>
        <p:nvPicPr>
          <p:cNvPr id="335" name="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010650" y="4267200"/>
            <a:ext cx="2381250" cy="2000250"/>
          </a:xfrm>
          <a:prstGeom prst="rect">
            <a:avLst/>
          </a:prstGeom>
          <a:ln/>
        </p:spPr>
      </p:pic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85800" y="17716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3B26C"/>
                </a:solidFill>
                <a:latin typeface="Trebuchet MS"/>
                <a:ea typeface="Trebuchet MS"/>
              </a:rPr>
              <a:t>03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1676400" y="1962150"/>
            <a:ext cx="28575" cy="4953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838325" y="2105025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0000"/>
                  </a:srgbClr>
                </a:solidFill>
                <a:latin typeface="Verdana"/>
                <a:ea typeface="Verdana"/>
              </a:rPr>
              <a:t>Bagian ketiga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85800" y="2895600"/>
            <a:ext cx="6705600" cy="1581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Dipakai</a:t>
            </a:r>
            <a:endParaRPr/>
          </a:p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tiap hari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85800" y="4705350"/>
            <a:ext cx="67056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Tiga hal yang paling sering dibuka orang tua.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Lihat jadwal snack&#10;        &lt;/Text&gt;&#10;        &lt;Box style={{ marginTop: 10, width: 72, height: 6, borderRadius: 3, background: '#51277C' }} /&gt;&#10;    &lt;/Box&gt;&#10;&#10;    {/* ── B · area konten ── */}&#10;    &lt;Box style={{ height: 530 }}&gt;&#10;        {/* atas 64% · ilustrasi jadwal sepekan */}&#10;        &lt;Box&#10;            style={{&#10;                height: 340,&#10;                background: 'rgba(81,39,124,0.06)',&#10;                borderRadius: 20,&#10;                justifyContent: 'center',&#10;                alignItems: 'center',&#10;            }}&#10;        &gt;&#10;            &lt;svg width={1100} height={300} viewBox='0 0 1100 300'&gt;&#10;                {/* Senin */}&#10;                &lt;rect x='6' y='8' width='208' height='284' rx='16' fill='#FFFFFF' stroke='#E6DFD2' strokeWidth='2' /&gt;&#10;                &lt;rect x='6' y='8' width='208' height='58' rx='16' fill='#EFEAE1' /&gt;&#10;                &lt;rect x='6' y='44' width='208' height='22' fill='#EFEAE1' /&gt;&#10;                &lt;text x='110' y='46' fontFamily='Trebuchet MS' fontSize='24' fontWeight='bold' fill='#51277C' textAnchor='middle'&gt;&#10;                    Senin&#10;                &lt;/text&gt;&#10;                &lt;rect x='28' y='92' width='164' height='16' rx='8' fill='#DED7CB' /&gt;&#10;                &lt;rect x='28' y='124' width='128' height='14' rx='7' fill='#EDE8DF' /&gt;&#10;                &lt;rect x='28' y='158' width='72' height='28' rx='14' fill='#AFC440' /&gt;&#10;                &lt;text x='64' y='178' fontFamily='Verdana' fontSize='15' fill='#3F4718' textAnchor='middle'&gt;&#10;                    Jeruk&#10;                &lt;/text&gt;&#10;                &lt;rect x='28' y='214' width='164' height='1' fill='#EFEAE1' /&gt;&#10;                &lt;circle cx='44' cy='240' r='12' fill='#DED7CB' /&gt;&#10;                &lt;rect x='64' y='233' width='104' height='12' rx='6' fill='#EDE8DF' /&gt;&#10;&#10;                {/* Selasa */}&#10;                &lt;rect x='226' y='8' width='208' height='284' rx='16' fill='#FFFFFF' stroke='#E6DFD2' strokeWidth='2' /&gt;&#10;                &lt;rect x='226' y='8' width='208' height='58' rx='16' fill='#EFEAE1' /&gt;&#10;                &lt;rect x='226' y='44' width='208' height='22' fill='#EFEAE1' /&gt;&#10;                &lt;text x='330' y='46' fontFamily='Trebuchet MS' fontSize='24' fontWeight='bold' fill='#51277C' textAnchor='middle'&gt;&#10;                    Selasa&#10;                &lt;/text&gt;&#10;                &lt;rect x='248' y='92' width='164' height='16' rx='8' fill='#DED7CB' /&gt;&#10;                &lt;rect x='248' y='124' width='112' height='14' rx='7' fill='#EDE8DF' /&gt;&#10;                &lt;rect x='248' y='158' width='72' height='28' rx='14' fill='#AFC440' /&gt;&#10;                &lt;text x='284' y='178' fontFamily='Verdana' fontSize='15' fill='#3F4718' textAnchor='middle'&gt;&#10;                    Pisang&#10;                &lt;/text&gt;&#10;                &lt;rect x='248' y='214' width='164' height='1' fill='#EFEAE1' /&gt;&#10;                &lt;circle cx='264' cy='240' r='12' fill='#DED7CB' /&gt;&#10;                &lt;rect x='284' y='233' width='96' height='12' rx='6' fill='#EDE8DF' /&gt;&#10;&#10;                {/* Rabu — hari ini, disorot */}&#10;                &lt;rect x='446' y='0' width='208' height='300' rx='16' fill='#FFFFFF' stroke='#F3B26C' strokeWidth='5' /&gt;&#10;                &lt;rect x='446' y='0' width='208' height='62' rx='16' fill='#51277C' /&gt;&#10;                &lt;rect x='446' y='40' width='208' height='22' fill='#51277C' /&gt;&#10;                &lt;text x='550' y='42' fontFamily='Trebuchet MS' fontSize='24' fontWeight='bold' fill='#FFFFFF' textAnchor='middle'&gt;&#10;                    Rabu&#10;                &lt;/text&gt;&#10;                &lt;rect x='468' y='92' width='164' height='16' rx='8' fill='#51277C' opacity='0.65' /&gt;&#10;                &lt;rect x='468' y='124' width='136' height='14' rx='7' fill='#EDE8DF' /&gt;&#10;                &lt;rect x='468' y='158' width='92' height='28' rx='14' fill='#F3B26C' /&gt;&#10;                &lt;text x='514' y='178' fontFamily='Verdana' fontSize='15' fill='#51277C' textAnchor='middle'&gt;&#10;                    Semangka&#10;                &lt;/text&gt;&#10;                &lt;rect x='468' y='214' width='164' height='1' fill='#EFEAE1' /&gt;&#10;                &lt;circle cx='484' cy='240' r='12' fill='#51277C' opacity='0.25' /&gt;&#10;                &lt;rect x='504' y='233' width='118' height='12' rx='6' fill='#DED7CB' /&gt;&#10;                &lt;circle cx='654' cy='16' r='13' fill='#F3B26C' /&gt;&#10;                &lt;text x='654' y='22' fontFamily='Verdana' fontSize='13' fontWeight='bold' fill='#51277C' textAnchor='middle'&gt;&#10;                    !&#10;                &lt;/text&gt;&#10;&#10;                {/* Kamis */}&#10;                &lt;rect x='666' y='8' width='208' height='284' rx='16' fill='#FFFFFF' stroke='#E6DFD2' strokeWidth='2' /&gt;&#10;                &lt;rect x='666' y='8' width='208' height='58' rx='16' fill='#EFEAE1' /&gt;&#10;                &lt;rect x='666' y='44' width='208' height='22' fill='#EFEAE1' /&gt;&#10;                &lt;text x='770' y='46' fontFamily='Trebuchet MS' fontSize='24' fontWeight='bold' fill='#51277C' textAnchor='middle'&gt;&#10;                    Kamis&#10;                &lt;/text&gt;&#10;                &lt;rect x='688' y='92' width='164' height='16' rx='8' fill='#DED7CB' /&gt;&#10;                &lt;rect x='688' y='124' width='120' height='14' rx='7' fill='#EDE8DF' /&gt;&#10;                &lt;rect x='688' y='158' width='64' height='28' rx='14' fill='#AFC440' /&gt;&#10;                &lt;text x='720' y='178' fontFamily='Verdana' fontSize='15' fill='#3F4718' textAnchor='middle'&gt;&#10;                    Apel&#10;                &lt;/text&gt;&#10;                &lt;rect x='688' y='214' width='164' height='1' fill='#EFEAE1' /&gt;&#10;                &lt;circle cx='704' cy='240' r='12' fill='#DED7CB' /&gt;&#10;                &lt;rect x='724' y='233' width='88' height='12' rx='6' fill='#EDE8DF' /&gt;&#10;&#10;                {/* Jumat */}&#10;                &lt;rect x='886' y='8' width='208' height='284' rx='16' fill='#FFFFFF' stroke='#E6DFD2' strokeWidth='2' /&gt;&#10;                &lt;rect x='886' y='8' width='208' height='58' rx='16' fill='#EFEAE1' /&gt;&#10;                &lt;rect x='886' y='44' width='208' height='22' fill='#EFEAE1' /&gt;&#10;                &lt;text x='990' y='46' fontFamily='Trebuchet MS' fontSize='24' fontWeight='bold' fill='#51277C' textAnchor='middle'&gt;&#10;                    Jumat&#10;                &lt;/text&gt;&#10;                &lt;rect x='908' y='92' width='164' height='16' rx='8' fill='#DED7CB' /&gt;&#10;                &lt;rect x='908' y='124' width='132' height='14' rx='7' fill='#EDE8DF' /&gt;&#10;                &lt;rect x='908' y='158' width='70' height='28' rx='14' fill='#AFC440' /&gt;&#10;                &lt;text x='943' y='178' fontFamily='Verdana' fontSize='15' fill='#3F4718' textAnchor='middle'&gt;&#10;                    Melon&#10;                &lt;/text&gt;&#10;                &lt;rect x='908' y='214' width='164' height='1' fill='#EFEAE1' /&gt;&#10;                &lt;circle cx='924' cy='240' r='12' fill='#DED7CB' /&gt;&#10;                &lt;rect x='944' y='233' width='106' height='12' rx='6' fill='#EDE8DF' /&gt;&#10;            &lt;/svg&gt;&#10;        &lt;/Box&gt;&#10;&#10;        {/* bawah · dua kartu 60:40 */}&#10;        &lt;Box style={{ marginTop: 18, height: 172, flexDirection: 'row', gap: 24 }}&gt;&#10;            &lt;Box&#10;                style={{&#10;                    width: '60%',&#10;                    background: '#FFFFFF',&#10;                    borderRadius: 16,&#10;                    boxShadow: '0 4px 20px rgba(0,0,0,0.08)',&#10;                    padding: 24,&#10;                    borderLeft: '8px solid #F3B26C',&#10;                }}&#10;            &gt;&#10;                &lt;Text&#10;                    style={{&#10;                        fontSize: 26,&#10;                        fontWeight: 'bold',&#10;                        color: '#51277C',&#10;                        fontFamily: 'Trebuchet MS',&#10;                    }}&#10;                &gt;&#10;                    Hari ini &amp;amp; minggu ini&#10;                &lt;/Text&gt;&#10;                &lt;Text&#10;                    style={{&#10;                        marginTop: 10,&#10;                        fontSize: 19,&#10;                        color: '#6B6478',&#10;                        fontFamily: 'Verdana',&#10;                        lineHeight: 1.5,&#10;                    }}&#10;                &gt;&#10;                    Makanan dan buahnya langsung kelihatan, berikut nama anak yang piket hari itu. Hari berjalan ditandai.&#10;                &lt;/Text&gt;&#10;            &lt;/Box&gt;&#10;&#10;            &lt;Box&#10;                style={{&#10;                    width: '40%',&#10;                    background: '#FFFFFF',&#10;                    borderRadius: 16,&#10;                    boxShadow: '0 4px 20px rgba(0,0,0,0.08)',&#10;                    padding: 24,&#10;                    borderLeft: '8px solid #AFC440',&#10;                }}&#10;            &gt;&#10;                &lt;Text&#10;                    style={{&#10;                        fontSize: 26,&#10;                        fontWeight: 'bold',&#10;                        color: '#51277C',&#10;                        fontFamily: 'Trebuchet MS',&#10;                    }}&#10;                &gt;&#10;                    Bulan ini&#10;                &lt;/Text&gt;&#10;                &lt;Text&#10;                    style={{&#10;                        marginTop: 10,&#10;                        fontSize: 19,&#10;                        color: '#6B6478',&#10;                        fontFamily: 'Verdana',&#10;                        lineHeight: 1.5,&#10;                    }}&#10;                &gt;&#10;                    Kalender penuh satu bulan — bisa melihat jadwal jauh hari sebelumnya.&#10;                &lt;/Text&gt;&#10;            &lt;/Box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Orang Tua&#10;        &lt;/Text&gt;&#10;        &lt;Text style={{ fontSize: 14, color: '#6B6478', fontFamily: 'Verdana' }}&gt;10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Lihat jadwal snack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609600" y="1238250"/>
            <a:ext cx="10972800" cy="3238500"/>
          </a:xfrm>
          <a:prstGeom prst="roundRect">
            <a:avLst>
              <a:gd name="adj" fmla="val 5882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428750"/>
            <a:ext cx="10477500" cy="2857500"/>
          </a:xfrm>
          <a:prstGeom prst="rect">
            <a:avLst/>
          </a:prstGeom>
          <a:ln/>
        </p:spPr>
      </p:pic>
      <p:sp>
        <p:nvSpPr>
          <p:cNvPr id="22" name=""/>
          <p:cNvSpPr/>
          <p:nvPr/>
        </p:nvSpPr>
        <p:spPr>
          <a:xfrm rot="0" flipH="0" flipV="0">
            <a:off x="685800" y="4648200"/>
            <a:ext cx="6448425" cy="16383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685800" y="4648200"/>
            <a:ext cx="6448425" cy="1638300"/>
          </a:xfrm>
          <a:custGeom>
            <a:pathLst>
              <a:path w="677" h="17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64"/>
                </a:lnTo>
                <a:cubicBezTo>
                  <a:pt x="8" y="168"/>
                  <a:pt x="11" y="171"/>
                  <a:pt x="14" y="172"/>
                </a:cubicBezTo>
                <a:cubicBezTo>
                  <a:pt x="6" y="171"/>
                  <a:pt x="0" y="164"/>
                  <a:pt x="0" y="15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14400" y="4876800"/>
            <a:ext cx="59150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51277C"/>
                </a:solidFill>
                <a:latin typeface="Trebuchet MS"/>
                <a:ea typeface="Trebuchet MS"/>
              </a:rPr>
              <a:t>Hari ini &amp; minggu ini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14400" y="5276850"/>
            <a:ext cx="591502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425">
                <a:solidFill>
                  <a:srgbClr val="6B6478"/>
                </a:solidFill>
                <a:latin typeface="Verdana"/>
                <a:ea typeface="Verdana"/>
              </a:rPr>
              <a:t>Makanan dan buahnya langsung kelihatan, berikut nama anak yang piket hari itu. Hari berjalan ditandai.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7362825" y="4648200"/>
            <a:ext cx="4295775" cy="16383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7362825" y="4648200"/>
            <a:ext cx="4295775" cy="1638300"/>
          </a:xfrm>
          <a:custGeom>
            <a:pathLst>
              <a:path w="451" h="17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64"/>
                </a:lnTo>
                <a:cubicBezTo>
                  <a:pt x="8" y="168"/>
                  <a:pt x="11" y="171"/>
                  <a:pt x="14" y="172"/>
                </a:cubicBezTo>
                <a:cubicBezTo>
                  <a:pt x="6" y="171"/>
                  <a:pt x="0" y="164"/>
                  <a:pt x="0" y="15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591425" y="4876800"/>
            <a:ext cx="3762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51277C"/>
                </a:solidFill>
                <a:latin typeface="Trebuchet MS"/>
                <a:ea typeface="Trebuchet MS"/>
              </a:rPr>
              <a:t>Bulan ini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591425" y="5276850"/>
            <a:ext cx="37623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425">
                <a:solidFill>
                  <a:srgbClr val="6B6478"/>
                </a:solidFill>
                <a:latin typeface="Verdana"/>
                <a:ea typeface="Verdana"/>
              </a:rPr>
              <a:t>Kalender penuh satu bulan — bisa melihat jadwal jauh hari sebelumnya.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2" name="" descr="&lt;Slide&#10;    style={{&#10;        width: '1280px',&#10;        height: '720px',&#10;        background: '#FAF7F2',&#10;        paddingTop: 20,&#10;        paddingBottom: 20,&#10;        paddingLeft: 64,&#10;        paddingRight: 64,&#10;        position: 'relative',&#10;        overflow: 'hidden',&#10;    }}&#10;&gt;&#10;    {/* sorotan latar Hero */}&#10;    &lt;Box&#10;        style={{&#10;            position: 'absolute',&#10;            top: 120,&#10;            left: -60,&#10;            width: 420,&#10;            height: 420,&#10;            borderRadius: 210,&#10;            background: '#F3B26C',&#10;            opacity: 0.20,&#10;        }}&#10;    /&gt;&#10;&#10;    {/* ── A · blok judul ── */}&#10;    &lt;Box style={{ height: 110, justifyContent: 'center', position: 'relative', zIndex: 1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Ambil tanggal piket&#10;        &lt;/Text&gt;&#10;        &lt;Box style={{ marginTop: 10, width: 72, height: 6, borderRadius: 3, background: '#51277C' }} /&gt;&#10;    &lt;/Box&gt;&#10;&#10;    {/* ── B · area konten ── */}&#10;    &lt;Box style={{ height: 530, flexDirection: 'row', gap: 30, position: 'relative', zIndex: 1 }}&gt;&#10;        {/* kiri · frasa raksasa + penjelasan */}&#10;        &lt;Box style={{ width: '52%', justifyContent: 'center' }}&gt;&#10;            &lt;Text&#10;                style={{&#10;                    fontSize: 72,&#10;                    fontWeight: 'bold',&#10;                    color: '#51277C',&#10;                    fontFamily: 'Trebuchet MS',&#10;                    lineHeight: 1.05,&#10;                }}&#10;            &gt;&#10;                Siapa cepat,{'\n'}dia dapat.&#10;            &lt;/Text&gt;&#10;&#10;            &lt;Box style={{ marginTop: 24, width: 110, height: 7, borderRadius: 4, background: '#F3B26C' }} /&gt;&#10;&#10;            &lt;Text&#10;                style={{&#10;                    marginTop: 22,&#10;                    fontSize: 19,&#10;                    color: '#2A2333',&#10;                    fontFamily: 'Verdana',&#10;                    lineHeight: 1.55,&#10;                }}&#10;            &gt;&#10;                Tanggal yang belum ada petugasnya bisa diambil sendiri. Satu ketuk langsung tercatat.&#10;            &lt;/Text&gt;&#10;&#10;            &lt;Text&#10;                style={{&#10;                    marginTop: 14,&#10;                    fontSize: 19,&#10;                    color: '#6B6478',&#10;                    fontFamily: 'Verdana',&#10;                    lineHeight: 1.55,&#10;                }}&#10;            &gt;&#10;                Kalau keduluan, aplikasi menyebut siapa yang lebih dulu mengambilnya. Jadi tidak ada lagi dua orang merasa sama-sama sudah dapat.&#10;            &lt;/Text&gt;&#10;&#10;            &lt;Box&#10;                style={{&#10;                    marginTop: 22,&#10;                    flexDirection: 'row',&#10;                    alignItems: 'center',&#10;                    gap: 12,&#10;                    alignSelf: 'flex-start',&#10;                    background: '#FFFFFF',&#10;                    borderRadius: 14,&#10;                    boxShadow: '0 4px 20px rgba(0,0,0,0.08)',&#10;                    paddingTop: 12,&#10;                    paddingBottom: 12,&#10;                    paddingLeft: 20,&#10;                    paddingRight: 22,&#10;                }}&#10;            &gt;&#10;                &lt;svg width={22} height={22} viewBox=&quot;0 0 512 512&quot; xmlns=&quot;http://www.w3.org/2000/svg&quot;&gt;&lt;path fill=&quot;#51277C&quot; d=&quot;M48.5 224H40c-13.3 0-24-10.7-24-24V72c0-9.7 5.8-18.5 14.8-22.2s19.3-1.7 26.2 5.2L98.6 96.6c87.6-86.5 228.7-86.2 315.8 1c87.5 87.5 87.5 229.3 0 316.8s-229.3 87.5-316.8 0c-12.5-12.5-12.5-32.8 0-45.3s32.8-12.5 45.3 0c62.5 62.5 163.8 62.5 226.3 0s62.5-163.8 0-226.3c-62.2-62.2-162.7-62.5-225.3-1L185 183c6.9 6.9 8.9 17.2 5.2 26.2s-12.5 14.8-22.2 14.8H48.5z&quot; /&gt;&lt;/svg&gt;&#10;                &lt;Text style={{ fontSize: 18, color: '#2A2333', fontFamily: 'Verdana' }}&gt;&#10;                    Masih bisa dibatalkan sendiri&#10;                &lt;/Text&gt;&#10;            &lt;/Box&gt;&#10;        &lt;/Box&gt;&#10;&#10;        {/* kanan · kartu tanggal */}&#10;        &lt;Box&#10;            style={{&#10;                width: '48%',&#10;                justifyContent: 'center',&#10;                alignItems: 'center',&#10;            }}&#10;        &gt;&#10;            &lt;svg width={480} height={420} viewBox='0 0 480 420'&gt;&#10;                {/* kartu tersedia */}&#10;                &lt;rect x='8' y='8' width='464' height='236' rx='20' fill='#FFFFFF' stroke='#E6DFD2' strokeWidth='3' /&gt;&#10;                &lt;path d='M8 88 h464 v-32 a20 20 0 0 0 -20 -20 h-424 a20 20 0 0 0 -20 20 z' fill='#51277C' /&gt;&#10;                &lt;rect x='8' y='56' width='464' height='32' fill='#51277C' /&gt;&#10;                &lt;text x='36' y='62' fontFamily='Trebuchet MS' fontSize='23' fontWeight='bold' fill='#FFFFFF'&gt;&#10;                    Selasa, 1 September&#10;                &lt;/text&gt;&#10;                &lt;text x='36' y='158' fontFamily='Trebuchet MS' fontSize='64' fontWeight='bold' fill='#51277C'&gt;&#10;                    1&#10;                &lt;/text&gt;&#10;                &lt;text x='36' y='192' fontFamily='Verdana' fontSize='17' fill='#6B6478'&gt;&#10;                    Belum ada petugas&#10;                &lt;/text&gt;&#10;                &lt;rect x='272' y='132' width='176' height='62' rx='18' fill='#F3B26C' /&gt;&#10;                &lt;text x='360' y='172' fontFamily='Trebuchet MS' fontSize='26' fontWeight='bold' fill='#51277C' textAnchor='middle'&gt;&#10;                    Ambil&#10;                &lt;/text&gt;&#10;&#10;                {/* kartu sudah diambil */}&#10;                &lt;rect x='8' y='268' width='464' height='144' rx='20' fill='#FFFFFF' stroke='#AFC440' strokeWidth='4' /&gt;&#10;                &lt;circle cx='60' cy='340' r='30' fill='#AFC440' /&gt;&#10;                &lt;path&#10;                    d='M46 340 l10 11 l19 -22'&#10;                    fill='none'&#10;                    stroke='#FFFFFF'&#10;                    strokeWidth='7'&#10;                    strokeLinecap='round'&#10;                    strokeLinejoin='round'&#10;                /&gt;&#10;                &lt;text x='108' y='334' fontFamily='Trebuchet MS' fontSize='23' fontWeight='bold' fill='#2A2333'&gt;&#10;                    Diambil Bu Sari&#10;                &lt;/text&gt;&#10;                &lt;text x='108' y='364' fontFamily='Verdana' fontSize='17' fill='#6B6478'&gt;&#10;                    Tanggal ini sudah punya petugas&#10;                &lt;/text&gt;&#10;            &lt;/svg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    position: 'relative',&#10;            zIndex: 1,&#10;        }}&#10;    &gt;&#10;        &lt;Text style={{ fontSize: 14, color: '#6B6478', fontFamily: 'Verdana' }}&gt;&#10;            Pizza Snack Play · Panduan Orang Tua&#10;        &lt;/Text&gt;&#10;        &lt;Text style={{ fontSize: 14, color: '#6B6478', fontFamily: 'Verdana' }}&gt;11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-571500" y="1143000"/>
            <a:ext cx="4000500" cy="4000500"/>
          </a:xfrm>
          <a:custGeom>
            <a:pathLst>
              <a:path w="420" h="420">
                <a:moveTo>
                  <a:pt x="215" y="0"/>
                </a:moveTo>
                <a:lnTo>
                  <a:pt x="221" y="0"/>
                </a:lnTo>
                <a:lnTo>
                  <a:pt x="226" y="1"/>
                </a:lnTo>
                <a:lnTo>
                  <a:pt x="231" y="1"/>
                </a:lnTo>
                <a:lnTo>
                  <a:pt x="237" y="2"/>
                </a:lnTo>
                <a:lnTo>
                  <a:pt x="242" y="2"/>
                </a:lnTo>
                <a:lnTo>
                  <a:pt x="247" y="3"/>
                </a:lnTo>
                <a:lnTo>
                  <a:pt x="252" y="4"/>
                </a:lnTo>
                <a:lnTo>
                  <a:pt x="257" y="5"/>
                </a:lnTo>
                <a:lnTo>
                  <a:pt x="262" y="7"/>
                </a:lnTo>
                <a:lnTo>
                  <a:pt x="267" y="8"/>
                </a:lnTo>
                <a:lnTo>
                  <a:pt x="272" y="9"/>
                </a:lnTo>
                <a:lnTo>
                  <a:pt x="277" y="11"/>
                </a:lnTo>
                <a:lnTo>
                  <a:pt x="282" y="13"/>
                </a:lnTo>
                <a:lnTo>
                  <a:pt x="287" y="15"/>
                </a:lnTo>
                <a:lnTo>
                  <a:pt x="292" y="17"/>
                </a:lnTo>
                <a:lnTo>
                  <a:pt x="296" y="19"/>
                </a:lnTo>
                <a:lnTo>
                  <a:pt x="301" y="21"/>
                </a:lnTo>
                <a:lnTo>
                  <a:pt x="306" y="23"/>
                </a:lnTo>
                <a:lnTo>
                  <a:pt x="310" y="25"/>
                </a:lnTo>
                <a:lnTo>
                  <a:pt x="314" y="28"/>
                </a:lnTo>
                <a:lnTo>
                  <a:pt x="319" y="30"/>
                </a:lnTo>
                <a:lnTo>
                  <a:pt x="323" y="33"/>
                </a:lnTo>
                <a:lnTo>
                  <a:pt x="327" y="36"/>
                </a:lnTo>
                <a:lnTo>
                  <a:pt x="332" y="39"/>
                </a:lnTo>
                <a:lnTo>
                  <a:pt x="336" y="42"/>
                </a:ln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2" y="65"/>
                </a:lnTo>
                <a:lnTo>
                  <a:pt x="365" y="69"/>
                </a:lnTo>
                <a:lnTo>
                  <a:pt x="369" y="73"/>
                </a:lnTo>
                <a:lnTo>
                  <a:pt x="372" y="76"/>
                </a:lnTo>
                <a:lnTo>
                  <a:pt x="375" y="80"/>
                </a:lnTo>
                <a:lnTo>
                  <a:pt x="378" y="84"/>
                </a:lnTo>
                <a:lnTo>
                  <a:pt x="381" y="88"/>
                </a:lnTo>
                <a:lnTo>
                  <a:pt x="384" y="93"/>
                </a:lnTo>
                <a:lnTo>
                  <a:pt x="387" y="97"/>
                </a:lnTo>
                <a:lnTo>
                  <a:pt x="390" y="101"/>
                </a:lnTo>
                <a:lnTo>
                  <a:pt x="392" y="106"/>
                </a:lnTo>
                <a:lnTo>
                  <a:pt x="395" y="110"/>
                </a:lnTo>
                <a:lnTo>
                  <a:pt x="397" y="114"/>
                </a:lnTo>
                <a:lnTo>
                  <a:pt x="399" y="119"/>
                </a:lnTo>
                <a:lnTo>
                  <a:pt x="401" y="124"/>
                </a:lnTo>
                <a:lnTo>
                  <a:pt x="403" y="128"/>
                </a:lnTo>
                <a:lnTo>
                  <a:pt x="405" y="133"/>
                </a:lnTo>
                <a:lnTo>
                  <a:pt x="407" y="138"/>
                </a:lnTo>
                <a:lnTo>
                  <a:pt x="409" y="143"/>
                </a:lnTo>
                <a:lnTo>
                  <a:pt x="411" y="148"/>
                </a:lnTo>
                <a:lnTo>
                  <a:pt x="412" y="153"/>
                </a:lnTo>
                <a:lnTo>
                  <a:pt x="413" y="158"/>
                </a:lnTo>
                <a:lnTo>
                  <a:pt x="415" y="163"/>
                </a:lnTo>
                <a:lnTo>
                  <a:pt x="416" y="168"/>
                </a:lnTo>
                <a:lnTo>
                  <a:pt x="417" y="173"/>
                </a:lnTo>
                <a:lnTo>
                  <a:pt x="418" y="178"/>
                </a:lnTo>
                <a:lnTo>
                  <a:pt x="418" y="183"/>
                </a:lnTo>
                <a:lnTo>
                  <a:pt x="419" y="189"/>
                </a:lnTo>
                <a:lnTo>
                  <a:pt x="419" y="194"/>
                </a:lnTo>
                <a:lnTo>
                  <a:pt x="420" y="199"/>
                </a:lnTo>
                <a:lnTo>
                  <a:pt x="420" y="205"/>
                </a:lnTo>
                <a:lnTo>
                  <a:pt x="420" y="210"/>
                </a:lnTo>
                <a:lnTo>
                  <a:pt x="420" y="215"/>
                </a:lnTo>
                <a:lnTo>
                  <a:pt x="420" y="221"/>
                </a:lnTo>
                <a:lnTo>
                  <a:pt x="419" y="226"/>
                </a:lnTo>
                <a:lnTo>
                  <a:pt x="419" y="231"/>
                </a:lnTo>
                <a:lnTo>
                  <a:pt x="418" y="237"/>
                </a:lnTo>
                <a:lnTo>
                  <a:pt x="418" y="242"/>
                </a:lnTo>
                <a:lnTo>
                  <a:pt x="417" y="247"/>
                </a:lnTo>
                <a:lnTo>
                  <a:pt x="416" y="252"/>
                </a:lnTo>
                <a:lnTo>
                  <a:pt x="415" y="257"/>
                </a:lnTo>
                <a:lnTo>
                  <a:pt x="413" y="262"/>
                </a:lnTo>
                <a:lnTo>
                  <a:pt x="412" y="267"/>
                </a:lnTo>
                <a:lnTo>
                  <a:pt x="411" y="272"/>
                </a:lnTo>
                <a:lnTo>
                  <a:pt x="409" y="277"/>
                </a:lnTo>
                <a:lnTo>
                  <a:pt x="407" y="282"/>
                </a:lnTo>
                <a:lnTo>
                  <a:pt x="405" y="287"/>
                </a:lnTo>
                <a:lnTo>
                  <a:pt x="403" y="292"/>
                </a:lnTo>
                <a:lnTo>
                  <a:pt x="401" y="296"/>
                </a:lnTo>
                <a:lnTo>
                  <a:pt x="399" y="301"/>
                </a:lnTo>
                <a:lnTo>
                  <a:pt x="397" y="306"/>
                </a:lnTo>
                <a:lnTo>
                  <a:pt x="395" y="310"/>
                </a:lnTo>
                <a:lnTo>
                  <a:pt x="392" y="314"/>
                </a:lnTo>
                <a:lnTo>
                  <a:pt x="390" y="319"/>
                </a:lnTo>
                <a:lnTo>
                  <a:pt x="387" y="323"/>
                </a:lnTo>
                <a:lnTo>
                  <a:pt x="384" y="327"/>
                </a:lnTo>
                <a:lnTo>
                  <a:pt x="381" y="332"/>
                </a:lnTo>
                <a:lnTo>
                  <a:pt x="378" y="336"/>
                </a:lnTo>
                <a:lnTo>
                  <a:pt x="375" y="340"/>
                </a:lnTo>
                <a:lnTo>
                  <a:pt x="372" y="344"/>
                </a:lnTo>
                <a:lnTo>
                  <a:pt x="369" y="347"/>
                </a:lnTo>
                <a:lnTo>
                  <a:pt x="365" y="351"/>
                </a:lnTo>
                <a:lnTo>
                  <a:pt x="362" y="355"/>
                </a:lnTo>
                <a:lnTo>
                  <a:pt x="358" y="358"/>
                </a:lnTo>
                <a:lnTo>
                  <a:pt x="355" y="362"/>
                </a:lnTo>
                <a:lnTo>
                  <a:pt x="351" y="365"/>
                </a:lnTo>
                <a:lnTo>
                  <a:pt x="347" y="369"/>
                </a:lnTo>
                <a:lnTo>
                  <a:pt x="344" y="372"/>
                </a:lnTo>
                <a:lnTo>
                  <a:pt x="340" y="375"/>
                </a:lnTo>
                <a:lnTo>
                  <a:pt x="336" y="378"/>
                </a:lnTo>
                <a:lnTo>
                  <a:pt x="332" y="381"/>
                </a:lnTo>
                <a:lnTo>
                  <a:pt x="327" y="384"/>
                </a:lnTo>
                <a:lnTo>
                  <a:pt x="323" y="387"/>
                </a:lnTo>
                <a:lnTo>
                  <a:pt x="319" y="390"/>
                </a:lnTo>
                <a:lnTo>
                  <a:pt x="314" y="392"/>
                </a:lnTo>
                <a:lnTo>
                  <a:pt x="310" y="395"/>
                </a:ln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60" y="357"/>
                </a:lnTo>
                <a:lnTo>
                  <a:pt x="60" y="63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8" y="39"/>
                </a:lnTo>
                <a:lnTo>
                  <a:pt x="93" y="36"/>
                </a:lnTo>
                <a:lnTo>
                  <a:pt x="97" y="33"/>
                </a:lnTo>
                <a:lnTo>
                  <a:pt x="101" y="30"/>
                </a:lnTo>
                <a:lnTo>
                  <a:pt x="106" y="28"/>
                </a:lnTo>
                <a:lnTo>
                  <a:pt x="110" y="25"/>
                </a:lnTo>
                <a:lnTo>
                  <a:pt x="114" y="23"/>
                </a:lnTo>
                <a:lnTo>
                  <a:pt x="119" y="21"/>
                </a:lnTo>
                <a:lnTo>
                  <a:pt x="124" y="19"/>
                </a:lnTo>
                <a:lnTo>
                  <a:pt x="128" y="17"/>
                </a:lnTo>
                <a:lnTo>
                  <a:pt x="133" y="15"/>
                </a:lnTo>
                <a:lnTo>
                  <a:pt x="138" y="13"/>
                </a:lnTo>
                <a:lnTo>
                  <a:pt x="143" y="11"/>
                </a:lnTo>
                <a:lnTo>
                  <a:pt x="148" y="9"/>
                </a:lnTo>
                <a:lnTo>
                  <a:pt x="153" y="8"/>
                </a:lnTo>
                <a:lnTo>
                  <a:pt x="158" y="7"/>
                </a:lnTo>
                <a:lnTo>
                  <a:pt x="163" y="5"/>
                </a:lnTo>
                <a:lnTo>
                  <a:pt x="168" y="4"/>
                </a:lnTo>
                <a:lnTo>
                  <a:pt x="173" y="3"/>
                </a:lnTo>
                <a:lnTo>
                  <a:pt x="178" y="2"/>
                </a:lnTo>
                <a:lnTo>
                  <a:pt x="183" y="2"/>
                </a:lnTo>
                <a:lnTo>
                  <a:pt x="189" y="1"/>
                </a:lnTo>
                <a:lnTo>
                  <a:pt x="194" y="1"/>
                </a:lnTo>
                <a:lnTo>
                  <a:pt x="199" y="0"/>
                </a:lnTo>
                <a:lnTo>
                  <a:pt x="205" y="0"/>
                </a:lnTo>
                <a:lnTo>
                  <a:pt x="210" y="0"/>
                </a:lnTo>
                <a:close/>
              </a:path>
            </a:pathLst>
          </a:custGeom>
          <a:solidFill>
            <a:srgbClr val="F3B26C">
              <a:alpha val="20000"/>
            </a:srgbClr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Ambil tanggal piket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09600" y="1409700"/>
            <a:ext cx="5553075" cy="17335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400" b="1">
                <a:solidFill>
                  <a:srgbClr val="51277C"/>
                </a:solidFill>
                <a:latin typeface="Trebuchet MS"/>
                <a:ea typeface="Trebuchet MS"/>
              </a:rPr>
              <a:t>Siapa cepat,</a:t>
            </a:r>
            <a:endParaRPr/>
          </a:p>
          <a:p>
            <a:pPr>
              <a:lnSpc>
                <a:spcPct val="105000"/>
              </a:lnSpc>
            </a:pPr>
            <a:r>
              <a:rPr lang="en-US" sz="5400" b="1">
                <a:solidFill>
                  <a:srgbClr val="51277C"/>
                </a:solidFill>
                <a:latin typeface="Trebuchet MS"/>
                <a:ea typeface="Trebuchet MS"/>
              </a:rPr>
              <a:t>dia dapat.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09600" y="3371850"/>
            <a:ext cx="1047750" cy="66675"/>
          </a:xfrm>
          <a:prstGeom prst="roundRect">
            <a:avLst>
              <a:gd name="adj" fmla="val 57143"/>
            </a:avLst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3648075"/>
            <a:ext cx="55530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425">
                <a:solidFill>
                  <a:srgbClr val="2A2333"/>
                </a:solidFill>
                <a:latin typeface="Verdana"/>
                <a:ea typeface="Verdana"/>
              </a:rPr>
              <a:t>Tanggal yang belum ada petugasnya bisa diambil sendiri. Satu ketuk langsung tercatat.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09600" y="4457700"/>
            <a:ext cx="5553075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425">
                <a:solidFill>
                  <a:srgbClr val="6B6478"/>
                </a:solidFill>
                <a:latin typeface="Verdana"/>
                <a:ea typeface="Verdana"/>
              </a:rPr>
              <a:t>Kalau keduluan, aplikasi menyebut siapa yang lebih dulu mengambilnya. Jadi tidak ada lagi dua orang merasa sama-sama sudah dapat.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09600" y="5686425"/>
            <a:ext cx="3219450" cy="43815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5800725"/>
            <a:ext cx="209550" cy="209550"/>
          </a:xfrm>
          <a:prstGeom prst="rect">
            <a:avLst/>
          </a:prstGeom>
          <a:ln/>
        </p:spPr>
      </p:pic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23950" y="5800725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2333"/>
                </a:solidFill>
                <a:latin typeface="Verdana"/>
                <a:ea typeface="Verdana"/>
              </a:rPr>
              <a:t>Masih bisa dibatalkan sendiri</a:t>
            </a:r>
            <a:endParaRPr/>
          </a:p>
        </p:txBody>
      </p:sp>
      <p:pic>
        <p:nvPicPr>
          <p:cNvPr id="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34175" y="1762125"/>
            <a:ext cx="4572000" cy="4000500"/>
          </a:xfrm>
          <a:prstGeom prst="rect">
            <a:avLst/>
          </a:prstGeom>
          <a:ln/>
        </p:spPr>
      </p:pic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7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Kabar otomatis lewat WhatsApp&#10;        &lt;/Text&gt;&#10;        &lt;Box style={{ marginTop: 10, width: 72, height: 6, borderRadius: 3, background: '#F3B26C' }} /&gt;&#10;    &lt;/Box&gt;&#10;&#10;    {/* ── B · area konten ── */}&#10;    &lt;Box style={{ height: 530, flexDirection: 'row', gap: 30 }}&gt;&#10;        {/* kiri 55% · ilustrasi percakapan WhatsApp */}&#10;        &lt;Box style={{ width: '55%', height: '100%', justifyContent: 'center', alignItems: 'center' }}&gt;&#10;            &lt;svg width={560} height={500} viewBox='0 0 560 500' xmlns='http://www.w3.org/2000/svg'&gt;&#10;                {/* badan ponsel */}&#10;                &lt;rect x='90' y='6' width='380' height='488' rx='30' fill='#FFFFFF' stroke='#E6DFD2' strokeWidth='3' /&gt;&#10;                {/* kepala percakapan */}&#10;                &lt;path d='M90 36 a30 30 0 0 1 30 -30 h320 a30 30 0 0 1 30 30 v58 h-380 z' fill='#51277C' /&gt;&#10;                &lt;text x='124' y='56' fontFamily='Trebuchet MS' fontSize='19' fontWeight='bold' fill='#FFFFFF'&gt;&#10;                    Pizza Snack Play&#10;                &lt;/text&gt;&#10;                &lt;text x='124' y='80' fontFamily='Verdana' fontSize='13' fill='rgba(255,255,255,0.82)'&gt;&#10;                    Kabar untuk wali murid&#10;                &lt;/text&gt;&#10;&#10;                {/* gelembung 1 · konfirmasi */}&#10;                &lt;rect x='112' y='108' width='336' height='112' rx='16' fill='#FFFFFF' stroke='#E6DFD2' strokeWidth='2' /&gt;&#10;                &lt;text x='134' y='140' fontFamily='Verdana' fontSize='14' fill='#6B6478'&gt;&#10;                    Konfirmasi&#10;                &lt;/text&gt;&#10;                &lt;text x='134' y='168' fontFamily='Verdana' fontSize='15' fill='#2A2333'&gt;&#10;                    Tanggal Selasa, 1 September&#10;                &lt;/text&gt;&#10;                &lt;text x='134' y='192' fontFamily='Verdana' fontSize='15' fill='#2A2333'&gt;&#10;                    sudah tercatat untuk Ani.&#10;                &lt;/text&gt;&#10;&#10;                {/* gelembung 2 · pengingat */}&#10;                &lt;rect x='112' y='240' width='336' height='136' rx='16' fill='#EEF3D4' stroke='#AFC440' strokeWidth='2' /&gt;&#10;                &lt;text x='134' y='272' fontFamily='Verdana' fontSize='14' fill='#5E6B1E'&gt;&#10;                    Pengingat piket&#10;                &lt;/text&gt;&#10;                &lt;text x='134' y='300' fontFamily='Verdana' fontSize='15' fill='#2A2333'&gt;&#10;                    Ani bertugas membawa snack&#10;                &lt;/text&gt;&#10;                &lt;text x='134' y='324' fontFamily='Verdana' fontSize='15' fill='#2A2333'&gt;&#10;                    pada Selasa, 1 September&#10;                &lt;/text&gt;&#10;                &lt;text x='134' y='348' fontFamily='Verdana' fontSize='15' fill='#2A2333'&gt;&#10;                    2026 (Roti Abon + Susu).&#10;                &lt;/text&gt;&#10;&#10;                {/* keterangan */}&#10;                &lt;text x='112' y='404' fontFamily='Verdana' fontSize='13' fill='#6B6478'&gt;&#10;                    Dikirim otomatis · tidak perlu dibalas&#10;                &lt;/text&gt;&#10;&#10;                {/* ikon centang */}&#10;                &lt;circle cx='390' cy='452' r='24' fill='#AFC440' /&gt;&#10;                &lt;path&#10;                    d='M378 452 l9 10 l17 -20'&#10;                    fill='none'&#10;                    stroke='#FFFFFF'&#10;                    strokeWidth='6'&#10;                    strokeLinecap='round'&#10;                    strokeLinejoin='round'&#10;                /&gt;&#10;            &lt;/svg&gt;&#10;        &lt;/Box&gt;&#10;&#10;        {/* kanan 45% · tiga hal yang perlu diketahui */}&#10;        &lt;Box style={{ width: '45%', height: '100%', justifyContent: 'center' }}&gt;&#10;            {[&#10;                {&#10;                    t: 'Begitu tanggal diambil',&#10;                    d: 'Konfirmasi langsung masuk ke WhatsApp wali. Tidak perlu mencatat ulang atau bertanya ke korlas.',&#10;                },&#10;                {&#10;                    t: 'Sehari sebelum piket',&#10;                    d: 'Sekolah mengirim pengingat: nama anak, tanggalnya, dan menu yang perlu dibawa.',&#10;                },&#10;                {&#10;                    t: 'Pastikan nomor Anda terisi',&#10;                    d: 'Kabar dikirim ke nomor di halaman Profil. Kalau belum ada, isi di sana — bisa diubah sendiri.',&#10;                },&#10;            ].map((it, i) =&gt; (&#10;                &lt;Box key={i} style={{ marginBottom: i &lt; 2 ? 22 : 0 }}&gt;&#10;                    &lt;Box style={{ flexDirection: 'row', alignItems: 'center', gap: 10 }}&gt;&#10;                        &lt;Box style={{ width: 10, height: 10, borderRadius: 5, background: '#F3B26C' }} /&gt;&#10;                        &lt;Text&#10;                            style={{&#10;                                fontSize: 21,&#10;                                fontWeight: 'bold',&#10;                                color: '#51277C',&#10;                                fontFamily: 'Trebuchet MS',&#10;                                lineHeight: 1.3,&#10;                            }}&#10;                        &gt;&#10;                            {it.t}&#10;                        &lt;/Text&gt;&#10;                    &lt;/Box&gt;&#10;                    &lt;Text&#10;                        style={{&#10;                            marginTop: 7,&#10;                            marginLeft: 20,&#10;                            fontSize: 17,&#10;                            color: '#2A2333',&#10;                            fontFamily: 'Verdana',&#10;                            lineHeight: 1.55,&#10;                        }}&#10;                    &gt;&#10;                        {it.d}&#10;                    &lt;/Text&gt;&#10;                &lt;/Box&gt;&#10;            ))}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Orang Tua&#10;        &lt;/Text&gt;&#10;        &lt;Text style={{ fontSize: 14, color: '#6B6478', fontFamily: 'Verdana' }}&gt;12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Kabar otomatis lewat WhatsApp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3B26C"/>
          </a:solidFill>
          <a:ln/>
        </p:spPr>
        <p:txBody>
          <a:bodyPr/>
          <a:p/>
        </p:txBody>
      </p:sp>
      <p:pic>
        <p:nvPicPr>
          <p:cNvPr id="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85825" y="1381125"/>
            <a:ext cx="5334000" cy="4762500"/>
          </a:xfrm>
          <a:prstGeom prst="rect">
            <a:avLst/>
          </a:prstGeom>
          <a:ln/>
        </p:spPr>
      </p:pic>
      <p:sp>
        <p:nvSpPr>
          <p:cNvPr id="52" name=""/>
          <p:cNvSpPr/>
          <p:nvPr/>
        </p:nvSpPr>
        <p:spPr>
          <a:xfrm rot="0" flipH="0" flipV="0">
            <a:off x="6772275" y="21812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962775" y="2066925"/>
            <a:ext cx="207645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75" b="1">
                <a:solidFill>
                  <a:srgbClr val="51277C"/>
                </a:solidFill>
                <a:latin typeface="Trebuchet MS"/>
                <a:ea typeface="Trebuchet MS"/>
              </a:rPr>
              <a:t>Begitu tanggal diambil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962775" y="2447925"/>
            <a:ext cx="46196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2A2333"/>
                </a:solidFill>
                <a:latin typeface="Verdana"/>
                <a:ea typeface="Verdana"/>
              </a:rPr>
              <a:t>Konfirmasi langsung masuk ke WhatsApp wali. Tidak perlu mencatat ulang atau bertanya ke korlas.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772275" y="33813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962775" y="3267075"/>
            <a:ext cx="1971675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75" b="1">
                <a:solidFill>
                  <a:srgbClr val="51277C"/>
                </a:solidFill>
                <a:latin typeface="Trebuchet MS"/>
                <a:ea typeface="Trebuchet MS"/>
              </a:rPr>
              <a:t>Sehari sebelum piket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962775" y="3648075"/>
            <a:ext cx="46196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2A2333"/>
                </a:solidFill>
                <a:latin typeface="Verdana"/>
                <a:ea typeface="Verdana"/>
              </a:rPr>
              <a:t>Sekolah mengirim pengingat: nama anak, tanggalnya, dan menu yang perlu dibawa.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772275" y="45815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962775" y="4467225"/>
            <a:ext cx="2505075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575" b="1">
                <a:solidFill>
                  <a:srgbClr val="51277C"/>
                </a:solidFill>
                <a:latin typeface="Trebuchet MS"/>
                <a:ea typeface="Trebuchet MS"/>
              </a:rPr>
              <a:t>Pastikan nomor Anda terisi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962775" y="4848225"/>
            <a:ext cx="46196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2A2333"/>
                </a:solidFill>
                <a:latin typeface="Verdana"/>
                <a:ea typeface="Verdana"/>
              </a:rPr>
              <a:t>Kabar dikirim ke nomor di halaman Profil. Kalau belum ada, isi di sana — bisa diubah sendiri.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12 / 16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3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Cari menu&#10;        &lt;/Text&gt;&#10;        &lt;Box style={{ marginTop: 10, width: 72, height: 6, borderRadius: 3, background: '#51277C' }} /&gt;&#10;    &lt;/Box&gt;&#10;&#10;    {/* ── B · area konten ── */}&#10;    &lt;Box style={{ height: 530, flexDirection: 'row', gap: 28 }}&gt;&#10;        {/* kiri 30% · panel ungu */}&#10;        &lt;Box&#10;            style={{&#10;                width: '30%',&#10;                height: '100%',&#10;                background: 'linear-gradient(135deg, #51277C 0%, #7A45A8 100%)',&#10;                borderRadius: 20,&#10;                padding: 26,&#10;                justifyContent: 'space-between',&#10;                alignItems: 'center',&#10;            }}&#10;        &gt;&#10;            &lt;Box style={{ alignItems: 'center' }}&gt;&#10;                &lt;Text style={{ fontSize: 16, color: 'rgba(255,255,255,0.75)', fontFamily: 'Verdana' }}&gt;&#10;                    Fitur pendukung&#10;                &lt;/Text&gt;&#10;                &lt;Text&#10;                    style={{&#10;                        marginTop: 8,&#10;                        fontSize: 40,&#10;                        fontWeight: 'bold',&#10;                        color: '#FFFFFF',&#10;                        fontFamily: 'Trebuchet MS',&#10;                    }}&#10;                &gt;&#10;                    Cari&#10;                &lt;/Text&gt;&#10;            &lt;/Box&gt;&#10;&#10;            &lt;svg width={190} height={190} viewBox='0 0 190 190'&gt;&#10;                &lt;circle cx='82' cy='82' r='54' fill='none' stroke='#FFFFFF' strokeWidth='12' /&gt;&#10;                &lt;path d='M122 122 l44 44' stroke='#F3B26C' strokeWidth='14' strokeLinecap='round' /&gt;&#10;                &lt;circle cx='82' cy='82' r='34' fill='#AFC440' opacity='0.35' /&gt;&#10;                &lt;circle cx='70' cy='72' r='7' fill='#FFFFFF' /&gt;&#10;                &lt;circle cx='94' cy='88' r='7' fill='#FFFFFF' /&gt;&#10;                &lt;circle cx='76' cy='98' r='7' fill='#FFFFFF' /&gt;&#10;            &lt;/svg&gt;&#10;&#10;            &lt;Text&#10;                style={{&#10;                    fontSize: 17,&#10;                    color: 'rgba(255,255,255,0.9)',&#10;                    fontFamily: 'Verdana',&#10;                    lineHeight: 1.5,&#10;                    textAlign: 'center',&#10;                }}&#10;            &gt;&#10;                Dipakai kalau ingin tahu riwayat menu.&#10;            &lt;/Text&gt;&#10;        &lt;/Box&gt;&#10;&#10;        {/* kanan 70% · tiga keterangan */}&#10;        &lt;Box style={{ width: '70%', height: '100%', justifyContent: 'space-between' }}&gt;&#10;            &lt;Box&#10;                style={{&#10;                    height: 166,&#10;                    flexDirection: 'row',&#10;                    alignItems: 'center',&#10;                    gap: 20,&#10;                    background: '#FFFFFF',&#10;                    borderRadius: 16,&#10;                    boxShadow: '0 4px 20px rgba(0,0,0,0.08)',&#10;                    paddingLeft: 24,&#10;                    paddingRight: 26,&#10;                    borderLeft: '8px solid #AFC440',&#10;                }}&#10;            &gt;&#10;                &lt;Box&#10;                    style={{&#10;                        width: 54,&#10;                        height: 54,&#10;                        borderRadius: 27,&#10;                        background: 'rgba(81,39,124,0.10)',&#10;                        justifyContent: 'center',&#10;                        alignItems: 'center',&#10;                    }}&#10;                &gt;&#10;                    &lt;svg width={28} height={28} viewBox=&quot;0 0 512 512&quot; xmlns=&quot;http://www.w3.org/2000/svg&quot;&gt;&lt;path fill=&quot;#51277C&quot; d=&quot;M416 208c0 45.9-14.9 88.3-40 122.7L502.6 457.4c12.5 12.5 12.5 32.8 0 45.3s-32.8 12.5-45.3 0L330.7 376c-34.4 25.2-76.8 40-122.7 40C93.1 416 0 322.9 0 208S93.1 0 208 0S416 93.1 416 208zM208 352a144 144 0 1 0 0-288 144 144 0 1 0 0 288z&quot; /&gt;&lt;/svg&gt;&#10;                &lt;/Box&gt;&#10;                &lt;Box style={{ flex: 1 }}&gt;&#10;                    &lt;Text&#10;                        style={{&#10;                            fontSize: 24,&#10;                            fontWeight: 'bold',&#10;                            color: '#2A2333',&#10;                            fontFamily: 'Trebuchet MS',&#10;                            lineHeight: 1.3,&#10;                        }}&#10;                    &gt;&#10;                        Ketik nama makanan atau buah&#10;                    &lt;/Text&gt;&#10;                    &lt;Text&#10;                        style={{&#10;                            marginTop: 6,&#10;                            fontSize: 18,&#10;                            color: '#6B6478',&#10;                            fontFamily: 'Verdana',&#10;                            lineHeight: 1.45,&#10;                        }}&#10;                    &gt;&#10;                        Misalnya &quot;jeruk&quot; atau &quot;roti&quot;. Aplikasi langsung menemukannya.&#10;                    &lt;/Text&gt;&#10;                &lt;/Box&gt;&#10;            &lt;/Box&gt;&#10;&#10;            &lt;Box&#10;                style={{&#10;                    height: 166,&#10;                    flexDirection: 'row',&#10;                    alignItems: 'center',&#10;                    gap: 20,&#10;                    background: '#FFFFFF',&#10;                    borderRadius: 16,&#10;                    boxShadow: '0 4px 20px rgba(0,0,0,0.08)',&#10;                    paddingLeft: 24,&#10;                    paddingRight: 26,&#10;                    borderLeft: '8px solid #AFC440',&#10;                }}&#10;            &gt;&#10;                &lt;Box&#10;                    style={{&#10;                        width: 54,&#10;                        height: 54,&#10;                        borderRadius: 27,&#10;                        background: 'rgba(81,39,124,0.10)',&#10;                        justifyContent: 'center',&#10;                        alignItems: 'center',&#10;                    }}&#10;                &gt;&#10;                    &lt;svg width={28} height={28} viewBox=&quot;0 0 448 512&quot; xmlns=&quot;http://www.w3.org/2000/svg&quot;&gt;&lt;path fill=&quot;#51277C&quot; d=&quot;M96 32V64H48C21.5 64 0 85.5 0 112v48H448V112c0-26.5-21.5-48-48-48H352V32c0-17.7-14.3-32-32-32s-32 14.3-32 32V64H160V32c0-17.7-14.3-32-32-32S96 14.3 96 32zM448 192H0V464c0 26.5 21.5 48 48 48H400c26.5 0 48-21.5 48-48V192z&quot; /&gt;&lt;/svg&gt;&#10;                &lt;/Box&gt;&#10;                &lt;Box style={{ flex: 1 }}&gt;&#10;                    &lt;Text&#10;                        style={{&#10;                            fontSize: 24,&#10;                            fontWeight: 'bold',&#10;                            color: '#2A2333',&#10;                            fontFamily: 'Trebuchet MS',&#10;                            lineHeight: 1.3,&#10;                        }}&#10;                    &gt;&#10;                        Tahu kapan terakhir disajikan&#10;                    &lt;/Text&gt;&#10;                    &lt;Text&#10;                        style={{&#10;                            marginTop: 6,&#10;                            fontSize: 18,&#10;                            color: '#6B6478',&#10;                            fontFamily: 'Verdana',&#10;                            lineHeight: 1.45,&#10;                        }}&#10;                    &gt;&#10;                        Hasilnya berupa daftar tanggal, jadi rotasi menunya kelihatan.&#10;                    &lt;/Text&gt;&#10;                &lt;/Box&gt;&#10;            &lt;/Box&gt;&#10;&#10;            &lt;Box&#10;                style={{&#10;                    height: 166,&#10;                    background: '#FFFFFF',&#10;                    borderRadius: 16,&#10;                    boxShadow: '0 4px 20px rgba(0,0,0,0.08)',&#10;                    padding: 22,&#10;                    borderLeft: '8px solid #F3B26C',&#10;                }}&#10;            &gt;&#10;                &lt;Text&#10;                    style={{&#10;                        fontSize: 24,&#10;                        fontWeight: 'bold',&#10;                        color: '#2A2333',&#10;                        fontFamily: 'Trebuchet MS',&#10;                        lineHeight: 1.3,&#10;                    }}&#10;                &gt;&#10;                    Berguna kalau anak punya pantangan&#10;                &lt;/Text&gt;&#10;                &lt;Text&#10;                    style={{&#10;                        marginTop: 8,&#10;                        fontSize: 18,&#10;                        color: '#6B6478',&#10;                        fontFamily: 'Verdana',&#10;                        lineHeight: 1.45,&#10;                    }}&#10;                &gt;&#10;                    Bisa dicek lebih dulu sebelum hari itu tiba. Kalau perlu, hubungi korlas kelas agar menu diganti.&#10;                &lt;/Text&gt;&#10;                &lt;Box style={{ marginTop: 'auto' }}&gt;&#10;                    &lt;Text style={{ fontSize: 15, color: '#51277C', fontFamily: 'Verdana', fontWeight: 'bold' }}&gt;&#10;                        Contoh: cari &quot;udang&quot;, lalu lihat tanggalnya&#10;                    &lt;/Text&gt;&#10;                &lt;/Box&gt;&#10;            &lt;/Box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Orang Tua&#10;        &lt;/Text&gt;&#10;        &lt;Text style={{ fontSize: 14, color: '#6B6478', fontFamily: 'Verdana' }}&gt;13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Cari menu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609600" y="1238250"/>
            <a:ext cx="3209925" cy="5048250"/>
          </a:xfrm>
          <a:prstGeom prst="roundRect">
            <a:avLst>
              <a:gd name="adj" fmla="val 5935"/>
            </a:avLst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590675" y="1485900"/>
            <a:ext cx="125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5000"/>
                  </a:srgbClr>
                </a:solidFill>
                <a:latin typeface="Verdana"/>
                <a:ea typeface="Verdana"/>
              </a:rPr>
              <a:t>Fitur pendukung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866900" y="1752600"/>
            <a:ext cx="7143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Trebuchet MS"/>
                <a:ea typeface="Trebuchet MS"/>
              </a:rPr>
              <a:t>Cari</a:t>
            </a:r>
            <a:endParaRPr/>
          </a:p>
        </p:txBody>
      </p:sp>
      <p:pic>
        <p:nvPicPr>
          <p:cNvPr id="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314450" y="2924175"/>
            <a:ext cx="1809750" cy="1809750"/>
          </a:xfrm>
          <a:prstGeom prst="rect">
            <a:avLst/>
          </a:prstGeom>
          <a:ln/>
        </p:spPr>
      </p:pic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57250" y="5448300"/>
            <a:ext cx="2714625" cy="5905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Verdana"/>
                <a:ea typeface="Verdana"/>
              </a:rPr>
              <a:t>Dipakai kalau ingin tahu riwayat menu.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4162425" y="1238250"/>
            <a:ext cx="749617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4162425" y="1238250"/>
            <a:ext cx="7496175" cy="1581150"/>
          </a:xfrm>
          <a:custGeom>
            <a:pathLst>
              <a:path w="787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4391025" y="17716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14850" y="1895475"/>
            <a:ext cx="266700" cy="266700"/>
          </a:xfrm>
          <a:prstGeom prst="rect">
            <a:avLst/>
          </a:prstGeom>
          <a:ln/>
        </p:spPr>
      </p:pic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095875" y="1666875"/>
            <a:ext cx="62388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Ketik nama makanan atau buah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095875" y="2085975"/>
            <a:ext cx="6238875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Misalnya "jeruk" atau "roti". Aplikasi langsung menemukannya.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4162425" y="2971800"/>
            <a:ext cx="749617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4162425" y="2971800"/>
            <a:ext cx="7496175" cy="1581150"/>
          </a:xfrm>
          <a:custGeom>
            <a:pathLst>
              <a:path w="787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4391025" y="350520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14850" y="3629025"/>
            <a:ext cx="266700" cy="266700"/>
          </a:xfrm>
          <a:prstGeom prst="rect">
            <a:avLst/>
          </a:prstGeom>
          <a:ln/>
        </p:spPr>
      </p:pic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095875" y="3400425"/>
            <a:ext cx="62388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Tahu kapan terakhir disajikan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095875" y="3819525"/>
            <a:ext cx="6238875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Hasilnya berupa daftar tanggal, jadi rotasi menunya kelihatan.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162425" y="4705350"/>
            <a:ext cx="749617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4162425" y="4705350"/>
            <a:ext cx="7496175" cy="1581150"/>
          </a:xfrm>
          <a:custGeom>
            <a:pathLst>
              <a:path w="787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371975" y="4914900"/>
            <a:ext cx="70008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Berguna kalau anak punya pantangan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371975" y="5353050"/>
            <a:ext cx="70008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Bisa dicek lebih dulu sebelum hari itu tiba. Kalau perlu, hubungi korlas kelas agar menu diganti.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371975" y="5905500"/>
            <a:ext cx="7000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1277C"/>
                </a:solidFill>
                <a:latin typeface="Verdana"/>
                <a:ea typeface="Verdana"/>
              </a:rPr>
              <a:t>Contoh: cari "udang", lalu lihat tanggalnya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13 / 16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1" name="" descr="&lt;Slide&#10;    style={{&#10;        width: '1280px',&#10;        height: '720px',&#10;        background: 'linear-gradient(135deg, #51277C 0%, #7A45A8 100%)',&#10;        paddingTop: 60,&#10;        paddingBottom: 60,&#10;        paddingLeft: 72,&#10;        paddingRight: 72,&#10;        justifyContent: 'center',&#10;        position: 'relative',&#10;        overflow: 'hidden',&#10;    }}&#10;&gt;&#10;    {/* dekorasi: lingkaran centang + bintang */}&#10;    &lt;Box&#10;        style={{&#10;            position: 'absolute',&#10;            bottom: -130,&#10;            right: -40,&#10;            width: 420,&#10;            height: 420,&#10;            borderRadius: 210,&#10;            background: '#AFC440',&#10;            opacity: 0.16,&#10;        }}&#10;    /&gt;&#10;    &lt;Box style={{ position: 'absolute', top: 78, right: 96, opacity: 0.22 }}&gt;&#10;        &lt;svg width={230} height={230} viewBox='0 0 230 230'&gt;&#10;            &lt;circle cx='115' cy='115' r='96' fill='none' stroke='#FFFFFF' strokeWidth='8' /&gt;&#10;            &lt;path&#10;                d='M72 118 l30 32 l60 -70'&#10;                fill='none'&#10;                stroke='#AFC440'&#10;                strokeWidth='16'&#10;                strokeLinecap='round'&#10;                strokeLinejoin='round'&#10;            /&gt;&#10;            &lt;path&#10;                d='M196 36 l8 18 l18 8 l-18 8 l-8 18 l-8 -18 l-18 -8 l18 -8 z'&#10;                fill='#F3B26C'&#10;            /&gt;&#10;        &lt;/svg&gt;&#10;    &lt;/Box&gt;&#10;&#10;    {/* isi */}&#10;    &lt;Box style={{ position: 'relative', zIndex: 1, width: '62%' }}&gt;&#10;        &lt;Box style={{ flexDirection: 'row', alignItems: 'center', gap: 14, alignSelf: 'flex-start' }}&gt;&#10;            &lt;Text&#10;                style={{&#10;                    fontSize: 76,&#10;                    fontWeight: 'bold',&#10;                    color: '#F3B26C',&#10;                    fontFamily: 'Trebuchet MS',&#10;                    lineHeight: 1,&#10;                }}&#10;            &gt;&#10;                04&#10;            &lt;/Text&gt;&#10;            &lt;Box style={{ width: 3, height: 52, background: 'rgba(255,255,255,0.45)' }} /&gt;&#10;            &lt;Text style={{ fontSize: 19, color: 'rgba(255,255,255,0.8)', fontFamily: 'Verdana' }}&gt;&#10;                Bagian terakhir&#10;            &lt;/Text&gt;&#10;        &lt;/Box&gt;&#10;&#10;        &lt;Text&#10;            style={{&#10;                marginTop: 26,&#10;                fontSize: 60,&#10;                fontWeight: 'bold',&#10;                color: '#FFFFFF',&#10;                fontFamily: 'Trebuchet MS',&#10;                lineHeight: 1.15,&#10;            }}&#10;        &gt;&#10;            Yang perlu{'\n'}diingat&#10;        &lt;/Text&gt;&#10;&#10;        &lt;Text&#10;            style={{&#10;                marginTop: 24,&#10;                fontSize: 22,&#10;                color: 'rgba(255,255,255,0.88)',&#10;                fontFamily: 'Verdana',&#10;                lineHeight: 1.5,&#10;            }}&#10;        &gt;&#10;            Empat hal yang paling sering ditanyakan orang tua.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8572500" y="4095750"/>
            <a:ext cx="4000500" cy="4000500"/>
          </a:xfrm>
          <a:custGeom>
            <a:pathLst>
              <a:path w="420" h="420">
                <a:moveTo>
                  <a:pt x="215" y="0"/>
                </a:moveTo>
                <a:lnTo>
                  <a:pt x="221" y="0"/>
                </a:lnTo>
                <a:lnTo>
                  <a:pt x="226" y="1"/>
                </a:lnTo>
                <a:lnTo>
                  <a:pt x="231" y="1"/>
                </a:lnTo>
                <a:lnTo>
                  <a:pt x="237" y="2"/>
                </a:lnTo>
                <a:lnTo>
                  <a:pt x="242" y="2"/>
                </a:lnTo>
                <a:lnTo>
                  <a:pt x="247" y="3"/>
                </a:lnTo>
                <a:lnTo>
                  <a:pt x="252" y="4"/>
                </a:lnTo>
                <a:lnTo>
                  <a:pt x="257" y="5"/>
                </a:lnTo>
                <a:lnTo>
                  <a:pt x="262" y="7"/>
                </a:lnTo>
                <a:lnTo>
                  <a:pt x="267" y="8"/>
                </a:lnTo>
                <a:lnTo>
                  <a:pt x="272" y="9"/>
                </a:lnTo>
                <a:lnTo>
                  <a:pt x="277" y="11"/>
                </a:lnTo>
                <a:lnTo>
                  <a:pt x="282" y="13"/>
                </a:lnTo>
                <a:lnTo>
                  <a:pt x="287" y="15"/>
                </a:lnTo>
                <a:lnTo>
                  <a:pt x="292" y="17"/>
                </a:lnTo>
                <a:lnTo>
                  <a:pt x="296" y="19"/>
                </a:lnTo>
                <a:lnTo>
                  <a:pt x="301" y="21"/>
                </a:lnTo>
                <a:lnTo>
                  <a:pt x="306" y="23"/>
                </a:lnTo>
                <a:lnTo>
                  <a:pt x="310" y="25"/>
                </a:lnTo>
                <a:lnTo>
                  <a:pt x="314" y="28"/>
                </a:lnTo>
                <a:lnTo>
                  <a:pt x="319" y="30"/>
                </a:lnTo>
                <a:lnTo>
                  <a:pt x="323" y="33"/>
                </a:lnTo>
                <a:lnTo>
                  <a:pt x="327" y="36"/>
                </a:lnTo>
                <a:lnTo>
                  <a:pt x="332" y="39"/>
                </a:lnTo>
                <a:lnTo>
                  <a:pt x="336" y="42"/>
                </a:ln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2" y="65"/>
                </a:lnTo>
                <a:lnTo>
                  <a:pt x="365" y="69"/>
                </a:lnTo>
                <a:lnTo>
                  <a:pt x="369" y="73"/>
                </a:lnTo>
                <a:lnTo>
                  <a:pt x="372" y="76"/>
                </a:lnTo>
                <a:lnTo>
                  <a:pt x="375" y="80"/>
                </a:lnTo>
                <a:lnTo>
                  <a:pt x="378" y="84"/>
                </a:lnTo>
                <a:lnTo>
                  <a:pt x="380" y="87"/>
                </a:lnTo>
                <a:lnTo>
                  <a:pt x="380" y="290"/>
                </a:lnTo>
                <a:lnTo>
                  <a:pt x="16" y="290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48"/>
                </a:lnTo>
                <a:lnTo>
                  <a:pt x="11" y="143"/>
                </a:lnTo>
                <a:lnTo>
                  <a:pt x="13" y="138"/>
                </a:lnTo>
                <a:lnTo>
                  <a:pt x="15" y="133"/>
                </a:lnTo>
                <a:lnTo>
                  <a:pt x="17" y="128"/>
                </a:lnTo>
                <a:lnTo>
                  <a:pt x="19" y="124"/>
                </a:lnTo>
                <a:lnTo>
                  <a:pt x="21" y="119"/>
                </a:lnTo>
                <a:lnTo>
                  <a:pt x="23" y="114"/>
                </a:lnTo>
                <a:lnTo>
                  <a:pt x="25" y="110"/>
                </a:lnTo>
                <a:lnTo>
                  <a:pt x="28" y="106"/>
                </a:lnTo>
                <a:lnTo>
                  <a:pt x="30" y="101"/>
                </a:lnTo>
                <a:lnTo>
                  <a:pt x="33" y="97"/>
                </a:lnTo>
                <a:lnTo>
                  <a:pt x="36" y="93"/>
                </a:lnTo>
                <a:lnTo>
                  <a:pt x="39" y="88"/>
                </a:lnTo>
                <a:lnTo>
                  <a:pt x="42" y="84"/>
                </a:lnTo>
                <a:lnTo>
                  <a:pt x="45" y="80"/>
                </a:lnTo>
                <a:lnTo>
                  <a:pt x="48" y="76"/>
                </a:lnTo>
                <a:lnTo>
                  <a:pt x="51" y="73"/>
                </a:lnTo>
                <a:lnTo>
                  <a:pt x="55" y="69"/>
                </a:lnTo>
                <a:lnTo>
                  <a:pt x="58" y="65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8" y="39"/>
                </a:lnTo>
                <a:lnTo>
                  <a:pt x="93" y="36"/>
                </a:lnTo>
                <a:lnTo>
                  <a:pt x="97" y="33"/>
                </a:lnTo>
                <a:lnTo>
                  <a:pt x="101" y="30"/>
                </a:lnTo>
                <a:lnTo>
                  <a:pt x="106" y="28"/>
                </a:lnTo>
                <a:lnTo>
                  <a:pt x="110" y="25"/>
                </a:lnTo>
                <a:lnTo>
                  <a:pt x="114" y="23"/>
                </a:lnTo>
                <a:lnTo>
                  <a:pt x="119" y="21"/>
                </a:lnTo>
                <a:lnTo>
                  <a:pt x="124" y="19"/>
                </a:lnTo>
                <a:lnTo>
                  <a:pt x="128" y="17"/>
                </a:lnTo>
                <a:lnTo>
                  <a:pt x="133" y="15"/>
                </a:lnTo>
                <a:lnTo>
                  <a:pt x="138" y="13"/>
                </a:lnTo>
                <a:lnTo>
                  <a:pt x="143" y="11"/>
                </a:lnTo>
                <a:lnTo>
                  <a:pt x="148" y="9"/>
                </a:lnTo>
                <a:lnTo>
                  <a:pt x="153" y="8"/>
                </a:lnTo>
                <a:lnTo>
                  <a:pt x="158" y="7"/>
                </a:lnTo>
                <a:lnTo>
                  <a:pt x="163" y="5"/>
                </a:lnTo>
                <a:lnTo>
                  <a:pt x="168" y="4"/>
                </a:lnTo>
                <a:lnTo>
                  <a:pt x="173" y="3"/>
                </a:lnTo>
                <a:lnTo>
                  <a:pt x="178" y="2"/>
                </a:lnTo>
                <a:lnTo>
                  <a:pt x="183" y="2"/>
                </a:lnTo>
                <a:lnTo>
                  <a:pt x="189" y="1"/>
                </a:lnTo>
                <a:lnTo>
                  <a:pt x="194" y="1"/>
                </a:lnTo>
                <a:lnTo>
                  <a:pt x="199" y="0"/>
                </a:lnTo>
                <a:lnTo>
                  <a:pt x="205" y="0"/>
                </a:lnTo>
                <a:lnTo>
                  <a:pt x="210" y="0"/>
                </a:lnTo>
                <a:close/>
              </a:path>
            </a:pathLst>
          </a:custGeom>
          <a:solidFill>
            <a:srgbClr val="AFC440">
              <a:alpha val="16000"/>
            </a:srgbClr>
          </a:solidFill>
          <a:ln/>
        </p:spPr>
        <p:txBody>
          <a:bodyPr/>
          <a:p/>
        </p:txBody>
      </p:sp>
      <p:pic>
        <p:nvPicPr>
          <p:cNvPr id="94" name=""/>
          <p:cNvPicPr>
            <a:picLocks noChangeAspect="1"/>
          </p:cNvPicPr>
          <p:nvPr/>
        </p:nvPicPr>
        <p:blipFill>
          <a:blip>
            <a:alphaModFix amt="22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086850" y="742950"/>
            <a:ext cx="2190750" cy="2190750"/>
          </a:xfrm>
          <a:prstGeom prst="rect">
            <a:avLst/>
          </a:prstGeom>
          <a:ln/>
        </p:spPr>
      </p:pic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85800" y="17716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3B26C"/>
                </a:solidFill>
                <a:latin typeface="Trebuchet MS"/>
                <a:ea typeface="Trebuchet MS"/>
              </a:rPr>
              <a:t>04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1676400" y="1962150"/>
            <a:ext cx="28575" cy="4953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838325" y="2105025"/>
            <a:ext cx="1400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0000"/>
                  </a:srgbClr>
                </a:solidFill>
                <a:latin typeface="Verdana"/>
                <a:ea typeface="Verdana"/>
              </a:rPr>
              <a:t>Bagian terakhir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85800" y="2895600"/>
            <a:ext cx="6705600" cy="1581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Yang perlu</a:t>
            </a:r>
            <a:endParaRPr/>
          </a:p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diingat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85800" y="4705350"/>
            <a:ext cx="67056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Empat hal yang paling sering ditanyakan orang tua.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0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Empat hal yang perlu diingat&#10;        &lt;/Text&gt;&#10;        &lt;Box style={{ marginTop: 10, width: 72, height: 6, borderRadius: 3, background: '#51277C' }} /&gt;&#10;    &lt;/Box&gt;&#10;&#10;    {/* ── B · area konten ── */}&#10;    &lt;Box style={{ height: 530 }}&gt;&#10;        &lt;Box style={{ height: 470, flexDirection: 'row', gap: 18 }}&gt;&#10;            {[&#10;                {&#10;                    vb: '0 0 512 512',&#10;                    d: 'M256 0a256 256 0 1 1 0 512A256 256 0 1 1 256 0zM232 120V256c0 8 4 15.5 10.7 20l96 64c11 7.4 25.9 4.4 33.3-6.7s4.4-25.9-6.7-33.3L280 243.2V120c0-13.3-10.7-24-24-24s-24 10.7-24 24z',&#10;                    t: 'Jadwal muncul setelah diumumkan',&#10;                    d: 'Jadwal baru tampil setelah korlas atau admin sekolah mengumumkannya. Kalau hari itu belum muncul, berarti belum diumumkan — bukan hilang.',&#10;                    g: 'Sabar menunggu',&#10;                },&#10;                {&#10;                    vb: '0 0 640 512',&#10;                    d: 'M144 0a80 80 0 1 1 0 160A80 80 0 1 1 144 0zM512 0a80 80 0 1 1 0 160A80 80 0 1 1 512 0zM0 298.7C0 239.8 47.8 192 106.7 192h42.7c15.9 0 31 3.5 44.6 9.7c-1.3 7.2-1.9 14.7-1.9 22.3c0 38.2 16.8 72.5 43.3 96c-.2 0-.4 0-.7 0H21.3C9.6 320 0 310.4 0 298.7zM405.3 320c-.2 0-.4 0-.7 0c26.6-23.5 43.3-57.8 43.3-96c0-7.6-.7-15-1.9-22.3c13.6-6.3 28.7-9.7 44.6-9.7h42.7C592.2 192 640 239.8 640 298.7c0 11.8-9.6 21.3-21.3 21.3H405.3zM224 224a96 96 0 1 1 192 0 96 96 0 1 1 -192 0zM128 485.3C128 411.7 187.7 352 261.3 352H378.7C452.3 352 512 411.7 512 485.3c0 14.7-11.9 26.7-26.7 26.7H154.7c-14.7 0-26.7-11.9-26.7-26.7z',&#10;                    t: 'Satu akun untuk beberapa anak',&#10;                    d: 'Punya dua anak di kelas berbeda tidak perlu akun tambahan. Pilih kelasnya di bagian atas layar, jadwalnya ikut berganti.',&#10;                    g: 'Tidak perlu daftar ulang',&#10;                },&#10;                {&#10;                    vb: '0 0 576 512',&#10;                    d: 'M575.8 255.5c0 18-15 32.1-32 32.1h-32l.7 160.2c0 2.7-.2 5.4-.5 8.1V472c0 22.1-17.9 40-40 40H456c-1.1 0-2.2 0-3.3-.1c-1.4 .1-2.8 .1-4.2 .1H416 392c-22.1 0-40-17.9-40-40V448 384c0-17.7-14.3-32-32-32H256c-17.7 0-32 14.3-32 32v64 24c0 22.1-17.9 40-40 40H160 128.1c-1.5 0-3-.1-4.5-.2c-1.2 .1-2.4 .2-3.6 .2H104c-22.1 0-40-17.9-40-40V360c0-.9 0-1.9 .1-2.8V287.6H32c-18 0-32-14-32-32.1c0-9 3-17 10-24L266.4 8c7-7 15-8 22-8s15 2 21 7L564.8 231.5c8 7 12 15 11 24z',&#10;                    t: 'Ambil tanggal di kelas anak sendiri',&#10;                    d: 'Setiap kelas punya barisnya sendiri. Ambil tanggal di kelas lain tidak bisa, dan yang sudah ditentukan korlas tidak ikut direbutkan.',&#10;                    g: 'Adil per kelas',&#10;                },&#10;                {&#10;                    vb: '0 0 512 512',&#10;                    d: 'M164.9 24.6c-7.7-18.6-28-28.5-47.4-23.2l-88 24C12.1 30.2 0 46 0 64C0 311.4 200.6 512 448 512c18 0 33.8-12.1 38.6-29.5l24-88c5.3-19.4-4.6-39.7-23.2-47.4l-96-40c-16.3-6.8-35.2-2.1-46.3 11.6L304.7 368C234.3 334.7 177.3 277.7 144 207.3L193.3 167c13.7-11.2 18.4-30 11.6-46.3l-40-96z',&#10;                    t: 'Perubahan lewat korlas kelas',&#10;                    d: 'Jadwal yang sudah diumumkan tidak bisa diubah sendiri. Sampaikan ke korlas kelas atau admin sekolah bila ada keperluan mendadak.',&#10;                    g: 'Jangan diubah sendiri',&#10;                },&#10;            ].map((c, idx) =&gt; (&#10;                &lt;Box&#10;                    key={idx}&#10;                    style={{&#10;                        flex: 1,&#10;                        height: '100%',&#10;                        background: '#FFFFFF',&#10;                        borderRadius: 16,&#10;                        boxShadow: '0 4px 20px rgba(0,0,0,0.08)',&#10;                        padding: 24,&#10;                        borderTop: '8px solid #AFC440',&#10;                    }}&#10;                &gt;&#10;                    &lt;Box&#10;                        style={{&#10;                            width: 60,&#10;                            height: 60,&#10;                            borderRadius: 30,&#10;                            background: 'rgba(81,39,124,0.10)',&#10;                            justifyContent: 'center',&#10;                            alignItems: 'center',&#10;                        }}&#10;                    &gt;&#10;                        &lt;svg width={30} height={30} viewBox={c.vb} xmlns=&quot;http://www.w3.org/2000/svg&quot;&gt;&lt;path fill=&quot;#51277C&quot; d={c.d} /&gt;&lt;/svg&gt;&#10;                    &lt;/Box&gt;&#10;&#10;                    &lt;Text&#10;                        style={{&#10;                            marginTop: 16,&#10;                            fontSize: 23,&#10;                            fontWeight: 'bold',&#10;                            color: '#51277C',&#10;                            fontFamily: 'Trebuchet MS',&#10;                            lineHeight: 1.32,&#10;                        }}&#10;                    &gt;&#10;                        {c.t}&#10;                    &lt;/Text&gt;&#10;&#10;                    &lt;Box&#10;                        style={{&#10;                            marginTop: 12,&#10;                            width: 44,&#10;                            height: 3,&#10;                            borderRadius: 2,&#10;                            background: '#AFC440',&#10;                        }}&#10;                    /&gt;&#10;&#10;                    &lt;Text&#10;                        style={{&#10;                            marginTop: 12,&#10;                            fontSize: 17,&#10;                            color: '#6B6478',&#10;                            fontFamily: 'Verdana',&#10;                            lineHeight: 1.5,&#10;                        }}&#10;                    &gt;&#10;                        {c.d}&#10;                    &lt;/Text&gt;&#10;&#10;                    &lt;Box style={{ marginTop: 'auto' }}&gt;&#10;                        &lt;Text&#10;                            style={{&#10;                                fontSize: 16,&#10;                                color: '#51277C',&#10;                                fontFamily: 'Verdana',&#10;                                fontWeight: 'bold',&#10;                            }}&#10;                        &gt;&#10;                            {c.g}&#10;                        &lt;/Text&gt;&#10;                    &lt;/Box&gt;&#10;                &lt;/Box&gt;&#10;            ))}&#10;        &lt;/Box&gt;&#10;&#10;        {/* simpulan */}&#10;        &lt;Box&#10;            style={{&#10;                marginTop: 14,&#10;                height: 46,&#10;                background: '#51277C',&#10;                borderRadius: 14,&#10;                justifyContent: 'center',&#10;                alignItems: 'center',&#10;            }}&#10;        &gt;&#10;            &lt;Text&#10;                style={{&#10;                    fontSize: 19,&#10;                    color: '#FFFFFF',&#10;                    fontFamily: 'Verdana',&#10;                    fontWeight: 'bold',&#10;                }}&#10;            &gt;&#10;                Intinya: satu akun, satu aplikasi, dan semua perubahan disampaikan lewat korlas kelas.&#10;            &lt;/Text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Orang Tua&#10;        &lt;/Text&gt;&#10;        &lt;Text style={{ fontSize: 14, color: '#6B6478', fontFamily: 'Verdana' }}&gt;1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Empat hal yang perlu diingat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609600" y="1314450"/>
            <a:ext cx="2619375" cy="44767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609600" y="1314450"/>
            <a:ext cx="2619375" cy="4476750"/>
          </a:xfrm>
          <a:custGeom>
            <a:pathLst>
              <a:path w="275" h="470">
                <a:moveTo>
                  <a:pt x="260" y="0"/>
                </a:moveTo>
                <a:cubicBezTo>
                  <a:pt x="267" y="0"/>
                  <a:pt x="274" y="6"/>
                  <a:pt x="275" y="14"/>
                </a:cubicBezTo>
                <a:cubicBezTo>
                  <a:pt x="274" y="10"/>
                  <a:pt x="271" y="8"/>
                  <a:pt x="267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838200" y="15430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1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1685925"/>
            <a:ext cx="285750" cy="285750"/>
          </a:xfrm>
          <a:prstGeom prst="rect">
            <a:avLst/>
          </a:prstGeom>
          <a:ln/>
        </p:spPr>
      </p:pic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38200" y="2266950"/>
            <a:ext cx="216217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2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Jadwal muncul setelah diumumkan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838200" y="3076575"/>
            <a:ext cx="419100" cy="28575"/>
          </a:xfrm>
          <a:prstGeom prst="roundRect">
            <a:avLst>
              <a:gd name="adj" fmla="val 66667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38200" y="3219450"/>
            <a:ext cx="2162175" cy="2047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Jadwal baru tampil setelah korlas atau admin sekolah mengumumkannya. Kalau hari itu belum muncul, berarti belum diumumkan — bukan hilang.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38200" y="5295900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Sabar menunggu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3400425" y="1314450"/>
            <a:ext cx="2609850" cy="4476750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3400425" y="1314450"/>
            <a:ext cx="2609850" cy="4476750"/>
          </a:xfrm>
          <a:custGeom>
            <a:pathLst>
              <a:path w="274" h="470">
                <a:moveTo>
                  <a:pt x="259" y="0"/>
                </a:moveTo>
                <a:cubicBezTo>
                  <a:pt x="266" y="0"/>
                  <a:pt x="273" y="6"/>
                  <a:pt x="274" y="14"/>
                </a:cubicBezTo>
                <a:cubicBezTo>
                  <a:pt x="273" y="10"/>
                  <a:pt x="270" y="8"/>
                  <a:pt x="266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8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3629025" y="15430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1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71900" y="1685925"/>
            <a:ext cx="285750" cy="285750"/>
          </a:xfrm>
          <a:prstGeom prst="rect">
            <a:avLst/>
          </a:prstGeom>
          <a:ln/>
        </p:spPr>
      </p:pic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629025" y="2266950"/>
            <a:ext cx="21526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2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Satu akun untuk beberapa anak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3629025" y="3076575"/>
            <a:ext cx="419100" cy="28575"/>
          </a:xfrm>
          <a:prstGeom prst="roundRect">
            <a:avLst>
              <a:gd name="adj" fmla="val 66667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3629025" y="3219450"/>
            <a:ext cx="2152650" cy="1457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Punya dua anak di kelas berbeda tidak perlu akun tambahan. Pilih kelasnya di bagian atas layar, jadwalnya ikut berganti.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629025" y="5295900"/>
            <a:ext cx="2152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Tidak perlu daftar ulang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181725" y="1314450"/>
            <a:ext cx="2619375" cy="44767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6181725" y="1314450"/>
            <a:ext cx="2619375" cy="4476750"/>
          </a:xfrm>
          <a:custGeom>
            <a:pathLst>
              <a:path w="275" h="470">
                <a:moveTo>
                  <a:pt x="260" y="0"/>
                </a:moveTo>
                <a:cubicBezTo>
                  <a:pt x="267" y="0"/>
                  <a:pt x="274" y="6"/>
                  <a:pt x="275" y="14"/>
                </a:cubicBezTo>
                <a:cubicBezTo>
                  <a:pt x="274" y="10"/>
                  <a:pt x="271" y="8"/>
                  <a:pt x="267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6410325" y="15430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1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553200" y="1685925"/>
            <a:ext cx="285750" cy="285750"/>
          </a:xfrm>
          <a:prstGeom prst="rect">
            <a:avLst/>
          </a:prstGeom>
          <a:ln/>
        </p:spPr>
      </p:pic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410325" y="2266950"/>
            <a:ext cx="216217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2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Ambil tanggal di kelas anak sendiri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410325" y="3076575"/>
            <a:ext cx="419100" cy="28575"/>
          </a:xfrm>
          <a:prstGeom prst="roundRect">
            <a:avLst>
              <a:gd name="adj" fmla="val 66667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410325" y="3219450"/>
            <a:ext cx="2162175" cy="1752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Setiap kelas punya barisnya sendiri. Ambil tanggal di kelas lain tidak bisa, dan yang sudah ditentukan korlas tidak ikut direbutkan.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410325" y="5295900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Adil per kelas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8972550" y="1314450"/>
            <a:ext cx="2609850" cy="4476750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8972550" y="1314450"/>
            <a:ext cx="2609850" cy="4476750"/>
          </a:xfrm>
          <a:custGeom>
            <a:pathLst>
              <a:path w="274" h="470">
                <a:moveTo>
                  <a:pt x="259" y="0"/>
                </a:moveTo>
                <a:cubicBezTo>
                  <a:pt x="266" y="0"/>
                  <a:pt x="273" y="6"/>
                  <a:pt x="274" y="14"/>
                </a:cubicBezTo>
                <a:cubicBezTo>
                  <a:pt x="273" y="10"/>
                  <a:pt x="270" y="8"/>
                  <a:pt x="266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8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9201150" y="15430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1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344025" y="1685925"/>
            <a:ext cx="285750" cy="285750"/>
          </a:xfrm>
          <a:prstGeom prst="rect">
            <a:avLst/>
          </a:prstGeom>
          <a:ln/>
        </p:spPr>
      </p:pic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9201150" y="2266950"/>
            <a:ext cx="21526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2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Perubahan lewat korlas kelas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9201150" y="3076575"/>
            <a:ext cx="419100" cy="28575"/>
          </a:xfrm>
          <a:prstGeom prst="roundRect">
            <a:avLst>
              <a:gd name="adj" fmla="val 66667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201150" y="3219450"/>
            <a:ext cx="2152650" cy="2047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Jadwal yang sudah diumumkan tidak bisa diubah sendiri. Sampaikan ke korlas kelas atau admin sekolah bila ada keperluan mendadak.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201150" y="5295900"/>
            <a:ext cx="2152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Jangan diubah sendiri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09600" y="5848350"/>
            <a:ext cx="10972800" cy="438150"/>
          </a:xfrm>
          <a:prstGeom prst="roundRect">
            <a:avLst>
              <a:gd name="adj" fmla="val 30435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600200" y="5962650"/>
            <a:ext cx="9001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Verdana"/>
                <a:ea typeface="Verdana"/>
              </a:rPr>
              <a:t>Intinya: satu akun, satu aplikasi, dan semua perubahan disampaikan lewat korlas kelas.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562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Orang Tua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15 / 16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0" name="" descr="&lt;Slide&#13;&#10;    style={{&#13;&#10;        width: '1280px',&#13;&#10;        height: '720px',&#13;&#10;        background: '#FAF7F2',&#13;&#10;        justifyContent: 'center',&#13;&#10;        alignItems: 'center',&#13;&#10;        position: 'relative',&#13;&#10;        overflow: 'hidden',&#13;&#10;    }}&#13;&#10;&gt;&#13;&#10;    {/* cahaya latar */}&#13;&#10;    &lt;Box&#13;&#10;        style={{&#13;&#10;            position: 'absolute',&#13;&#10;            top: 90,&#13;&#10;            width: 520,&#13;&#10;            height: 520,&#13;&#10;            borderRadius: 260,&#13;&#10;            background: 'linear-gradient(135deg, #51277C 0%, #7A45A8 100%)',&#13;&#10;            opacity: 0.10,&#13;&#10;        }}&#13;&#10;    /&gt;&#13;&#10;    &lt;Box&#13;&#10;        style={{&#13;&#10;            position: 'absolute',&#13;&#10;            bottom: -80,&#13;&#10;            left: -80,&#13;&#10;            width: 320,&#13;&#10;            height: 320,&#13;&#10;            borderRadius: 160,&#13;&#10;            background: 'linear-gradient(135deg, #AFC440 0%, #F3B26C 100%)',&#13;&#10;            opacity: 0.18,&#13;&#10;        }}&#13;&#10;    /&gt;&#13;&#10;&#13;&#10;    &lt;Box style={{ position: 'relative', zIndex: 1, alignItems: 'center', paddingLeft: 72, paddingRight: 72 }}&gt;&#13;&#10;        &lt;Image&#13;&#10;            src=&quot;assets/app_logo.png&quot;&#13;&#10;            style={{ width: 200, height: 194, objectFit: 'contain' }}&#13;&#10;        /&gt;&#13;&#10;&#13;&#10;        &lt;Text&#13;&#10;            style={{&#13;&#10;                marginTop: 26,&#13;&#10;                fontSize: 60,&#13;&#10;                fontWeight: 'bold',&#13;&#10;                color: '#51277C',&#13;&#10;                fontFamily: 'Trebuchet MS',&#13;&#10;                lineHeight: 1.15,&#13;&#10;            }}&#13;&#10;        &gt;&#13;&#10;            Terima kasih&#13;&#10;        &lt;/Text&gt;&#13;&#10;&#13;&#10;        &lt;Box style={{ marginTop: 18, width: 96, height: 7, borderRadius: 4, background: '#AFC440' }} /&gt;&#13;&#10;&#13;&#10;        &lt;Text&#13;&#10;            style={{&#13;&#10;                marginTop: 22,&#13;&#10;                fontSize: 22,&#13;&#10;                color: '#2A2333',&#13;&#10;                fontFamily: 'Verdana',&#13;&#10;                lineHeight: 1.5,&#13;&#10;                textAlign: 'center',&#13;&#10;            }}&#13;&#10;        &gt;&#13;&#10;            Mari pasang aplikasinya hari ini juga.&#13;&#10;        &lt;/Text&gt;&#13;&#10;&#13;&#10;        &lt;Text&#13;&#10;            style={{&#13;&#10;                marginTop: 14,&#13;&#10;                fontSize: 19,&#13;&#10;                color: '#6B6478',&#13;&#10;                fontFamily: 'Verdana',&#13;&#10;                lineHeight: 1.5,&#13;&#10;                textAlign: 'center',&#13;&#10;            }}&#13;&#10;        &gt;&#13;&#10;            Ada pertanyaan? Sampaikan kepada korlas kelas atau admin sekolah.&#13;&#10;        &lt;/Text&gt;&#13;&#10;&#13;&#10;        &lt;Box&#13;&#10;            style={{&#13;&#10;                marginTop: 26,&#13;&#10;                flexDirection: 'row',&#13;&#10;                alignItems: 'center',&#13;&#10;                gap: 12,&#13;&#10;                background: '#F3B26C',&#13;&#10;                borderRadius: 999,&#13;&#10;                paddingTop: 13,&#13;&#10;                paddingBottom: 13,&#13;&#10;                paddingLeft: 28,&#13;&#10;                paddingRight: 30,&#13;&#10;            }}&#13;&#10;        &gt;&#13;&#10;            &lt;svg width={22} height={22} viewBox=&quot;0 0 576 512&quot; xmlns=&quot;http://www.w3.org/2000/svg&quot;&gt;&lt;path fill=&quot;#51277C&quot; d=&quot;M316.9 18C311.6 7 300.4 0 288.1 0s-23.4 7-28.8 18L195 150.3 51.4 171.5c-12 1.8-22 10.2-25.7 21.7s-.7 24.2 7.9 32.7L137.8 329 113.2 474.7c-2 12 3 24.2 12.9 31.3s23 8 33.8 2.3l128.3-68.5 128.3 68.5c10.8 5.7 23.9 4.9 33.8-2.3s14.9-19.3 12.9-31.3L438.5 329 542.7 225.9c8.6-8.5 11.7-21.2 7.9-32.7s-13.7-19.9-25.7-21.7L381.2 150.3 316.9 18z&quot; /&gt;&lt;/svg&gt;&#13;&#10;            &lt;Text style={{ fontSize: 19, color: '#51277C', fontFamily: 'Trebuchet MS', fontWeight: 'bold' }}&gt;&#13;&#10;                Pizza Snack Play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3619500" y="857250"/>
            <a:ext cx="4953000" cy="4953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1277C">
                  <a:alpha val="10000"/>
                </a:srgbClr>
              </a:gs>
              <a:gs pos="100000">
                <a:srgbClr val="7A45A8">
                  <a:alpha val="1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-762000" y="4572000"/>
            <a:ext cx="3048000" cy="3048000"/>
          </a:xfrm>
          <a:custGeom>
            <a:pathLst>
              <a:path w="320" h="320">
                <a:moveTo>
                  <a:pt x="164" y="0"/>
                </a:moveTo>
                <a:cubicBezTo>
                  <a:pt x="221" y="2"/>
                  <a:pt x="272" y="33"/>
                  <a:pt x="300" y="82"/>
                </a:cubicBezTo>
                <a:cubicBezTo>
                  <a:pt x="327" y="131"/>
                  <a:pt x="327" y="191"/>
                  <a:pt x="299" y="240"/>
                </a:cubicBezTo>
                <a:lnTo>
                  <a:pt x="80" y="240"/>
                </a:lnTo>
                <a:lnTo>
                  <a:pt x="80" y="21"/>
                </a:lnTo>
                <a:cubicBezTo>
                  <a:pt x="104" y="7"/>
                  <a:pt x="132" y="0"/>
                  <a:pt x="160" y="0"/>
                </a:cubicBezTo>
                <a:close/>
              </a:path>
            </a:pathLst>
          </a:custGeom>
          <a:gradFill>
            <a:gsLst>
              <a:gs pos="0">
                <a:srgbClr val="AFC440">
                  <a:alpha val="18000"/>
                </a:srgbClr>
              </a:gs>
              <a:gs pos="100000">
                <a:srgbClr val="F3B26C">
                  <a:alpha val="18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44" name=""/>
          <p:cNvPicPr>
            <a:picLocks noChangeAspect="1"/>
          </p:cNvPicPr>
          <p:nvPr/>
        </p:nvPicPr>
        <p:blipFill>
          <a:blip r:embed="rId1"/>
          <a:srcRect l="0" t="52" r="0" b="52"/>
          <a:stretch>
            <a:fillRect/>
          </a:stretch>
        </p:blipFill>
        <p:spPr>
          <a:xfrm rot="0" flipH="0" flipV="0">
            <a:off x="5143500" y="981075"/>
            <a:ext cx="1905000" cy="1847850"/>
          </a:xfrm>
          <a:prstGeom prst="rect">
            <a:avLst/>
          </a:prstGeom>
          <a:ln/>
        </p:spPr>
      </p:pic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419600" y="3076575"/>
            <a:ext cx="3352800" cy="7905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51277C"/>
                </a:solidFill>
                <a:latin typeface="Trebuchet MS"/>
                <a:ea typeface="Trebuchet MS"/>
              </a:rPr>
              <a:t>Terima kasih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5638800" y="4038600"/>
            <a:ext cx="914400" cy="66675"/>
          </a:xfrm>
          <a:prstGeom prst="roundRect">
            <a:avLst>
              <a:gd name="adj" fmla="val 57143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133850" y="4314825"/>
            <a:ext cx="3933825" cy="3810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650">
                <a:solidFill>
                  <a:srgbClr val="2A2333"/>
                </a:solidFill>
                <a:latin typeface="Verdana"/>
                <a:ea typeface="Verdana"/>
              </a:rPr>
              <a:t>Mari pasang aplikasinya hari ini juga.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905125" y="4829175"/>
            <a:ext cx="6381750" cy="3333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425">
                <a:solidFill>
                  <a:srgbClr val="6B6478"/>
                </a:solidFill>
                <a:latin typeface="Verdana"/>
                <a:ea typeface="Verdana"/>
              </a:rPr>
              <a:t>Ada pertanyaan? Sampaikan kepada korlas kelas atau admin sekolah.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4962525" y="5410200"/>
            <a:ext cx="2276475" cy="466725"/>
          </a:xfrm>
          <a:prstGeom prst="roundRect">
            <a:avLst>
              <a:gd name="adj" fmla="val 2038776"/>
            </a:avLst>
          </a:prstGeom>
          <a:solidFill>
            <a:srgbClr val="F3B26C"/>
          </a:solidFill>
          <a:ln/>
        </p:spPr>
        <p:txBody>
          <a:bodyPr/>
          <a:p/>
        </p:txBody>
      </p:sp>
      <p:pic>
        <p:nvPicPr>
          <p:cNvPr id="1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229225" y="5543550"/>
            <a:ext cx="209550" cy="209550"/>
          </a:xfrm>
          <a:prstGeom prst="rect">
            <a:avLst/>
          </a:prstGeom>
          <a:ln/>
        </p:spPr>
      </p:pic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553075" y="5534025"/>
            <a:ext cx="1400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51277C"/>
                </a:solidFill>
                <a:latin typeface="Trebuchet MS"/>
                <a:ea typeface="Trebuchet MS"/>
              </a:rPr>
              <a:t>Pizza Snack Play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2026-10-22T00:31:32Z</dcterms:created>
  <dcterms:modified xsi:type="dcterms:W3CDTF">2026-10-22T00:31:32Z</dcterms:modified>
</cp:coreProperties>
</file>