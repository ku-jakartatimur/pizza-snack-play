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6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6" Type="http://schemas.openxmlformats.org/officeDocument/2006/relationships/slide" Target="slides/slide6.xml" /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0" Type="http://schemas.openxmlformats.org/officeDocument/2006/relationships/slide" Target="slides/slide10.xml" /><Relationship Id="rId11" Type="http://schemas.openxmlformats.org/officeDocument/2006/relationships/slide" Target="slides/slide11.xml" /><Relationship Id="rId12" Type="http://schemas.openxmlformats.org/officeDocument/2006/relationships/slide" Target="slides/slide12.xml" /><Relationship Id="rId13" Type="http://schemas.openxmlformats.org/officeDocument/2006/relationships/slide" Target="slides/slide13.xml" /><Relationship Id="rId14" Type="http://schemas.openxmlformats.org/officeDocument/2006/relationships/slide" Target="slides/slide14.xml" /><Relationship Id="rId15" Type="http://schemas.openxmlformats.org/officeDocument/2006/relationships/slide" Target="slides/slide15.xml" /><Relationship Id="rId16" Type="http://schemas.openxmlformats.org/officeDocument/2006/relationships/notesMaster" Target="notesMasters/notesMaster1.xml" 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Relationship Id="rId2" Type="http://schemas.openxmlformats.org/officeDocument/2006/relationships/image" Target="media/image2.png" /><Relationship Id="rId3" Type="http://schemas.openxmlformats.org/officeDocument/2006/relationships/image" Target="media/image3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6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7.svg" /><Relationship Id="rId2" Type="http://schemas.openxmlformats.org/officeDocument/2006/relationships/image" Target="media/image18.svg" /><Relationship Id="rId3" Type="http://schemas.openxmlformats.org/officeDocument/2006/relationships/image" Target="media/image19.svg" /><Relationship Id="rId4" Type="http://schemas.openxmlformats.org/officeDocument/2006/relationships/image" Target="media/image20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1.svg" /><Relationship Id="rId2" Type="http://schemas.openxmlformats.org/officeDocument/2006/relationships/image" Target="media/image22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3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4.svg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media/image25.svg" /><Relationship Id="rId0" Type="http://schemas.openxmlformats.org/officeDocument/2006/relationships/slideLayout" Target="../slideLayouts/slideLayout1.xml" /><Relationship Id="rId6" Type="http://schemas.openxmlformats.org/officeDocument/2006/relationships/image" Target="media/image30.svg" /><Relationship Id="rId4" Type="http://schemas.openxmlformats.org/officeDocument/2006/relationships/image" Target="media/image28.svg" /><Relationship Id="rId2" Type="http://schemas.openxmlformats.org/officeDocument/2006/relationships/image" Target="media/image26.svg" /><Relationship Id="rId3" Type="http://schemas.openxmlformats.org/officeDocument/2006/relationships/image" Target="media/image27.svg" /><Relationship Id="rId5" Type="http://schemas.openxmlformats.org/officeDocument/2006/relationships/image" Target="media/image29.svg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media/image31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image" Target="media/image5.svg" /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6.sv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8.svg" /><Relationship Id="rId1" Type="http://schemas.openxmlformats.org/officeDocument/2006/relationships/image" Target="media/image7.svg" /><Relationship Id="rId3" Type="http://schemas.openxmlformats.org/officeDocument/2006/relationships/image" Target="media/image9.svg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svg" /><Relationship Id="rId2" Type="http://schemas.openxmlformats.org/officeDocument/2006/relationships/image" Target="media/image12.svg" /><Relationship Id="rId4" Type="http://schemas.openxmlformats.org/officeDocument/2006/relationships/image" Target="media/image14.svg" /><Relationship Id="rId3" Type="http://schemas.openxmlformats.org/officeDocument/2006/relationships/image" Target="media/image13.svg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2" Type="http://schemas.openxmlformats.org/officeDocument/2006/relationships/image" Target="media/image15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3" name=""/>
          <p:cNvSpPr/>
          <p:nvPr/>
        </p:nvSpPr>
        <p:spPr>
          <a:xfrm rot="0" flipH="0" flipV="0">
            <a:off x="8382000" y="-1333500"/>
            <a:ext cx="4953000" cy="4953000"/>
          </a:xfrm>
          <a:custGeom>
            <a:pathLst>
              <a:path w="520" h="520">
                <a:moveTo>
                  <a:pt x="400" y="479"/>
                </a:moveTo>
                <a:lnTo>
                  <a:pt x="395" y="482"/>
                </a:lnTo>
                <a:lnTo>
                  <a:pt x="389" y="486"/>
                </a:lnTo>
                <a:lnTo>
                  <a:pt x="384" y="489"/>
                </a:lnTo>
                <a:lnTo>
                  <a:pt x="378" y="492"/>
                </a:lnTo>
                <a:lnTo>
                  <a:pt x="373" y="494"/>
                </a:lnTo>
                <a:lnTo>
                  <a:pt x="367" y="497"/>
                </a:lnTo>
                <a:lnTo>
                  <a:pt x="361" y="500"/>
                </a:lnTo>
                <a:lnTo>
                  <a:pt x="355" y="502"/>
                </a:lnTo>
                <a:lnTo>
                  <a:pt x="349" y="504"/>
                </a:lnTo>
                <a:lnTo>
                  <a:pt x="343" y="506"/>
                </a:lnTo>
                <a:lnTo>
                  <a:pt x="337" y="508"/>
                </a:lnTo>
                <a:lnTo>
                  <a:pt x="331" y="510"/>
                </a:lnTo>
                <a:lnTo>
                  <a:pt x="325" y="512"/>
                </a:lnTo>
                <a:lnTo>
                  <a:pt x="319" y="513"/>
                </a:lnTo>
                <a:lnTo>
                  <a:pt x="312" y="515"/>
                </a:lnTo>
                <a:lnTo>
                  <a:pt x="306" y="516"/>
                </a:lnTo>
                <a:lnTo>
                  <a:pt x="300" y="517"/>
                </a:lnTo>
                <a:lnTo>
                  <a:pt x="293" y="518"/>
                </a:lnTo>
                <a:lnTo>
                  <a:pt x="287" y="519"/>
                </a:lnTo>
                <a:lnTo>
                  <a:pt x="280" y="519"/>
                </a:lnTo>
                <a:lnTo>
                  <a:pt x="273" y="520"/>
                </a:lnTo>
                <a:lnTo>
                  <a:pt x="267" y="520"/>
                </a:lnTo>
                <a:lnTo>
                  <a:pt x="260" y="520"/>
                </a:lnTo>
                <a:lnTo>
                  <a:pt x="253" y="520"/>
                </a:lnTo>
                <a:lnTo>
                  <a:pt x="247" y="520"/>
                </a:lnTo>
                <a:lnTo>
                  <a:pt x="240" y="519"/>
                </a:lnTo>
                <a:lnTo>
                  <a:pt x="233" y="519"/>
                </a:lnTo>
                <a:lnTo>
                  <a:pt x="227" y="518"/>
                </a:lnTo>
                <a:lnTo>
                  <a:pt x="220" y="517"/>
                </a:lnTo>
                <a:lnTo>
                  <a:pt x="214" y="516"/>
                </a:lnTo>
                <a:lnTo>
                  <a:pt x="208" y="515"/>
                </a:lnTo>
                <a:lnTo>
                  <a:pt x="201" y="513"/>
                </a:lnTo>
                <a:lnTo>
                  <a:pt x="195" y="512"/>
                </a:lnTo>
                <a:lnTo>
                  <a:pt x="189" y="510"/>
                </a:lnTo>
                <a:lnTo>
                  <a:pt x="183" y="508"/>
                </a:lnTo>
                <a:lnTo>
                  <a:pt x="177" y="506"/>
                </a:lnTo>
                <a:lnTo>
                  <a:pt x="171" y="504"/>
                </a:lnTo>
                <a:lnTo>
                  <a:pt x="165" y="502"/>
                </a:lnTo>
                <a:lnTo>
                  <a:pt x="159" y="500"/>
                </a:lnTo>
                <a:lnTo>
                  <a:pt x="153" y="497"/>
                </a:lnTo>
                <a:lnTo>
                  <a:pt x="147" y="494"/>
                </a:lnTo>
                <a:lnTo>
                  <a:pt x="142" y="492"/>
                </a:lnTo>
                <a:lnTo>
                  <a:pt x="136" y="489"/>
                </a:lnTo>
                <a:lnTo>
                  <a:pt x="131" y="486"/>
                </a:lnTo>
                <a:lnTo>
                  <a:pt x="125" y="482"/>
                </a:lnTo>
                <a:lnTo>
                  <a:pt x="120" y="479"/>
                </a:lnTo>
                <a:lnTo>
                  <a:pt x="115" y="476"/>
                </a:lnTo>
                <a:lnTo>
                  <a:pt x="110" y="472"/>
                </a:lnTo>
                <a:lnTo>
                  <a:pt x="104" y="468"/>
                </a:lnTo>
                <a:lnTo>
                  <a:pt x="100" y="465"/>
                </a:lnTo>
                <a:lnTo>
                  <a:pt x="95" y="461"/>
                </a:lnTo>
                <a:lnTo>
                  <a:pt x="90" y="457"/>
                </a:lnTo>
                <a:lnTo>
                  <a:pt x="85" y="452"/>
                </a:lnTo>
                <a:lnTo>
                  <a:pt x="81" y="448"/>
                </a:lnTo>
                <a:lnTo>
                  <a:pt x="76" y="444"/>
                </a:lnTo>
                <a:lnTo>
                  <a:pt x="72" y="439"/>
                </a:lnTo>
                <a:lnTo>
                  <a:pt x="68" y="435"/>
                </a:lnTo>
                <a:lnTo>
                  <a:pt x="63" y="430"/>
                </a:lnTo>
                <a:lnTo>
                  <a:pt x="59" y="425"/>
                </a:lnTo>
                <a:lnTo>
                  <a:pt x="55" y="420"/>
                </a:lnTo>
                <a:lnTo>
                  <a:pt x="52" y="416"/>
                </a:lnTo>
                <a:lnTo>
                  <a:pt x="48" y="410"/>
                </a:lnTo>
                <a:lnTo>
                  <a:pt x="44" y="405"/>
                </a:lnTo>
                <a:lnTo>
                  <a:pt x="41" y="400"/>
                </a:lnTo>
                <a:lnTo>
                  <a:pt x="38" y="395"/>
                </a:lnTo>
                <a:lnTo>
                  <a:pt x="34" y="389"/>
                </a:lnTo>
                <a:lnTo>
                  <a:pt x="31" y="384"/>
                </a:lnTo>
                <a:lnTo>
                  <a:pt x="28" y="378"/>
                </a:lnTo>
                <a:lnTo>
                  <a:pt x="26" y="373"/>
                </a:lnTo>
                <a:lnTo>
                  <a:pt x="23" y="367"/>
                </a:lnTo>
                <a:lnTo>
                  <a:pt x="20" y="361"/>
                </a:lnTo>
                <a:lnTo>
                  <a:pt x="18" y="355"/>
                </a:lnTo>
                <a:lnTo>
                  <a:pt x="16" y="349"/>
                </a:lnTo>
                <a:lnTo>
                  <a:pt x="14" y="343"/>
                </a:lnTo>
                <a:lnTo>
                  <a:pt x="12" y="337"/>
                </a:lnTo>
                <a:lnTo>
                  <a:pt x="10" y="331"/>
                </a:lnTo>
                <a:lnTo>
                  <a:pt x="8" y="325"/>
                </a:lnTo>
                <a:lnTo>
                  <a:pt x="7" y="319"/>
                </a:lnTo>
                <a:lnTo>
                  <a:pt x="5" y="312"/>
                </a:lnTo>
                <a:lnTo>
                  <a:pt x="4" y="306"/>
                </a:lnTo>
                <a:lnTo>
                  <a:pt x="3" y="300"/>
                </a:lnTo>
                <a:lnTo>
                  <a:pt x="2" y="293"/>
                </a:lnTo>
                <a:lnTo>
                  <a:pt x="1" y="287"/>
                </a:lnTo>
                <a:lnTo>
                  <a:pt x="1" y="280"/>
                </a:lnTo>
                <a:lnTo>
                  <a:pt x="0" y="273"/>
                </a:lnTo>
                <a:lnTo>
                  <a:pt x="0" y="267"/>
                </a:lnTo>
                <a:lnTo>
                  <a:pt x="0" y="260"/>
                </a:lnTo>
                <a:lnTo>
                  <a:pt x="0" y="253"/>
                </a:lnTo>
                <a:lnTo>
                  <a:pt x="0" y="247"/>
                </a:lnTo>
                <a:lnTo>
                  <a:pt x="1" y="240"/>
                </a:lnTo>
                <a:lnTo>
                  <a:pt x="1" y="233"/>
                </a:lnTo>
                <a:lnTo>
                  <a:pt x="2" y="227"/>
                </a:lnTo>
                <a:lnTo>
                  <a:pt x="3" y="220"/>
                </a:lnTo>
                <a:lnTo>
                  <a:pt x="4" y="214"/>
                </a:lnTo>
                <a:lnTo>
                  <a:pt x="5" y="208"/>
                </a:lnTo>
                <a:lnTo>
                  <a:pt x="7" y="201"/>
                </a:lnTo>
                <a:lnTo>
                  <a:pt x="8" y="195"/>
                </a:lnTo>
                <a:lnTo>
                  <a:pt x="10" y="189"/>
                </a:lnTo>
                <a:lnTo>
                  <a:pt x="12" y="183"/>
                </a:lnTo>
                <a:lnTo>
                  <a:pt x="14" y="177"/>
                </a:lnTo>
                <a:lnTo>
                  <a:pt x="16" y="171"/>
                </a:lnTo>
                <a:lnTo>
                  <a:pt x="18" y="165"/>
                </a:lnTo>
                <a:lnTo>
                  <a:pt x="20" y="159"/>
                </a:lnTo>
                <a:lnTo>
                  <a:pt x="23" y="153"/>
                </a:lnTo>
                <a:lnTo>
                  <a:pt x="26" y="147"/>
                </a:lnTo>
                <a:lnTo>
                  <a:pt x="28" y="142"/>
                </a:lnTo>
                <a:lnTo>
                  <a:pt x="29" y="140"/>
                </a:lnTo>
                <a:lnTo>
                  <a:pt x="400" y="140"/>
                </a:lnTo>
                <a:close/>
              </a:path>
            </a:pathLst>
          </a:custGeom>
          <a:gradFill>
            <a:gsLst>
              <a:gs pos="0">
                <a:srgbClr val="51277C">
                  <a:alpha val="10000"/>
                </a:srgbClr>
              </a:gs>
              <a:gs pos="100000">
                <a:srgbClr val="7A45A8">
                  <a:alpha val="10000"/>
                </a:srgbClr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4" name=""/>
          <p:cNvSpPr/>
          <p:nvPr/>
        </p:nvSpPr>
        <p:spPr>
          <a:xfrm rot="0" flipH="0" flipV="0">
            <a:off x="-762000" y="4286250"/>
            <a:ext cx="3429000" cy="3429000"/>
          </a:xfrm>
          <a:custGeom>
            <a:pathLst>
              <a:path w="360" h="360">
                <a:moveTo>
                  <a:pt x="185" y="0"/>
                </a:moveTo>
                <a:cubicBezTo>
                  <a:pt x="248" y="2"/>
                  <a:pt x="306" y="37"/>
                  <a:pt x="337" y="92"/>
                </a:cubicBezTo>
                <a:cubicBezTo>
                  <a:pt x="368" y="147"/>
                  <a:pt x="368" y="215"/>
                  <a:pt x="336" y="270"/>
                </a:cubicBezTo>
                <a:lnTo>
                  <a:pt x="80" y="270"/>
                </a:lnTo>
                <a:lnTo>
                  <a:pt x="80" y="30"/>
                </a:lnTo>
                <a:cubicBezTo>
                  <a:pt x="110" y="11"/>
                  <a:pt x="144" y="0"/>
                  <a:pt x="180" y="0"/>
                </a:cubicBezTo>
                <a:close/>
              </a:path>
            </a:pathLst>
          </a:custGeom>
          <a:gradFill>
            <a:gsLst>
              <a:gs pos="0">
                <a:srgbClr val="AFC440">
                  <a:alpha val="14000"/>
                </a:srgbClr>
              </a:gs>
              <a:gs pos="100000">
                <a:srgbClr val="F3B26C">
                  <a:alpha val="14000"/>
                </a:srgbClr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609600" y="1552575"/>
            <a:ext cx="3057525" cy="371475"/>
          </a:xfrm>
          <a:prstGeom prst="roundRect">
            <a:avLst>
              <a:gd name="adj" fmla="val 2561538"/>
            </a:avLst>
          </a:pr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00100" y="1647825"/>
            <a:ext cx="190500" cy="19050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1085850" y="1638300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Verdana"/>
                <a:ea typeface="Verdana"/>
              </a:rPr>
              <a:t>Panduan Orang Tua Murid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609600" y="2171700"/>
            <a:ext cx="5915025" cy="8763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4950" b="1">
                <a:solidFill>
                  <a:srgbClr val="51277C"/>
                </a:solidFill>
                <a:latin typeface="Trebuchet MS"/>
                <a:ea typeface="Trebuchet MS"/>
              </a:rPr>
              <a:t>Pizza Snack Play</a:t>
            </a:r>
            <a:endParaRPr/>
          </a:p>
        </p:txBody>
      </p:sp>
      <p:sp>
        <p:nvSpPr>
          <p:cNvPr id="9" name=""/>
          <p:cNvSpPr/>
          <p:nvPr/>
        </p:nvSpPr>
        <p:spPr>
          <a:xfrm rot="0" flipH="0" flipV="0">
            <a:off x="609600" y="3219450"/>
            <a:ext cx="914400" cy="66675"/>
          </a:xfrm>
          <a:prstGeom prst="roundRect">
            <a:avLst>
              <a:gd name="adj" fmla="val 57143"/>
            </a:avLst>
          </a:pr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09600" y="3533775"/>
            <a:ext cx="5915025" cy="1228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725">
                <a:solidFill>
                  <a:srgbClr val="2A2333"/>
                </a:solidFill>
                <a:latin typeface="Verdana"/>
                <a:ea typeface="Verdana"/>
              </a:rPr>
              <a:t>Jadwal snack anak, giliran piket, dan menu hari ini —</a:t>
            </a:r>
            <a:r>
              <a:rPr lang="en-US" sz="1725" b="1">
                <a:solidFill>
                  <a:srgbClr val="51277C"/>
                </a:solidFill>
                <a:latin typeface="Verdana"/>
                <a:ea typeface="Verdana"/>
              </a:rPr>
              <a:t xml:space="preserve"> semuanya langsung kelihatan di HP</a:t>
            </a:r>
            <a:r>
              <a:rPr lang="en-US" sz="1725">
                <a:solidFill>
                  <a:srgbClr val="2A2333"/>
                </a:solidFill>
                <a:latin typeface="Verdana"/>
                <a:ea typeface="Verdana"/>
              </a:rPr>
              <a:t xml:space="preserve"> </a:t>
            </a:r>
            <a:r>
              <a:rPr lang="en-US" sz="1725">
                <a:solidFill>
                  <a:srgbClr val="2A2333"/>
                </a:solidFill>
                <a:latin typeface="Verdana"/>
                <a:ea typeface="Verdana"/>
              </a:rPr>
              <a:t>Bapak dan Ibu.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609600" y="4972050"/>
            <a:ext cx="5915025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425">
                <a:solidFill>
                  <a:srgbClr val="6B6478"/>
                </a:solidFill>
                <a:latin typeface="Verdana"/>
                <a:ea typeface="Verdana"/>
              </a:rPr>
              <a:t>Tidak perlu lagi tanya-tanya ke grup.</a:t>
            </a:r>
            <a:endParaRPr/>
          </a:p>
        </p:txBody>
      </p:sp>
      <p:pic>
        <p:nvPicPr>
          <p:cNvPr id="12" name=""/>
          <p:cNvPicPr>
            <a:picLocks noChangeAspect="1"/>
          </p:cNvPicPr>
          <p:nvPr/>
        </p:nvPicPr>
        <p:blipFill>
          <a:blip r:embed="rId2"/>
          <a:srcRect l="0" t="52" r="0" b="52"/>
          <a:stretch>
            <a:fillRect/>
          </a:stretch>
        </p:blipFill>
        <p:spPr>
          <a:xfrm rot="0" flipH="0" flipV="0">
            <a:off x="7610475" y="1219200"/>
            <a:ext cx="3810000" cy="3695700"/>
          </a:xfrm>
          <a:prstGeom prst="rect">
            <a:avLst/>
          </a:prstGeom>
          <a:ln/>
        </p:spPr>
      </p:pic>
      <p:sp>
        <p:nvSpPr>
          <p:cNvPr id="13" name=""/>
          <p:cNvSpPr/>
          <p:nvPr/>
        </p:nvSpPr>
        <p:spPr>
          <a:xfrm rot="0" flipH="0" flipV="0">
            <a:off x="8115300" y="5086350"/>
            <a:ext cx="2800350" cy="552450"/>
          </a:xfrm>
          <a:prstGeom prst="roundRect">
            <a:avLst>
              <a:gd name="adj" fmla="val 24138"/>
            </a:avLst>
          </a:prstGeom>
          <a:solidFill>
            <a:srgbClr val="51277C">
              <a:alpha val="7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324850" y="5200650"/>
            <a:ext cx="323850" cy="323850"/>
          </a:xfrm>
          <a:prstGeom prst="rect">
            <a:avLst/>
          </a:prstGeom>
          <a:ln/>
        </p:spPr>
      </p:pic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763000" y="5257800"/>
            <a:ext cx="1943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51277C"/>
                </a:solidFill>
                <a:latin typeface="Verdana"/>
                <a:ea typeface="Verdana"/>
              </a:rPr>
              <a:t>Senin sampai Jumat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3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Isi panduan ini</a:t>
            </a:r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sp>
        <p:nvSpPr>
          <p:cNvPr id="140" name=""/>
          <p:cNvSpPr/>
          <p:nvPr/>
        </p:nvSpPr>
        <p:spPr>
          <a:xfrm rot="0" flipH="0" flipV="0">
            <a:off x="609600" y="1238250"/>
            <a:ext cx="3429000" cy="5048250"/>
          </a:xfrm>
          <a:prstGeom prst="roundRect">
            <a:avLst>
              <a:gd name="adj" fmla="val 5000"/>
            </a:avLst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876300" y="1504950"/>
            <a:ext cx="2895600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>
                <a:solidFill>
                  <a:srgbClr val="FFFFFF"/>
                </a:solidFill>
                <a:latin typeface="Trebuchet MS"/>
                <a:ea typeface="Trebuchet MS"/>
              </a:rPr>
              <a:t>4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876300" y="2667000"/>
            <a:ext cx="2895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3B26C"/>
                </a:solidFill>
                <a:latin typeface="Trebuchet MS"/>
                <a:ea typeface="Trebuchet MS"/>
              </a:rPr>
              <a:t>bagian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876300" y="5429250"/>
            <a:ext cx="28956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FFFFFF">
                    <a:alpha val="88000"/>
                  </a:srgbClr>
                </a:solidFill>
                <a:latin typeface="Verdana"/>
                <a:ea typeface="Verdana"/>
              </a:rPr>
              <a:t>Singkat saja. Bagian 2 dan 3 yang paling sering dipakai sehari-hari.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4381500" y="1238250"/>
            <a:ext cx="7277100" cy="1162050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45" name=""/>
          <p:cNvSpPr/>
          <p:nvPr/>
        </p:nvSpPr>
        <p:spPr>
          <a:xfrm rot="0" flipH="0" flipV="0">
            <a:off x="4381500" y="1238250"/>
            <a:ext cx="7277100" cy="1162050"/>
          </a:xfrm>
          <a:custGeom>
            <a:pathLst>
              <a:path w="764" h="122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14"/>
                </a:lnTo>
                <a:cubicBezTo>
                  <a:pt x="8" y="118"/>
                  <a:pt x="11" y="121"/>
                  <a:pt x="14" y="122"/>
                </a:cubicBezTo>
                <a:cubicBezTo>
                  <a:pt x="6" y="121"/>
                  <a:pt x="0" y="114"/>
                  <a:pt x="0" y="106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146" name=""/>
          <p:cNvSpPr/>
          <p:nvPr/>
        </p:nvSpPr>
        <p:spPr>
          <a:xfrm rot="0" flipH="0" flipV="0">
            <a:off x="4610100" y="15525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51277C">
              <a:alpha val="9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4743450" y="1685925"/>
            <a:ext cx="2762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01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5334000" y="1457325"/>
            <a:ext cx="5438775" cy="3714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75" b="1">
                <a:solidFill>
                  <a:srgbClr val="2A2333"/>
                </a:solidFill>
                <a:latin typeface="Trebuchet MS"/>
                <a:ea typeface="Trebuchet MS"/>
              </a:rPr>
              <a:t>Kenapa ada aplikasi ini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5334000" y="1876425"/>
            <a:ext cx="5438775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Masalah yang selama ini bikin repot, dan apa yang berubah.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10963275" y="1724025"/>
            <a:ext cx="352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51277C"/>
                </a:solidFill>
                <a:latin typeface="Verdana"/>
                <a:ea typeface="Verdana"/>
              </a:rPr>
              <a:t>3–5</a:t>
            </a:r>
            <a:endParaRPr/>
          </a:p>
        </p:txBody>
      </p:sp>
      <p:sp>
        <p:nvSpPr>
          <p:cNvPr id="151" name=""/>
          <p:cNvSpPr/>
          <p:nvPr/>
        </p:nvSpPr>
        <p:spPr>
          <a:xfrm rot="0" flipH="0" flipV="0">
            <a:off x="4381500" y="2533650"/>
            <a:ext cx="7277100" cy="1162050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4381500" y="2533650"/>
            <a:ext cx="7277100" cy="1162050"/>
          </a:xfrm>
          <a:custGeom>
            <a:pathLst>
              <a:path w="764" h="122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14"/>
                </a:lnTo>
                <a:cubicBezTo>
                  <a:pt x="8" y="118"/>
                  <a:pt x="11" y="121"/>
                  <a:pt x="14" y="122"/>
                </a:cubicBezTo>
                <a:cubicBezTo>
                  <a:pt x="6" y="121"/>
                  <a:pt x="0" y="114"/>
                  <a:pt x="0" y="106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153" name=""/>
          <p:cNvSpPr/>
          <p:nvPr/>
        </p:nvSpPr>
        <p:spPr>
          <a:xfrm rot="0" flipH="0" flipV="0">
            <a:off x="4610100" y="28479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51277C">
              <a:alpha val="9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4743450" y="2981325"/>
            <a:ext cx="2762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02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5334000" y="2752725"/>
            <a:ext cx="5438775" cy="3714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75" b="1">
                <a:solidFill>
                  <a:srgbClr val="2A2333"/>
                </a:solidFill>
                <a:latin typeface="Trebuchet MS"/>
                <a:ea typeface="Trebuchet MS"/>
              </a:rPr>
              <a:t>Cara mulai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5334000" y="3171825"/>
            <a:ext cx="5438775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Memasang aplikasi di HP, lalu masuk memakai akun dari sekolah.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10963275" y="3019425"/>
            <a:ext cx="352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51277C"/>
                </a:solidFill>
                <a:latin typeface="Verdana"/>
                <a:ea typeface="Verdana"/>
              </a:rPr>
              <a:t>6–8</a:t>
            </a:r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4381500" y="3829050"/>
            <a:ext cx="7277100" cy="1162050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59" name=""/>
          <p:cNvSpPr/>
          <p:nvPr/>
        </p:nvSpPr>
        <p:spPr>
          <a:xfrm rot="0" flipH="0" flipV="0">
            <a:off x="4381500" y="3829050"/>
            <a:ext cx="7277100" cy="1162050"/>
          </a:xfrm>
          <a:custGeom>
            <a:pathLst>
              <a:path w="764" h="122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14"/>
                </a:lnTo>
                <a:cubicBezTo>
                  <a:pt x="8" y="118"/>
                  <a:pt x="11" y="121"/>
                  <a:pt x="14" y="122"/>
                </a:cubicBezTo>
                <a:cubicBezTo>
                  <a:pt x="6" y="121"/>
                  <a:pt x="0" y="114"/>
                  <a:pt x="0" y="106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160" name=""/>
          <p:cNvSpPr/>
          <p:nvPr/>
        </p:nvSpPr>
        <p:spPr>
          <a:xfrm rot="0" flipH="0" flipV="0">
            <a:off x="4610100" y="41433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51277C">
              <a:alpha val="9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4743450" y="4276725"/>
            <a:ext cx="2762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03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5334000" y="4048125"/>
            <a:ext cx="5324475" cy="3714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75" b="1">
                <a:solidFill>
                  <a:srgbClr val="2A2333"/>
                </a:solidFill>
                <a:latin typeface="Trebuchet MS"/>
                <a:ea typeface="Trebuchet MS"/>
              </a:rPr>
              <a:t>Dipakai tiap hari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5334000" y="4467225"/>
            <a:ext cx="5324475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Melihat jadwal snack, mengambil tanggal piket, mencari menu.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10848975" y="4314825"/>
            <a:ext cx="4667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51277C"/>
                </a:solidFill>
                <a:latin typeface="Verdana"/>
                <a:ea typeface="Verdana"/>
              </a:rPr>
              <a:t>9–12</a:t>
            </a:r>
            <a:endParaRPr/>
          </a:p>
        </p:txBody>
      </p:sp>
      <p:sp>
        <p:nvSpPr>
          <p:cNvPr id="165" name=""/>
          <p:cNvSpPr/>
          <p:nvPr/>
        </p:nvSpPr>
        <p:spPr>
          <a:xfrm rot="0" flipH="0" flipV="0">
            <a:off x="4381500" y="5124450"/>
            <a:ext cx="7277100" cy="1162050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66" name=""/>
          <p:cNvSpPr/>
          <p:nvPr/>
        </p:nvSpPr>
        <p:spPr>
          <a:xfrm rot="0" flipH="0" flipV="0">
            <a:off x="4381500" y="5124450"/>
            <a:ext cx="7277100" cy="1162050"/>
          </a:xfrm>
          <a:custGeom>
            <a:pathLst>
              <a:path w="764" h="122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14"/>
                </a:lnTo>
                <a:cubicBezTo>
                  <a:pt x="8" y="118"/>
                  <a:pt x="11" y="121"/>
                  <a:pt x="14" y="122"/>
                </a:cubicBezTo>
                <a:cubicBezTo>
                  <a:pt x="6" y="121"/>
                  <a:pt x="0" y="114"/>
                  <a:pt x="0" y="106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167" name=""/>
          <p:cNvSpPr/>
          <p:nvPr/>
        </p:nvSpPr>
        <p:spPr>
          <a:xfrm rot="0" flipH="0" flipV="0">
            <a:off x="4610100" y="54387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51277C">
              <a:alpha val="9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4743450" y="5572125"/>
            <a:ext cx="2762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04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5334000" y="5343525"/>
            <a:ext cx="5210175" cy="3714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75" b="1">
                <a:solidFill>
                  <a:srgbClr val="2A2333"/>
                </a:solidFill>
                <a:latin typeface="Trebuchet MS"/>
                <a:ea typeface="Trebuchet MS"/>
              </a:rPr>
              <a:t>Yang perlu diingat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5334000" y="5762625"/>
            <a:ext cx="5210175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Empat aturan yang paling sering ditanyakan orang tua.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10734675" y="5610225"/>
            <a:ext cx="581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51277C"/>
                </a:solidFill>
                <a:latin typeface="Verdana"/>
                <a:ea typeface="Verdana"/>
              </a:rPr>
              <a:t>13–14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562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Orang Tua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02 / 15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7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8763000" y="-952500"/>
            <a:ext cx="4000500" cy="4000500"/>
          </a:xfrm>
          <a:custGeom>
            <a:pathLst>
              <a:path w="420" h="420">
                <a:moveTo>
                  <a:pt x="360" y="357"/>
                </a:moveTo>
                <a:lnTo>
                  <a:pt x="358" y="358"/>
                </a:lnTo>
                <a:lnTo>
                  <a:pt x="355" y="362"/>
                </a:lnTo>
                <a:lnTo>
                  <a:pt x="351" y="365"/>
                </a:lnTo>
                <a:lnTo>
                  <a:pt x="347" y="369"/>
                </a:lnTo>
                <a:lnTo>
                  <a:pt x="344" y="372"/>
                </a:lnTo>
                <a:lnTo>
                  <a:pt x="340" y="375"/>
                </a:lnTo>
                <a:lnTo>
                  <a:pt x="336" y="378"/>
                </a:lnTo>
                <a:lnTo>
                  <a:pt x="332" y="381"/>
                </a:lnTo>
                <a:lnTo>
                  <a:pt x="327" y="384"/>
                </a:lnTo>
                <a:lnTo>
                  <a:pt x="323" y="387"/>
                </a:lnTo>
                <a:lnTo>
                  <a:pt x="319" y="390"/>
                </a:lnTo>
                <a:lnTo>
                  <a:pt x="314" y="392"/>
                </a:lnTo>
                <a:lnTo>
                  <a:pt x="310" y="395"/>
                </a:lnTo>
                <a:lnTo>
                  <a:pt x="306" y="397"/>
                </a:lnTo>
                <a:lnTo>
                  <a:pt x="301" y="399"/>
                </a:lnTo>
                <a:lnTo>
                  <a:pt x="296" y="401"/>
                </a:lnTo>
                <a:lnTo>
                  <a:pt x="292" y="403"/>
                </a:lnTo>
                <a:lnTo>
                  <a:pt x="287" y="405"/>
                </a:lnTo>
                <a:lnTo>
                  <a:pt x="282" y="407"/>
                </a:lnTo>
                <a:lnTo>
                  <a:pt x="277" y="409"/>
                </a:lnTo>
                <a:lnTo>
                  <a:pt x="272" y="411"/>
                </a:lnTo>
                <a:lnTo>
                  <a:pt x="267" y="412"/>
                </a:lnTo>
                <a:lnTo>
                  <a:pt x="262" y="413"/>
                </a:lnTo>
                <a:lnTo>
                  <a:pt x="257" y="415"/>
                </a:lnTo>
                <a:lnTo>
                  <a:pt x="252" y="416"/>
                </a:lnTo>
                <a:lnTo>
                  <a:pt x="247" y="417"/>
                </a:lnTo>
                <a:lnTo>
                  <a:pt x="242" y="418"/>
                </a:lnTo>
                <a:lnTo>
                  <a:pt x="237" y="418"/>
                </a:lnTo>
                <a:lnTo>
                  <a:pt x="231" y="419"/>
                </a:lnTo>
                <a:lnTo>
                  <a:pt x="226" y="419"/>
                </a:lnTo>
                <a:lnTo>
                  <a:pt x="221" y="420"/>
                </a:lnTo>
                <a:lnTo>
                  <a:pt x="215" y="420"/>
                </a:lnTo>
                <a:lnTo>
                  <a:pt x="210" y="420"/>
                </a:lnTo>
                <a:lnTo>
                  <a:pt x="205" y="420"/>
                </a:lnTo>
                <a:lnTo>
                  <a:pt x="199" y="420"/>
                </a:lnTo>
                <a:lnTo>
                  <a:pt x="194" y="419"/>
                </a:lnTo>
                <a:lnTo>
                  <a:pt x="189" y="419"/>
                </a:lnTo>
                <a:lnTo>
                  <a:pt x="183" y="418"/>
                </a:lnTo>
                <a:lnTo>
                  <a:pt x="178" y="418"/>
                </a:lnTo>
                <a:lnTo>
                  <a:pt x="173" y="417"/>
                </a:lnTo>
                <a:lnTo>
                  <a:pt x="168" y="416"/>
                </a:lnTo>
                <a:lnTo>
                  <a:pt x="163" y="415"/>
                </a:lnTo>
                <a:lnTo>
                  <a:pt x="158" y="413"/>
                </a:lnTo>
                <a:lnTo>
                  <a:pt x="153" y="412"/>
                </a:lnTo>
                <a:lnTo>
                  <a:pt x="148" y="411"/>
                </a:lnTo>
                <a:lnTo>
                  <a:pt x="143" y="409"/>
                </a:lnTo>
                <a:lnTo>
                  <a:pt x="138" y="407"/>
                </a:lnTo>
                <a:lnTo>
                  <a:pt x="133" y="405"/>
                </a:lnTo>
                <a:lnTo>
                  <a:pt x="128" y="403"/>
                </a:lnTo>
                <a:lnTo>
                  <a:pt x="124" y="401"/>
                </a:lnTo>
                <a:lnTo>
                  <a:pt x="119" y="399"/>
                </a:lnTo>
                <a:lnTo>
                  <a:pt x="114" y="397"/>
                </a:lnTo>
                <a:lnTo>
                  <a:pt x="110" y="395"/>
                </a:lnTo>
                <a:lnTo>
                  <a:pt x="106" y="392"/>
                </a:lnTo>
                <a:lnTo>
                  <a:pt x="101" y="390"/>
                </a:lnTo>
                <a:lnTo>
                  <a:pt x="97" y="387"/>
                </a:lnTo>
                <a:lnTo>
                  <a:pt x="93" y="384"/>
                </a:lnTo>
                <a:lnTo>
                  <a:pt x="88" y="381"/>
                </a:lnTo>
                <a:lnTo>
                  <a:pt x="84" y="378"/>
                </a:lnTo>
                <a:lnTo>
                  <a:pt x="80" y="375"/>
                </a:lnTo>
                <a:lnTo>
                  <a:pt x="76" y="372"/>
                </a:lnTo>
                <a:lnTo>
                  <a:pt x="73" y="369"/>
                </a:lnTo>
                <a:lnTo>
                  <a:pt x="69" y="365"/>
                </a:lnTo>
                <a:lnTo>
                  <a:pt x="65" y="362"/>
                </a:lnTo>
                <a:lnTo>
                  <a:pt x="62" y="358"/>
                </a:lnTo>
                <a:lnTo>
                  <a:pt x="58" y="355"/>
                </a:lnTo>
                <a:lnTo>
                  <a:pt x="55" y="351"/>
                </a:lnTo>
                <a:lnTo>
                  <a:pt x="51" y="347"/>
                </a:lnTo>
                <a:lnTo>
                  <a:pt x="48" y="344"/>
                </a:lnTo>
                <a:lnTo>
                  <a:pt x="45" y="340"/>
                </a:lnTo>
                <a:lnTo>
                  <a:pt x="42" y="336"/>
                </a:lnTo>
                <a:lnTo>
                  <a:pt x="39" y="332"/>
                </a:lnTo>
                <a:lnTo>
                  <a:pt x="36" y="327"/>
                </a:lnTo>
                <a:lnTo>
                  <a:pt x="33" y="323"/>
                </a:lnTo>
                <a:lnTo>
                  <a:pt x="30" y="319"/>
                </a:lnTo>
                <a:lnTo>
                  <a:pt x="28" y="314"/>
                </a:lnTo>
                <a:lnTo>
                  <a:pt x="25" y="310"/>
                </a:lnTo>
                <a:lnTo>
                  <a:pt x="23" y="306"/>
                </a:lnTo>
                <a:lnTo>
                  <a:pt x="21" y="301"/>
                </a:lnTo>
                <a:lnTo>
                  <a:pt x="19" y="296"/>
                </a:lnTo>
                <a:lnTo>
                  <a:pt x="17" y="292"/>
                </a:lnTo>
                <a:lnTo>
                  <a:pt x="15" y="287"/>
                </a:lnTo>
                <a:lnTo>
                  <a:pt x="13" y="282"/>
                </a:lnTo>
                <a:lnTo>
                  <a:pt x="11" y="277"/>
                </a:lnTo>
                <a:lnTo>
                  <a:pt x="9" y="272"/>
                </a:lnTo>
                <a:lnTo>
                  <a:pt x="8" y="267"/>
                </a:lnTo>
                <a:lnTo>
                  <a:pt x="7" y="262"/>
                </a:lnTo>
                <a:lnTo>
                  <a:pt x="5" y="257"/>
                </a:lnTo>
                <a:lnTo>
                  <a:pt x="4" y="252"/>
                </a:lnTo>
                <a:lnTo>
                  <a:pt x="3" y="247"/>
                </a:lnTo>
                <a:lnTo>
                  <a:pt x="2" y="242"/>
                </a:lnTo>
                <a:lnTo>
                  <a:pt x="2" y="237"/>
                </a:lnTo>
                <a:lnTo>
                  <a:pt x="1" y="231"/>
                </a:lnTo>
                <a:lnTo>
                  <a:pt x="1" y="226"/>
                </a:lnTo>
                <a:lnTo>
                  <a:pt x="0" y="221"/>
                </a:lnTo>
                <a:lnTo>
                  <a:pt x="0" y="215"/>
                </a:lnTo>
                <a:lnTo>
                  <a:pt x="0" y="210"/>
                </a:lnTo>
                <a:lnTo>
                  <a:pt x="0" y="205"/>
                </a:lnTo>
                <a:lnTo>
                  <a:pt x="0" y="199"/>
                </a:lnTo>
                <a:lnTo>
                  <a:pt x="1" y="194"/>
                </a:lnTo>
                <a:lnTo>
                  <a:pt x="1" y="189"/>
                </a:lnTo>
                <a:lnTo>
                  <a:pt x="2" y="183"/>
                </a:lnTo>
                <a:lnTo>
                  <a:pt x="2" y="178"/>
                </a:lnTo>
                <a:lnTo>
                  <a:pt x="3" y="173"/>
                </a:lnTo>
                <a:lnTo>
                  <a:pt x="4" y="168"/>
                </a:lnTo>
                <a:lnTo>
                  <a:pt x="5" y="163"/>
                </a:lnTo>
                <a:lnTo>
                  <a:pt x="7" y="158"/>
                </a:lnTo>
                <a:lnTo>
                  <a:pt x="8" y="153"/>
                </a:lnTo>
                <a:lnTo>
                  <a:pt x="9" y="148"/>
                </a:lnTo>
                <a:lnTo>
                  <a:pt x="11" y="143"/>
                </a:lnTo>
                <a:lnTo>
                  <a:pt x="13" y="138"/>
                </a:lnTo>
                <a:lnTo>
                  <a:pt x="15" y="133"/>
                </a:lnTo>
                <a:lnTo>
                  <a:pt x="17" y="128"/>
                </a:lnTo>
                <a:lnTo>
                  <a:pt x="19" y="124"/>
                </a:lnTo>
                <a:lnTo>
                  <a:pt x="21" y="119"/>
                </a:lnTo>
                <a:lnTo>
                  <a:pt x="23" y="114"/>
                </a:lnTo>
                <a:lnTo>
                  <a:pt x="25" y="110"/>
                </a:lnTo>
                <a:lnTo>
                  <a:pt x="28" y="106"/>
                </a:lnTo>
                <a:lnTo>
                  <a:pt x="30" y="101"/>
                </a:lnTo>
                <a:lnTo>
                  <a:pt x="31" y="100"/>
                </a:lnTo>
                <a:lnTo>
                  <a:pt x="360" y="100"/>
                </a:lnTo>
                <a:close/>
              </a:path>
            </a:pathLst>
          </a:custGeom>
          <a:solidFill>
            <a:srgbClr val="AFC440">
              <a:alpha val="14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177" name=""/>
          <p:cNvPicPr>
            <a:picLocks noChangeAspect="1"/>
          </p:cNvPicPr>
          <p:nvPr/>
        </p:nvPicPr>
        <p:blipFill>
          <a:blip r:embed="rId1"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163050" y="4610100"/>
            <a:ext cx="2286000" cy="1809750"/>
          </a:xfrm>
          <a:prstGeom prst="rect">
            <a:avLst/>
          </a:prstGeom>
          <a:ln/>
        </p:spPr>
      </p:pic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685800" y="1771650"/>
            <a:ext cx="857250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>
                <a:solidFill>
                  <a:srgbClr val="F3B26C"/>
                </a:solidFill>
                <a:latin typeface="Trebuchet MS"/>
                <a:ea typeface="Trebuchet MS"/>
              </a:rPr>
              <a:t>01</a:t>
            </a:r>
            <a:endParaRPr/>
          </a:p>
        </p:txBody>
      </p:sp>
      <p:sp>
        <p:nvSpPr>
          <p:cNvPr id="179" name=""/>
          <p:cNvSpPr/>
          <p:nvPr/>
        </p:nvSpPr>
        <p:spPr>
          <a:xfrm rot="0" flipH="0" flipV="0">
            <a:off x="1676400" y="1962150"/>
            <a:ext cx="28575" cy="495300"/>
          </a:xfrm>
          <a:prstGeom prst="rect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1838325" y="2105025"/>
            <a:ext cx="1447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FFFFF">
                    <a:alpha val="80000"/>
                  </a:srgbClr>
                </a:solidFill>
                <a:latin typeface="Verdana"/>
                <a:ea typeface="Verdana"/>
              </a:rPr>
              <a:t>Bagian pertama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685800" y="2895600"/>
            <a:ext cx="6705600" cy="158115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FFFFFF"/>
                </a:solidFill>
                <a:latin typeface="Trebuchet MS"/>
                <a:ea typeface="Trebuchet MS"/>
              </a:rPr>
              <a:t>Kenapa ada</a:t>
            </a:r>
            <a:endParaRPr/>
          </a:p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FFFFFF"/>
                </a:solidFill>
                <a:latin typeface="Trebuchet MS"/>
                <a:ea typeface="Trebuchet MS"/>
              </a:rPr>
              <a:t>aplikasi ini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685800" y="4705350"/>
            <a:ext cx="67056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650">
                <a:solidFill>
                  <a:srgbClr val="FFFFFF">
                    <a:alpha val="88000"/>
                  </a:srgbClr>
                </a:solidFill>
                <a:latin typeface="Verdana"/>
                <a:ea typeface="Verdana"/>
              </a:rPr>
              <a:t>Kita mulai dari keluhan yang paling sering terdengar.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8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Dulu, begini masalahnya</a:t>
            </a:r>
            <a:endParaRPr/>
          </a:p>
        </p:txBody>
      </p:sp>
      <p:sp>
        <p:nvSpPr>
          <p:cNvPr id="186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sp>
        <p:nvSpPr>
          <p:cNvPr id="187" name=""/>
          <p:cNvSpPr/>
          <p:nvPr/>
        </p:nvSpPr>
        <p:spPr>
          <a:xfrm rot="0" flipH="0" flipV="0">
            <a:off x="609600" y="1238250"/>
            <a:ext cx="6419850" cy="5048250"/>
          </a:xfrm>
          <a:prstGeom prst="roundRect">
            <a:avLst>
              <a:gd name="adj" fmla="val 3774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188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66775" y="1714500"/>
            <a:ext cx="5905500" cy="4095750"/>
          </a:xfrm>
          <a:prstGeom prst="rect">
            <a:avLst/>
          </a:prstGeom>
          <a:ln/>
        </p:spPr>
      </p:pic>
      <p:sp>
        <p:nvSpPr>
          <p:cNvPr id="189" name=""/>
          <p:cNvSpPr/>
          <p:nvPr/>
        </p:nvSpPr>
        <p:spPr>
          <a:xfrm rot="0" flipH="0" flipV="0">
            <a:off x="7296150" y="1238250"/>
            <a:ext cx="428625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90" name=""/>
          <p:cNvSpPr/>
          <p:nvPr/>
        </p:nvSpPr>
        <p:spPr>
          <a:xfrm rot="0" flipH="0" flipV="0">
            <a:off x="7486650" y="142875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191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91425" y="1533525"/>
            <a:ext cx="247650" cy="247650"/>
          </a:xfrm>
          <a:prstGeom prst="rect">
            <a:avLst/>
          </a:prstGeom>
          <a:ln/>
        </p:spPr>
      </p:pic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8077200" y="1428750"/>
            <a:ext cx="3314700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2A2333"/>
                </a:solidFill>
                <a:latin typeface="Trebuchet MS"/>
                <a:ea typeface="Trebuchet MS"/>
              </a:rPr>
              <a:t>Menu harus ditanya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7486650" y="2000250"/>
            <a:ext cx="3905250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Tidak ada satu tempat yang jadi rujukan. Jawabannya kadang lambat, kadang beda-beda.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7486650" y="2457450"/>
            <a:ext cx="3905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51277C"/>
                </a:solidFill>
                <a:latin typeface="Verdana"/>
                <a:ea typeface="Verdana"/>
              </a:rPr>
              <a:t>Setiap hari</a:t>
            </a:r>
            <a:endParaRPr/>
          </a:p>
        </p:txBody>
      </p:sp>
      <p:sp>
        <p:nvSpPr>
          <p:cNvPr id="195" name=""/>
          <p:cNvSpPr/>
          <p:nvPr/>
        </p:nvSpPr>
        <p:spPr>
          <a:xfrm rot="0" flipH="0" flipV="0">
            <a:off x="7296150" y="2971800"/>
            <a:ext cx="428625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96" name=""/>
          <p:cNvSpPr/>
          <p:nvPr/>
        </p:nvSpPr>
        <p:spPr>
          <a:xfrm rot="0" flipH="0" flipV="0">
            <a:off x="7486650" y="31623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197" name="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591425" y="3267075"/>
            <a:ext cx="247650" cy="247650"/>
          </a:xfrm>
          <a:prstGeom prst="rect">
            <a:avLst/>
          </a:prstGeom>
          <a:ln/>
        </p:spPr>
      </p:pic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8077200" y="3162300"/>
            <a:ext cx="3314700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2A2333"/>
                </a:solidFill>
                <a:latin typeface="Trebuchet MS"/>
                <a:ea typeface="Trebuchet MS"/>
              </a:rPr>
              <a:t>Riwayat hilang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7486650" y="3733800"/>
            <a:ext cx="390525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Menu bulan lalu tidak tersimpan rapi. Ingin tahu rotasinya, harus buka-buka lagi.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7486650" y="4191000"/>
            <a:ext cx="3905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51277C"/>
                </a:solidFill>
                <a:latin typeface="Verdana"/>
                <a:ea typeface="Verdana"/>
              </a:rPr>
              <a:t>Tidak bisa dilacak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7372350" y="4705350"/>
            <a:ext cx="428625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02" name=""/>
          <p:cNvSpPr/>
          <p:nvPr/>
        </p:nvSpPr>
        <p:spPr>
          <a:xfrm rot="0" flipH="0" flipV="0">
            <a:off x="7372350" y="4705350"/>
            <a:ext cx="4286250" cy="1581150"/>
          </a:xfrm>
          <a:custGeom>
            <a:pathLst>
              <a:path w="450" h="16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8"/>
                </a:lnTo>
                <a:cubicBezTo>
                  <a:pt x="8" y="162"/>
                  <a:pt x="11" y="165"/>
                  <a:pt x="14" y="166"/>
                </a:cubicBezTo>
                <a:cubicBezTo>
                  <a:pt x="6" y="165"/>
                  <a:pt x="0" y="158"/>
                  <a:pt x="0" y="15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7562850" y="489585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3B26C">
              <a:alpha val="28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204" name="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667625" y="5000625"/>
            <a:ext cx="247650" cy="247650"/>
          </a:xfrm>
          <a:prstGeom prst="rect">
            <a:avLst/>
          </a:prstGeom>
          <a:ln/>
        </p:spPr>
      </p:pic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8153400" y="4895850"/>
            <a:ext cx="3238500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2A2333"/>
                </a:solidFill>
                <a:latin typeface="Trebuchet MS"/>
                <a:ea typeface="Trebuchet MS"/>
              </a:rPr>
              <a:t>Rebutan tanggal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7562850" y="5467350"/>
            <a:ext cx="382905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Dua orang bisa merasa sama-sama sudah mengambil tanggal yang sama.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7562850" y="5924550"/>
            <a:ext cx="3829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51277C"/>
                </a:solidFill>
                <a:latin typeface="Verdana"/>
                <a:ea typeface="Verdana"/>
              </a:rPr>
              <a:t>Paling sering jadi masalah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562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Orang Tua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04 / 15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1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Sekarang: cukup satu aplikasi</a:t>
            </a:r>
            <a:endParaRPr/>
          </a:p>
        </p:txBody>
      </p:sp>
      <p:sp>
        <p:nvSpPr>
          <p:cNvPr id="213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sp>
        <p:nvSpPr>
          <p:cNvPr id="214" name=""/>
          <p:cNvSpPr/>
          <p:nvPr/>
        </p:nvSpPr>
        <p:spPr>
          <a:xfrm rot="0" flipH="0" flipV="0">
            <a:off x="609600" y="1571625"/>
            <a:ext cx="1190625" cy="342900"/>
          </a:xfrm>
          <a:prstGeom prst="roundRect">
            <a:avLst>
              <a:gd name="adj" fmla="val 2775000"/>
            </a:avLst>
          </a:prstGeom>
          <a:solidFill>
            <a:srgbClr val="AFC440">
              <a:alpha val="28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781050" y="1647825"/>
            <a:ext cx="8286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F5A24"/>
                </a:solidFill>
                <a:latin typeface="Verdana"/>
                <a:ea typeface="Verdana"/>
              </a:rPr>
              <a:t>Solusinya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609600" y="2085975"/>
            <a:ext cx="4829175" cy="12096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51277C"/>
                </a:solidFill>
                <a:latin typeface="Trebuchet MS"/>
                <a:ea typeface="Trebuchet MS"/>
              </a:rPr>
              <a:t>Menu jelas,</a:t>
            </a:r>
            <a:endParaRPr/>
          </a:p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51277C"/>
                </a:solidFill>
                <a:latin typeface="Trebuchet MS"/>
                <a:ea typeface="Trebuchet MS"/>
              </a:rPr>
              <a:t>giliran jelas.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609600" y="3448050"/>
            <a:ext cx="4829175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575">
                <a:solidFill>
                  <a:srgbClr val="2A2333"/>
                </a:solidFill>
                <a:latin typeface="Verdana"/>
                <a:ea typeface="Verdana"/>
              </a:rPr>
              <a:t>Tidak perlu tanya-tanya lagi ke grup.</a:t>
            </a:r>
            <a:endParaRPr/>
          </a:p>
        </p:txBody>
      </p:sp>
      <p:sp>
        <p:nvSpPr>
          <p:cNvPr id="218" name=""/>
          <p:cNvSpPr/>
          <p:nvPr/>
        </p:nvSpPr>
        <p:spPr>
          <a:xfrm rot="0" flipH="0" flipV="0">
            <a:off x="609600" y="401955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pic>
        <p:nvPicPr>
          <p:cNvPr id="219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85800" y="4095750"/>
            <a:ext cx="171450" cy="171450"/>
          </a:xfrm>
          <a:prstGeom prst="rect">
            <a:avLst/>
          </a:prstGeom>
          <a:ln/>
        </p:spPr>
      </p:pic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1066800" y="4067175"/>
            <a:ext cx="3305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2A2333"/>
                </a:solidFill>
                <a:latin typeface="Verdana"/>
                <a:ea typeface="Verdana"/>
              </a:rPr>
              <a:t>Jadwal snack kelihatan kapan saja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609600" y="447675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pic>
        <p:nvPicPr>
          <p:cNvPr id="222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85800" y="4552950"/>
            <a:ext cx="171450" cy="171450"/>
          </a:xfrm>
          <a:prstGeom prst="rect">
            <a:avLst/>
          </a:prstGeom>
          <a:ln/>
        </p:spPr>
      </p:pic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1066800" y="4524375"/>
            <a:ext cx="2933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2A2333"/>
                </a:solidFill>
                <a:latin typeface="Verdana"/>
                <a:ea typeface="Verdana"/>
              </a:rPr>
              <a:t>Giliran piket anak tercatat rapi</a:t>
            </a:r>
            <a:endParaRPr/>
          </a:p>
        </p:txBody>
      </p:sp>
      <p:sp>
        <p:nvSpPr>
          <p:cNvPr id="224" name=""/>
          <p:cNvSpPr/>
          <p:nvPr/>
        </p:nvSpPr>
        <p:spPr>
          <a:xfrm rot="0" flipH="0" flipV="0">
            <a:off x="609600" y="493395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pic>
        <p:nvPicPr>
          <p:cNvPr id="225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85800" y="5010150"/>
            <a:ext cx="171450" cy="171450"/>
          </a:xfrm>
          <a:prstGeom prst="rect">
            <a:avLst/>
          </a:prstGeom>
          <a:ln/>
        </p:spPr>
      </p:pic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1066800" y="4981575"/>
            <a:ext cx="34004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2A2333"/>
                </a:solidFill>
                <a:latin typeface="Verdana"/>
                <a:ea typeface="Verdana"/>
              </a:rPr>
              <a:t>Tanggal kosong bisa diambil sendiri</a:t>
            </a:r>
            <a:endParaRPr/>
          </a:p>
        </p:txBody>
      </p:sp>
      <p:sp>
        <p:nvSpPr>
          <p:cNvPr id="227" name=""/>
          <p:cNvSpPr/>
          <p:nvPr/>
        </p:nvSpPr>
        <p:spPr>
          <a:xfrm rot="0" flipH="0" flipV="0">
            <a:off x="609600" y="5486400"/>
            <a:ext cx="2771775" cy="466725"/>
          </a:xfrm>
          <a:prstGeom prst="roundRect">
            <a:avLst>
              <a:gd name="adj" fmla="val 28571"/>
            </a:avLst>
          </a:pr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838200" y="5610225"/>
            <a:ext cx="2295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51277C"/>
                </a:solidFill>
                <a:latin typeface="Trebuchet MS"/>
                <a:ea typeface="Trebuchet MS"/>
              </a:rPr>
              <a:t>Satu tempat. Satu rujukan.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562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Orang Tua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05 / 15</a:t>
            </a:r>
            <a:endParaRPr/>
          </a:p>
        </p:txBody>
      </p:sp>
      <p:sp>
        <p:nvSpPr>
          <p:cNvPr id="231" name=""/>
          <p:cNvSpPr/>
          <p:nvPr/>
        </p:nvSpPr>
        <p:spPr>
          <a:xfrm rot="0" flipH="0" flipV="0">
            <a:off x="5705475" y="1238250"/>
            <a:ext cx="5705475" cy="5048250"/>
          </a:xfrm>
          <a:prstGeom prst="roundRect">
            <a:avLst>
              <a:gd name="adj" fmla="val 3774"/>
            </a:avLst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232" name=""/>
          <p:cNvSpPr/>
          <p:nvPr/>
        </p:nvSpPr>
        <p:spPr>
          <a:xfrm rot="0" flipH="0" flipV="0">
            <a:off x="4848225" y="190500"/>
            <a:ext cx="3238500" cy="3238500"/>
          </a:xfrm>
          <a:custGeom>
            <a:pathLst>
              <a:path w="340" h="340">
                <a:moveTo>
                  <a:pt x="330" y="112"/>
                </a:moveTo>
                <a:cubicBezTo>
                  <a:pt x="354" y="178"/>
                  <a:pt x="335" y="252"/>
                  <a:pt x="282" y="298"/>
                </a:cubicBezTo>
                <a:cubicBezTo>
                  <a:pt x="228" y="344"/>
                  <a:pt x="152" y="353"/>
                  <a:pt x="90" y="320"/>
                </a:cubicBezTo>
                <a:lnTo>
                  <a:pt x="90" y="130"/>
                </a:lnTo>
                <a:cubicBezTo>
                  <a:pt x="90" y="119"/>
                  <a:pt x="99" y="110"/>
                  <a:pt x="110" y="110"/>
                </a:cubicBezTo>
                <a:lnTo>
                  <a:pt x="329" y="110"/>
                </a:lnTo>
                <a:close/>
              </a:path>
            </a:pathLst>
          </a:custGeom>
          <a:solidFill>
            <a:srgbClr val="AFC440">
              <a:alpha val="16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233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772275" y="1428750"/>
            <a:ext cx="3581400" cy="466725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3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236" name=""/>
          <p:cNvSpPr/>
          <p:nvPr/>
        </p:nvSpPr>
        <p:spPr>
          <a:xfrm rot="0" flipH="0" flipV="0">
            <a:off x="8667750" y="3810000"/>
            <a:ext cx="4191000" cy="4191000"/>
          </a:xfrm>
          <a:custGeom>
            <a:pathLst>
              <a:path w="440" h="440">
                <a:moveTo>
                  <a:pt x="226" y="0"/>
                </a:moveTo>
                <a:lnTo>
                  <a:pt x="231" y="0"/>
                </a:lnTo>
                <a:lnTo>
                  <a:pt x="237" y="1"/>
                </a:lnTo>
                <a:lnTo>
                  <a:pt x="242" y="1"/>
                </a:lnTo>
                <a:lnTo>
                  <a:pt x="248" y="2"/>
                </a:lnTo>
                <a:lnTo>
                  <a:pt x="253" y="3"/>
                </a:lnTo>
                <a:lnTo>
                  <a:pt x="259" y="3"/>
                </a:lnTo>
                <a:lnTo>
                  <a:pt x="264" y="4"/>
                </a:lnTo>
                <a:lnTo>
                  <a:pt x="270" y="6"/>
                </a:lnTo>
                <a:lnTo>
                  <a:pt x="275" y="7"/>
                </a:lnTo>
                <a:lnTo>
                  <a:pt x="280" y="8"/>
                </a:lnTo>
                <a:lnTo>
                  <a:pt x="285" y="10"/>
                </a:lnTo>
                <a:lnTo>
                  <a:pt x="291" y="12"/>
                </a:lnTo>
                <a:lnTo>
                  <a:pt x="296" y="13"/>
                </a:lnTo>
                <a:lnTo>
                  <a:pt x="301" y="15"/>
                </a:lnTo>
                <a:lnTo>
                  <a:pt x="306" y="17"/>
                </a:lnTo>
                <a:lnTo>
                  <a:pt x="311" y="19"/>
                </a:lnTo>
                <a:lnTo>
                  <a:pt x="315" y="22"/>
                </a:lnTo>
                <a:lnTo>
                  <a:pt x="320" y="24"/>
                </a:lnTo>
                <a:lnTo>
                  <a:pt x="325" y="27"/>
                </a:lnTo>
                <a:lnTo>
                  <a:pt x="329" y="29"/>
                </a:lnTo>
                <a:lnTo>
                  <a:pt x="334" y="32"/>
                </a:lnTo>
                <a:lnTo>
                  <a:pt x="339" y="35"/>
                </a:lnTo>
                <a:lnTo>
                  <a:pt x="343" y="38"/>
                </a:lnTo>
                <a:lnTo>
                  <a:pt x="347" y="41"/>
                </a:lnTo>
                <a:lnTo>
                  <a:pt x="352" y="44"/>
                </a:lnTo>
                <a:lnTo>
                  <a:pt x="356" y="47"/>
                </a:lnTo>
                <a:lnTo>
                  <a:pt x="360" y="50"/>
                </a:lnTo>
                <a:lnTo>
                  <a:pt x="364" y="54"/>
                </a:lnTo>
                <a:lnTo>
                  <a:pt x="368" y="57"/>
                </a:lnTo>
                <a:lnTo>
                  <a:pt x="370" y="59"/>
                </a:lnTo>
                <a:lnTo>
                  <a:pt x="370" y="320"/>
                </a:lnTo>
                <a:lnTo>
                  <a:pt x="24" y="320"/>
                </a:lnTo>
                <a:lnTo>
                  <a:pt x="22" y="315"/>
                </a:lnTo>
                <a:lnTo>
                  <a:pt x="19" y="311"/>
                </a:lnTo>
                <a:lnTo>
                  <a:pt x="17" y="306"/>
                </a:lnTo>
                <a:lnTo>
                  <a:pt x="15" y="301"/>
                </a:lnTo>
                <a:lnTo>
                  <a:pt x="13" y="296"/>
                </a:lnTo>
                <a:lnTo>
                  <a:pt x="12" y="291"/>
                </a:lnTo>
                <a:lnTo>
                  <a:pt x="10" y="285"/>
                </a:lnTo>
                <a:lnTo>
                  <a:pt x="8" y="280"/>
                </a:lnTo>
                <a:lnTo>
                  <a:pt x="7" y="275"/>
                </a:lnTo>
                <a:lnTo>
                  <a:pt x="6" y="270"/>
                </a:lnTo>
                <a:lnTo>
                  <a:pt x="4" y="264"/>
                </a:lnTo>
                <a:lnTo>
                  <a:pt x="3" y="259"/>
                </a:lnTo>
                <a:lnTo>
                  <a:pt x="3" y="253"/>
                </a:lnTo>
                <a:lnTo>
                  <a:pt x="2" y="248"/>
                </a:lnTo>
                <a:lnTo>
                  <a:pt x="1" y="242"/>
                </a:lnTo>
                <a:lnTo>
                  <a:pt x="1" y="237"/>
                </a:lnTo>
                <a:lnTo>
                  <a:pt x="0" y="231"/>
                </a:lnTo>
                <a:lnTo>
                  <a:pt x="0" y="226"/>
                </a:lnTo>
                <a:lnTo>
                  <a:pt x="0" y="220"/>
                </a:lnTo>
                <a:lnTo>
                  <a:pt x="0" y="214"/>
                </a:lnTo>
                <a:lnTo>
                  <a:pt x="0" y="209"/>
                </a:lnTo>
                <a:lnTo>
                  <a:pt x="1" y="203"/>
                </a:lnTo>
                <a:lnTo>
                  <a:pt x="1" y="198"/>
                </a:lnTo>
                <a:lnTo>
                  <a:pt x="2" y="192"/>
                </a:lnTo>
                <a:lnTo>
                  <a:pt x="3" y="187"/>
                </a:lnTo>
                <a:lnTo>
                  <a:pt x="3" y="181"/>
                </a:lnTo>
                <a:lnTo>
                  <a:pt x="4" y="176"/>
                </a:lnTo>
                <a:lnTo>
                  <a:pt x="6" y="170"/>
                </a:lnTo>
                <a:lnTo>
                  <a:pt x="7" y="165"/>
                </a:lnTo>
                <a:lnTo>
                  <a:pt x="8" y="160"/>
                </a:lnTo>
                <a:lnTo>
                  <a:pt x="10" y="155"/>
                </a:lnTo>
                <a:lnTo>
                  <a:pt x="12" y="149"/>
                </a:lnTo>
                <a:lnTo>
                  <a:pt x="13" y="144"/>
                </a:lnTo>
                <a:lnTo>
                  <a:pt x="15" y="139"/>
                </a:lnTo>
                <a:lnTo>
                  <a:pt x="17" y="134"/>
                </a:lnTo>
                <a:lnTo>
                  <a:pt x="19" y="129"/>
                </a:lnTo>
                <a:lnTo>
                  <a:pt x="22" y="125"/>
                </a:lnTo>
                <a:lnTo>
                  <a:pt x="24" y="120"/>
                </a:lnTo>
                <a:lnTo>
                  <a:pt x="27" y="115"/>
                </a:lnTo>
                <a:lnTo>
                  <a:pt x="29" y="111"/>
                </a:lnTo>
                <a:lnTo>
                  <a:pt x="32" y="106"/>
                </a:lnTo>
                <a:lnTo>
                  <a:pt x="35" y="101"/>
                </a:lnTo>
                <a:lnTo>
                  <a:pt x="38" y="97"/>
                </a:lnTo>
                <a:lnTo>
                  <a:pt x="41" y="93"/>
                </a:lnTo>
                <a:lnTo>
                  <a:pt x="44" y="88"/>
                </a:lnTo>
                <a:lnTo>
                  <a:pt x="47" y="84"/>
                </a:lnTo>
                <a:lnTo>
                  <a:pt x="50" y="80"/>
                </a:lnTo>
                <a:lnTo>
                  <a:pt x="54" y="76"/>
                </a:lnTo>
                <a:lnTo>
                  <a:pt x="57" y="72"/>
                </a:lnTo>
                <a:lnTo>
                  <a:pt x="61" y="68"/>
                </a:lnTo>
                <a:lnTo>
                  <a:pt x="64" y="64"/>
                </a:lnTo>
                <a:lnTo>
                  <a:pt x="68" y="61"/>
                </a:lnTo>
                <a:lnTo>
                  <a:pt x="72" y="57"/>
                </a:lnTo>
                <a:lnTo>
                  <a:pt x="76" y="54"/>
                </a:lnTo>
                <a:lnTo>
                  <a:pt x="80" y="50"/>
                </a:lnTo>
                <a:lnTo>
                  <a:pt x="84" y="47"/>
                </a:lnTo>
                <a:lnTo>
                  <a:pt x="88" y="44"/>
                </a:lnTo>
                <a:lnTo>
                  <a:pt x="93" y="41"/>
                </a:lnTo>
                <a:lnTo>
                  <a:pt x="97" y="38"/>
                </a:lnTo>
                <a:lnTo>
                  <a:pt x="101" y="35"/>
                </a:lnTo>
                <a:lnTo>
                  <a:pt x="106" y="32"/>
                </a:lnTo>
                <a:lnTo>
                  <a:pt x="111" y="29"/>
                </a:lnTo>
                <a:lnTo>
                  <a:pt x="115" y="27"/>
                </a:lnTo>
                <a:lnTo>
                  <a:pt x="120" y="24"/>
                </a:lnTo>
                <a:lnTo>
                  <a:pt x="125" y="22"/>
                </a:lnTo>
                <a:lnTo>
                  <a:pt x="129" y="19"/>
                </a:lnTo>
                <a:lnTo>
                  <a:pt x="134" y="17"/>
                </a:lnTo>
                <a:lnTo>
                  <a:pt x="139" y="15"/>
                </a:lnTo>
                <a:lnTo>
                  <a:pt x="144" y="13"/>
                </a:lnTo>
                <a:lnTo>
                  <a:pt x="149" y="12"/>
                </a:lnTo>
                <a:lnTo>
                  <a:pt x="155" y="10"/>
                </a:lnTo>
                <a:lnTo>
                  <a:pt x="160" y="8"/>
                </a:lnTo>
                <a:lnTo>
                  <a:pt x="165" y="7"/>
                </a:lnTo>
                <a:lnTo>
                  <a:pt x="170" y="6"/>
                </a:lnTo>
                <a:lnTo>
                  <a:pt x="176" y="4"/>
                </a:lnTo>
                <a:lnTo>
                  <a:pt x="181" y="3"/>
                </a:lnTo>
                <a:lnTo>
                  <a:pt x="187" y="3"/>
                </a:lnTo>
                <a:lnTo>
                  <a:pt x="192" y="2"/>
                </a:lnTo>
                <a:lnTo>
                  <a:pt x="198" y="1"/>
                </a:lnTo>
                <a:lnTo>
                  <a:pt x="203" y="1"/>
                </a:lnTo>
                <a:lnTo>
                  <a:pt x="209" y="0"/>
                </a:lnTo>
                <a:lnTo>
                  <a:pt x="214" y="0"/>
                </a:lnTo>
                <a:lnTo>
                  <a:pt x="220" y="0"/>
                </a:lnTo>
                <a:close/>
              </a:path>
            </a:pathLst>
          </a:custGeom>
          <a:solidFill>
            <a:srgbClr val="AFC440">
              <a:alpha val="14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237" name=""/>
          <p:cNvPicPr>
            <a:picLocks noChangeAspect="1"/>
          </p:cNvPicPr>
          <p:nvPr/>
        </p:nvPicPr>
        <p:blipFill>
          <a:blip r:embed="rId1">
            <a:alphaModFix amt="20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124950" y="704850"/>
            <a:ext cx="2190750" cy="2381250"/>
          </a:xfrm>
          <a:prstGeom prst="rect">
            <a:avLst/>
          </a:prstGeom>
          <a:ln/>
        </p:spPr>
      </p:pic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685800" y="2171700"/>
            <a:ext cx="857250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>
                <a:solidFill>
                  <a:srgbClr val="F3B26C"/>
                </a:solidFill>
                <a:latin typeface="Trebuchet MS"/>
                <a:ea typeface="Trebuchet MS"/>
              </a:rPr>
              <a:t>02</a:t>
            </a:r>
            <a:endParaRPr/>
          </a:p>
        </p:txBody>
      </p:sp>
      <p:sp>
        <p:nvSpPr>
          <p:cNvPr id="239" name=""/>
          <p:cNvSpPr/>
          <p:nvPr/>
        </p:nvSpPr>
        <p:spPr>
          <a:xfrm rot="0" flipH="0" flipV="0">
            <a:off x="1676400" y="2362200"/>
            <a:ext cx="28575" cy="495300"/>
          </a:xfrm>
          <a:prstGeom prst="rect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1838325" y="2505075"/>
            <a:ext cx="1238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FFFFF">
                    <a:alpha val="80000"/>
                  </a:srgbClr>
                </a:solidFill>
                <a:latin typeface="Verdana"/>
                <a:ea typeface="Verdana"/>
              </a:rPr>
              <a:t>Bagian kedua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685800" y="3295650"/>
            <a:ext cx="6705600" cy="7905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FFFFFF"/>
                </a:solidFill>
                <a:latin typeface="Trebuchet MS"/>
                <a:ea typeface="Trebuchet MS"/>
              </a:rPr>
              <a:t>Cara mulai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685800" y="4314825"/>
            <a:ext cx="67056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650">
                <a:solidFill>
                  <a:srgbClr val="FFFFFF">
                    <a:alpha val="88000"/>
                  </a:srgbClr>
                </a:solidFill>
                <a:latin typeface="Verdana"/>
                <a:ea typeface="Verdana"/>
              </a:rPr>
              <a:t>Dua langkah saja, lalu aplikasinya siap dipakai.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4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Pasang ke layar utama HP</a:t>
            </a:r>
            <a:endParaRPr/>
          </a:p>
        </p:txBody>
      </p:sp>
      <p:sp>
        <p:nvSpPr>
          <p:cNvPr id="246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sp>
        <p:nvSpPr>
          <p:cNvPr id="247" name=""/>
          <p:cNvSpPr/>
          <p:nvPr/>
        </p:nvSpPr>
        <p:spPr>
          <a:xfrm rot="0" flipH="0" flipV="0">
            <a:off x="609600" y="1238250"/>
            <a:ext cx="5876925" cy="5048250"/>
          </a:xfrm>
          <a:prstGeom prst="roundRect">
            <a:avLst>
              <a:gd name="adj" fmla="val 3774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248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95325" y="1714500"/>
            <a:ext cx="5715000" cy="4095750"/>
          </a:xfrm>
          <a:prstGeom prst="rect">
            <a:avLst/>
          </a:prstGeom>
          <a:ln/>
        </p:spPr>
      </p:pic>
      <p:sp>
        <p:nvSpPr>
          <p:cNvPr id="249" name=""/>
          <p:cNvSpPr/>
          <p:nvPr/>
        </p:nvSpPr>
        <p:spPr>
          <a:xfrm rot="0" flipH="0" flipV="0">
            <a:off x="6772275" y="1238250"/>
            <a:ext cx="4810125" cy="914400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50" name=""/>
          <p:cNvSpPr/>
          <p:nvPr/>
        </p:nvSpPr>
        <p:spPr>
          <a:xfrm rot="0" flipH="0" flipV="0">
            <a:off x="6943725" y="148590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7096125" y="1571625"/>
            <a:ext cx="123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Trebuchet MS"/>
                <a:ea typeface="Trebuchet MS"/>
              </a:rPr>
              <a:t>1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7515225" y="1390650"/>
            <a:ext cx="3876675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500" b="1">
                <a:solidFill>
                  <a:srgbClr val="2A2333"/>
                </a:solidFill>
                <a:latin typeface="Trebuchet MS"/>
                <a:ea typeface="Trebuchet MS"/>
              </a:rPr>
              <a:t>Buka alamat aplikasi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7515225" y="1724025"/>
            <a:ext cx="387667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Lewat browser HP — Chrome atau Edge.</a:t>
            </a:r>
            <a:endParaRPr/>
          </a:p>
        </p:txBody>
      </p:sp>
      <p:sp>
        <p:nvSpPr>
          <p:cNvPr id="254" name=""/>
          <p:cNvSpPr/>
          <p:nvPr/>
        </p:nvSpPr>
        <p:spPr>
          <a:xfrm rot="0" flipH="0" flipV="0">
            <a:off x="6772275" y="2247900"/>
            <a:ext cx="4810125" cy="914400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55" name=""/>
          <p:cNvSpPr/>
          <p:nvPr/>
        </p:nvSpPr>
        <p:spPr>
          <a:xfrm rot="0" flipH="0" flipV="0">
            <a:off x="6943725" y="24955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7096125" y="2581275"/>
            <a:ext cx="123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Trebuchet MS"/>
                <a:ea typeface="Trebuchet MS"/>
              </a:rPr>
              <a:t>2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7515225" y="2400300"/>
            <a:ext cx="3876675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500" b="1">
                <a:solidFill>
                  <a:srgbClr val="2A2333"/>
                </a:solidFill>
                <a:latin typeface="Trebuchet MS"/>
                <a:ea typeface="Trebuchet MS"/>
              </a:rPr>
              <a:t>Ketuk tombol "Pasang"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7515225" y="2733675"/>
            <a:ext cx="387667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Muncul sendiri di bagian bawah layar.</a:t>
            </a:r>
            <a:endParaRPr/>
          </a:p>
        </p:txBody>
      </p:sp>
      <p:sp>
        <p:nvSpPr>
          <p:cNvPr id="259" name=""/>
          <p:cNvSpPr/>
          <p:nvPr/>
        </p:nvSpPr>
        <p:spPr>
          <a:xfrm rot="0" flipH="0" flipV="0">
            <a:off x="6772275" y="3257550"/>
            <a:ext cx="4810125" cy="914400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60" name=""/>
          <p:cNvSpPr/>
          <p:nvPr/>
        </p:nvSpPr>
        <p:spPr>
          <a:xfrm rot="0" flipH="0" flipV="0">
            <a:off x="6943725" y="350520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7096125" y="3590925"/>
            <a:ext cx="123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Trebuchet MS"/>
                <a:ea typeface="Trebuchet MS"/>
              </a:rPr>
              <a:t>3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7515225" y="3409950"/>
            <a:ext cx="3876675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500" b="1">
                <a:solidFill>
                  <a:srgbClr val="2A2333"/>
                </a:solidFill>
                <a:latin typeface="Trebuchet MS"/>
                <a:ea typeface="Trebuchet MS"/>
              </a:rPr>
              <a:t>Ikon muncul di layar utama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7515225" y="3743325"/>
            <a:ext cx="387667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Berciri pizza dan kalender, warna hijau muda.</a:t>
            </a:r>
            <a:endParaRPr/>
          </a:p>
        </p:txBody>
      </p:sp>
      <p:sp>
        <p:nvSpPr>
          <p:cNvPr id="264" name=""/>
          <p:cNvSpPr/>
          <p:nvPr/>
        </p:nvSpPr>
        <p:spPr>
          <a:xfrm rot="0" flipH="0" flipV="0">
            <a:off x="6772275" y="4267200"/>
            <a:ext cx="4810125" cy="914400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65" name=""/>
          <p:cNvSpPr/>
          <p:nvPr/>
        </p:nvSpPr>
        <p:spPr>
          <a:xfrm rot="0" flipH="0" flipV="0">
            <a:off x="6943725" y="45148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7096125" y="4600575"/>
            <a:ext cx="123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Trebuchet MS"/>
                <a:ea typeface="Trebuchet MS"/>
              </a:rPr>
              <a:t>4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7515225" y="4286250"/>
            <a:ext cx="3876675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500" b="1">
                <a:solidFill>
                  <a:srgbClr val="2A2333"/>
                </a:solidFill>
                <a:latin typeface="Trebuchet MS"/>
                <a:ea typeface="Trebuchet MS"/>
              </a:rPr>
              <a:t>Ketuk ikonnya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7515225" y="4619625"/>
            <a:ext cx="38766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Terbuka seperti aplikasi biasa. Tidak perlu mengetik alamat lagi.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6848475" y="5372100"/>
            <a:ext cx="4810125" cy="914400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70" name=""/>
          <p:cNvSpPr/>
          <p:nvPr/>
        </p:nvSpPr>
        <p:spPr>
          <a:xfrm rot="0" flipH="0" flipV="0">
            <a:off x="6848475" y="5372100"/>
            <a:ext cx="4810125" cy="914400"/>
          </a:xfrm>
          <a:custGeom>
            <a:pathLst>
              <a:path w="505" h="96">
                <a:moveTo>
                  <a:pt x="13" y="0"/>
                </a:moveTo>
                <a:cubicBezTo>
                  <a:pt x="10" y="0"/>
                  <a:pt x="8" y="3"/>
                  <a:pt x="8" y="6"/>
                </a:cubicBezTo>
                <a:lnTo>
                  <a:pt x="8" y="90"/>
                </a:lnTo>
                <a:cubicBezTo>
                  <a:pt x="8" y="93"/>
                  <a:pt x="10" y="96"/>
                  <a:pt x="13" y="96"/>
                </a:cubicBezTo>
                <a:cubicBezTo>
                  <a:pt x="6" y="96"/>
                  <a:pt x="0" y="89"/>
                  <a:pt x="0" y="82"/>
                </a:cubicBezTo>
                <a:lnTo>
                  <a:pt x="0" y="14"/>
                </a:lnTo>
                <a:cubicBezTo>
                  <a:pt x="0" y="6"/>
                  <a:pt x="6" y="0"/>
                  <a:pt x="14" y="0"/>
                </a:cubicBezTo>
                <a:close/>
              </a:path>
            </a:pathLst>
          </a:cu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7038975" y="5562600"/>
            <a:ext cx="43529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51277C"/>
                </a:solidFill>
                <a:latin typeface="Trebuchet MS"/>
                <a:ea typeface="Trebuchet MS"/>
              </a:rPr>
              <a:t>Kalau memakai iPhone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7038975" y="5819775"/>
            <a:ext cx="435292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Tombol Bagikan, lalu pilih "Add to Home Screen".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562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Orang Tua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07 / 15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7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Masuk memakai akun dari sekolah</a:t>
            </a:r>
            <a:endParaRPr/>
          </a:p>
        </p:txBody>
      </p:sp>
      <p:sp>
        <p:nvSpPr>
          <p:cNvPr id="278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sp>
        <p:nvSpPr>
          <p:cNvPr id="279" name=""/>
          <p:cNvSpPr/>
          <p:nvPr/>
        </p:nvSpPr>
        <p:spPr>
          <a:xfrm rot="0" flipH="0" flipV="0">
            <a:off x="609600" y="1238250"/>
            <a:ext cx="3209925" cy="5048250"/>
          </a:xfrm>
          <a:prstGeom prst="roundRect">
            <a:avLst>
              <a:gd name="adj" fmla="val 5935"/>
            </a:avLst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1819275" y="1485900"/>
            <a:ext cx="800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FFFFF">
                    <a:alpha val="75000"/>
                  </a:srgbClr>
                </a:solidFill>
                <a:latin typeface="Verdana"/>
                <a:ea typeface="Verdana"/>
              </a:rPr>
              <a:t>Langkah 2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1676400" y="1752600"/>
            <a:ext cx="10858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FFFFFF"/>
                </a:solidFill>
                <a:latin typeface="Trebuchet MS"/>
                <a:ea typeface="Trebuchet MS"/>
              </a:rPr>
              <a:t>Masuk</a:t>
            </a:r>
            <a:endParaRPr/>
          </a:p>
        </p:txBody>
      </p:sp>
      <p:pic>
        <p:nvPicPr>
          <p:cNvPr id="282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409700" y="3019425"/>
            <a:ext cx="1619250" cy="1619250"/>
          </a:xfrm>
          <a:prstGeom prst="rect">
            <a:avLst/>
          </a:prstGeom>
          <a:ln/>
        </p:spPr>
      </p:pic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857250" y="5448300"/>
            <a:ext cx="2714625" cy="590550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0000"/>
              </a:lnSpc>
            </a:pPr>
            <a:r>
              <a:rPr lang="en-US" sz="1275">
                <a:solidFill>
                  <a:srgbClr val="FFFFFF">
                    <a:alpha val="90000"/>
                  </a:srgbClr>
                </a:solidFill>
                <a:latin typeface="Verdana"/>
                <a:ea typeface="Verdana"/>
              </a:rPr>
              <a:t>Wajib masuk dulu sebelum jadwal bisa dilihat.</a:t>
            </a:r>
            <a:endParaRPr/>
          </a:p>
        </p:txBody>
      </p:sp>
      <p:sp>
        <p:nvSpPr>
          <p:cNvPr id="284" name=""/>
          <p:cNvSpPr/>
          <p:nvPr/>
        </p:nvSpPr>
        <p:spPr>
          <a:xfrm rot="0" flipH="0" flipV="0">
            <a:off x="4162425" y="1238250"/>
            <a:ext cx="7496175" cy="9525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85" name=""/>
          <p:cNvSpPr/>
          <p:nvPr/>
        </p:nvSpPr>
        <p:spPr>
          <a:xfrm rot="0" flipH="0" flipV="0">
            <a:off x="4162425" y="1238250"/>
            <a:ext cx="7496175" cy="952500"/>
          </a:xfrm>
          <a:custGeom>
            <a:pathLst>
              <a:path w="787" h="100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92"/>
                </a:lnTo>
                <a:cubicBezTo>
                  <a:pt x="8" y="96"/>
                  <a:pt x="11" y="99"/>
                  <a:pt x="14" y="100"/>
                </a:cubicBezTo>
                <a:cubicBezTo>
                  <a:pt x="6" y="99"/>
                  <a:pt x="0" y="92"/>
                  <a:pt x="0" y="84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286" name=""/>
          <p:cNvSpPr/>
          <p:nvPr/>
        </p:nvSpPr>
        <p:spPr>
          <a:xfrm rot="0" flipH="0" flipV="0">
            <a:off x="4391025" y="1457325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287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514850" y="1581150"/>
            <a:ext cx="266700" cy="266700"/>
          </a:xfrm>
          <a:prstGeom prst="rect">
            <a:avLst/>
          </a:prstGeom>
          <a:ln/>
        </p:spPr>
      </p:pic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5095875" y="1209675"/>
            <a:ext cx="623887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2A2333"/>
                </a:solidFill>
                <a:latin typeface="Trebuchet MS"/>
                <a:ea typeface="Trebuchet MS"/>
              </a:rPr>
              <a:t>Akunnya dibuatkan sekolah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5095875" y="1619250"/>
            <a:ext cx="6238875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Username dan password diberikan oleh admin sekolah. Bapak/Ibu tidak perlu mendaftar sendiri.</a:t>
            </a:r>
            <a:endParaRPr/>
          </a:p>
        </p:txBody>
      </p:sp>
      <p:sp>
        <p:nvSpPr>
          <p:cNvPr id="290" name=""/>
          <p:cNvSpPr/>
          <p:nvPr/>
        </p:nvSpPr>
        <p:spPr>
          <a:xfrm rot="0" flipH="0" flipV="0">
            <a:off x="4162425" y="2266950"/>
            <a:ext cx="7496175" cy="9525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91" name=""/>
          <p:cNvSpPr/>
          <p:nvPr/>
        </p:nvSpPr>
        <p:spPr>
          <a:xfrm rot="0" flipH="0" flipV="0">
            <a:off x="4162425" y="2266950"/>
            <a:ext cx="7496175" cy="952500"/>
          </a:xfrm>
          <a:custGeom>
            <a:pathLst>
              <a:path w="787" h="100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92"/>
                </a:lnTo>
                <a:cubicBezTo>
                  <a:pt x="8" y="96"/>
                  <a:pt x="11" y="99"/>
                  <a:pt x="14" y="100"/>
                </a:cubicBezTo>
                <a:cubicBezTo>
                  <a:pt x="6" y="99"/>
                  <a:pt x="0" y="92"/>
                  <a:pt x="0" y="84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4391025" y="2486025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293" name="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4514850" y="2609850"/>
            <a:ext cx="266700" cy="266700"/>
          </a:xfrm>
          <a:prstGeom prst="rect">
            <a:avLst/>
          </a:prstGeom>
          <a:ln/>
        </p:spPr>
      </p:pic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5095875" y="2238375"/>
            <a:ext cx="623887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2A2333"/>
                </a:solidFill>
                <a:latin typeface="Trebuchet MS"/>
                <a:ea typeface="Trebuchet MS"/>
              </a:rPr>
              <a:t>Satu akun bisa untuk beberapa anak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5095875" y="2647950"/>
            <a:ext cx="6238875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Punya dua anak di kelas berbeda? Cukup satu akun — pilih kelasnya di bagian atas layar. Anak bisa ditambah di menu Profil.</a:t>
            </a:r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4162425" y="3286125"/>
            <a:ext cx="7496175" cy="9525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97" name=""/>
          <p:cNvSpPr/>
          <p:nvPr/>
        </p:nvSpPr>
        <p:spPr>
          <a:xfrm rot="0" flipH="0" flipV="0">
            <a:off x="4162425" y="3286125"/>
            <a:ext cx="7496175" cy="952500"/>
          </a:xfrm>
          <a:custGeom>
            <a:pathLst>
              <a:path w="787" h="100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92"/>
                </a:lnTo>
                <a:cubicBezTo>
                  <a:pt x="8" y="96"/>
                  <a:pt x="11" y="99"/>
                  <a:pt x="14" y="100"/>
                </a:cubicBezTo>
                <a:cubicBezTo>
                  <a:pt x="6" y="99"/>
                  <a:pt x="0" y="92"/>
                  <a:pt x="0" y="84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4391025" y="350520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299" name="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4514850" y="3629025"/>
            <a:ext cx="266700" cy="266700"/>
          </a:xfrm>
          <a:prstGeom prst="rect">
            <a:avLst/>
          </a:prstGeom>
          <a:ln/>
        </p:spPr>
      </p:pic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5095875" y="3257550"/>
            <a:ext cx="623887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2A2333"/>
                </a:solidFill>
                <a:latin typeface="Trebuchet MS"/>
                <a:ea typeface="Trebuchet MS"/>
              </a:rPr>
              <a:t>Password bisa diganti sendiri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5095875" y="3667125"/>
            <a:ext cx="6238875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Ada menu Profil di dalam aplikasi. Kalau lupa, minta reset kepada admin sekolah sebelum salah mencoba berulang kali.</a:t>
            </a:r>
            <a:endParaRPr/>
          </a:p>
        </p:txBody>
      </p:sp>
      <p:sp>
        <p:nvSpPr>
          <p:cNvPr id="302" name=""/>
          <p:cNvSpPr/>
          <p:nvPr/>
        </p:nvSpPr>
        <p:spPr>
          <a:xfrm rot="0" flipH="0" flipV="0">
            <a:off x="4162425" y="4314825"/>
            <a:ext cx="7496175" cy="9525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4162425" y="4314825"/>
            <a:ext cx="7496175" cy="952500"/>
          </a:xfrm>
          <a:custGeom>
            <a:pathLst>
              <a:path w="787" h="100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92"/>
                </a:lnTo>
                <a:cubicBezTo>
                  <a:pt x="8" y="96"/>
                  <a:pt x="11" y="99"/>
                  <a:pt x="14" y="100"/>
                </a:cubicBezTo>
                <a:cubicBezTo>
                  <a:pt x="6" y="99"/>
                  <a:pt x="0" y="92"/>
                  <a:pt x="0" y="84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sp>
        <p:nvSpPr>
          <p:cNvPr id="304" name=""/>
          <p:cNvSpPr/>
          <p:nvPr/>
        </p:nvSpPr>
        <p:spPr>
          <a:xfrm rot="0" flipH="0" flipV="0">
            <a:off x="4391025" y="453390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305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4514850" y="4657725"/>
            <a:ext cx="266700" cy="266700"/>
          </a:xfrm>
          <a:prstGeom prst="rect">
            <a:avLst/>
          </a:prstGeom>
          <a:ln/>
        </p:spPr>
      </p:pic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5095875" y="4286250"/>
            <a:ext cx="623887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2A2333"/>
                </a:solidFill>
                <a:latin typeface="Trebuchet MS"/>
                <a:ea typeface="Trebuchet MS"/>
              </a:rPr>
              <a:t>Hati-hati: 5 kali salah, akun terkunci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5095875" y="4695825"/>
            <a:ext cx="6238875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Salah password 5 kali berturut-turut mengunci akun. Tidak bisa dibuka sendiri — hubungi admin sekolah, nanti dibukakan.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4162425" y="5334000"/>
            <a:ext cx="7496175" cy="9525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309" name=""/>
          <p:cNvSpPr/>
          <p:nvPr/>
        </p:nvSpPr>
        <p:spPr>
          <a:xfrm rot="0" flipH="0" flipV="0">
            <a:off x="4162425" y="5334000"/>
            <a:ext cx="7496175" cy="952500"/>
          </a:xfrm>
          <a:custGeom>
            <a:pathLst>
              <a:path w="787" h="100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92"/>
                </a:lnTo>
                <a:cubicBezTo>
                  <a:pt x="8" y="96"/>
                  <a:pt x="11" y="99"/>
                  <a:pt x="14" y="100"/>
                </a:cubicBezTo>
                <a:cubicBezTo>
                  <a:pt x="6" y="99"/>
                  <a:pt x="0" y="92"/>
                  <a:pt x="0" y="84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4391025" y="5553075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311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4514850" y="5676900"/>
            <a:ext cx="266700" cy="266700"/>
          </a:xfrm>
          <a:prstGeom prst="rect">
            <a:avLst/>
          </a:prstGeom>
          <a:ln/>
        </p:spPr>
      </p:pic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5095875" y="5305425"/>
            <a:ext cx="623887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2A2333"/>
                </a:solidFill>
                <a:latin typeface="Trebuchet MS"/>
                <a:ea typeface="Trebuchet MS"/>
              </a:rPr>
              <a:t>Kenapa harus masuk?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5095875" y="5715000"/>
            <a:ext cx="6238875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Supaya jadwal dan nama anak hanya dilihat oleh orang tuanya sendiri, bukan orang lain.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562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Orang Tua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08 / 15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318" name=""/>
          <p:cNvSpPr/>
          <p:nvPr/>
        </p:nvSpPr>
        <p:spPr>
          <a:xfrm rot="0" flipH="0" flipV="0">
            <a:off x="7239000" y="-1047750"/>
            <a:ext cx="3619500" cy="3619500"/>
          </a:xfrm>
          <a:custGeom>
            <a:pathLst>
              <a:path w="380" h="380">
                <a:moveTo>
                  <a:pt x="363" y="112"/>
                </a:moveTo>
                <a:cubicBezTo>
                  <a:pt x="399" y="192"/>
                  <a:pt x="376" y="286"/>
                  <a:pt x="307" y="340"/>
                </a:cubicBezTo>
                <a:cubicBezTo>
                  <a:pt x="237" y="394"/>
                  <a:pt x="140" y="393"/>
                  <a:pt x="72" y="339"/>
                </a:cubicBezTo>
                <a:cubicBezTo>
                  <a:pt x="3" y="284"/>
                  <a:pt x="-19" y="190"/>
                  <a:pt x="18" y="110"/>
                </a:cubicBezTo>
                <a:lnTo>
                  <a:pt x="362" y="110"/>
                </a:lnTo>
                <a:close/>
              </a:path>
            </a:pathLst>
          </a:custGeom>
          <a:solidFill>
            <a:srgbClr val="F3B26C">
              <a:alpha val="16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319" name=""/>
          <p:cNvPicPr>
            <a:picLocks noChangeAspect="1"/>
          </p:cNvPicPr>
          <p:nvPr/>
        </p:nvPicPr>
        <p:blipFill>
          <a:blip r:embed="rId1">
            <a:alphaModFix amt="20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010650" y="4267200"/>
            <a:ext cx="2381250" cy="2000250"/>
          </a:xfrm>
          <a:prstGeom prst="rect">
            <a:avLst/>
          </a:prstGeom>
          <a:ln/>
        </p:spPr>
      </p:pic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685800" y="1771650"/>
            <a:ext cx="857250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>
                <a:solidFill>
                  <a:srgbClr val="F3B26C"/>
                </a:solidFill>
                <a:latin typeface="Trebuchet MS"/>
                <a:ea typeface="Trebuchet MS"/>
              </a:rPr>
              <a:t>03</a:t>
            </a:r>
            <a:endParaRPr/>
          </a:p>
        </p:txBody>
      </p:sp>
      <p:sp>
        <p:nvSpPr>
          <p:cNvPr id="321" name=""/>
          <p:cNvSpPr/>
          <p:nvPr/>
        </p:nvSpPr>
        <p:spPr>
          <a:xfrm rot="0" flipH="0" flipV="0">
            <a:off x="1676400" y="1962150"/>
            <a:ext cx="28575" cy="495300"/>
          </a:xfrm>
          <a:prstGeom prst="rect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1838325" y="2105025"/>
            <a:ext cx="1238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FFFFF">
                    <a:alpha val="80000"/>
                  </a:srgbClr>
                </a:solidFill>
                <a:latin typeface="Verdana"/>
                <a:ea typeface="Verdana"/>
              </a:rPr>
              <a:t>Bagian ketiga</a:t>
            </a:r>
            <a:endParaRPr/>
          </a:p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685800" y="2895600"/>
            <a:ext cx="6705600" cy="158115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FFFFFF"/>
                </a:solidFill>
                <a:latin typeface="Trebuchet MS"/>
                <a:ea typeface="Trebuchet MS"/>
              </a:rPr>
              <a:t>Dipakai</a:t>
            </a:r>
            <a:endParaRPr/>
          </a:p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FFFFFF"/>
                </a:solidFill>
                <a:latin typeface="Trebuchet MS"/>
                <a:ea typeface="Trebuchet MS"/>
              </a:rPr>
              <a:t>tiap hari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685800" y="4705350"/>
            <a:ext cx="67056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650">
                <a:solidFill>
                  <a:srgbClr val="FFFFFF">
                    <a:alpha val="88000"/>
                  </a:srgbClr>
                </a:solidFill>
                <a:latin typeface="Verdana"/>
                <a:ea typeface="Verdana"/>
              </a:rPr>
              <a:t>Tiga hal yang paling sering dibuka orang tua.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6" name="" descr="&lt;Slide&#13;&#10;    style={{&#13;&#10;        width: '1280px',&#13;&#10;        height: '720px',&#13;&#10;        background: '#FAF7F2',&#13;&#10;        paddingTop: 20,&#13;&#10;        paddingBottom: 20,&#13;&#10;        paddingLeft: 64,&#13;&#10;        paddingRight: 64,&#13;&#10;    }}&#13;&#10;&gt;&#13;&#10;    {/* ── A · blok judul ── */}&#13;&#10;    &lt;Box style={{ height: 110, justifyContent: 'center' }}&gt;&#13;&#10;        &lt;Text&#13;&#10;            style={{&#13;&#10;                fontSize: 34,&#13;&#10;                fontWeight: 'bold',&#13;&#10;                color: '#51277C',&#13;&#10;                fontFamily: 'Trebuchet MS',&#13;&#10;                lineHeight: 1.3,&#13;&#10;            }}&#13;&#10;        &gt;&#13;&#10;            Lihat jadwal snack&#13;&#10;        &lt;/Text&gt;&#13;&#10;        &lt;Box style={{ marginTop: 10, width: 72, height: 6, borderRadius: 3, background: '#51277C' }} /&gt;&#13;&#10;    &lt;/Box&gt;&#13;&#10;&#13;&#10;    {/* ── B · area konten ── */}&#13;&#10;    &lt;Box style={{ height: 530 }}&gt;&#13;&#10;        {/* atas 64% · ilustrasi jadwal sepekan */}&#13;&#10;        &lt;Box&#13;&#10;            style={{&#13;&#10;                height: 340,&#13;&#10;                background: 'rgba(81,39,124,0.06)',&#13;&#10;                borderRadius: 20,&#13;&#10;                justifyContent: 'center',&#13;&#10;                alignItems: 'center',&#13;&#10;            }}&#13;&#10;        &gt;&#13;&#10;            &lt;svg width={1100} height={300} viewBox='0 0 1100 300'&gt;&#13;&#10;                {/* Senin */}&#13;&#10;                &lt;rect x='6' y='8' width='208' height='284' rx='16' fill='#FFFFFF' stroke='#E6DFD2' strokeWidth='2' /&gt;&#13;&#10;                &lt;rect x='6' y='8' width='208' height='58' rx='16' fill='#EFEAE1' /&gt;&#13;&#10;                &lt;rect x='6' y='44' width='208' height='22' fill='#EFEAE1' /&gt;&#13;&#10;                &lt;text x='110' y='46' fontFamily='Trebuchet MS' fontSize='24' fontWeight='bold' fill='#51277C' textAnchor='middle'&gt;&#13;&#10;                    Senin&#13;&#10;                &lt;/text&gt;&#13;&#10;                &lt;rect x='28' y='92' width='164' height='16' rx='8' fill='#DED7CB' /&gt;&#13;&#10;                &lt;rect x='28' y='124' width='128' height='14' rx='7' fill='#EDE8DF' /&gt;&#13;&#10;                &lt;rect x='28' y='158' width='72' height='28' rx='14' fill='#AFC440' /&gt;&#13;&#10;                &lt;text x='64' y='178' fontFamily='Verdana' fontSize='15' fill='#3F4718' textAnchor='middle'&gt;&#13;&#10;                    Jeruk&#13;&#10;                &lt;/text&gt;&#13;&#10;                &lt;rect x='28' y='214' width='164' height='1' fill='#EFEAE1' /&gt;&#13;&#10;                &lt;circle cx='44' cy='240' r='12' fill='#DED7CB' /&gt;&#13;&#10;                &lt;rect x='64' y='233' width='104' height='12' rx='6' fill='#EDE8DF' /&gt;&#13;&#10;&#13;&#10;                {/* Selasa */}&#13;&#10;                &lt;rect x='226' y='8' width='208' height='284' rx='16' fill='#FFFFFF' stroke='#E6DFD2' strokeWidth='2' /&gt;&#13;&#10;                &lt;rect x='226' y='8' width='208' height='58' rx='16' fill='#EFEAE1' /&gt;&#13;&#10;                &lt;rect x='226' y='44' width='208' height='22' fill='#EFEAE1' /&gt;&#13;&#10;                &lt;text x='330' y='46' fontFamily='Trebuchet MS' fontSize='24' fontWeight='bold' fill='#51277C' textAnchor='middle'&gt;&#13;&#10;                    Selasa&#13;&#10;                &lt;/text&gt;&#13;&#10;                &lt;rect x='248' y='92' width='164' height='16' rx='8' fill='#DED7CB' /&gt;&#13;&#10;                &lt;rect x='248' y='124' width='112' height='14' rx='7' fill='#EDE8DF' /&gt;&#13;&#10;                &lt;rect x='248' y='158' width='72' height='28' rx='14' fill='#AFC440' /&gt;&#13;&#10;                &lt;text x='284' y='178' fontFamily='Verdana' fontSize='15' fill='#3F4718' textAnchor='middle'&gt;&#13;&#10;                    Pisang&#13;&#10;                &lt;/text&gt;&#13;&#10;                &lt;rect x='248' y='214' width='164' height='1' fill='#EFEAE1' /&gt;&#13;&#10;                &lt;circle cx='264' cy='240' r='12' fill='#DED7CB' /&gt;&#13;&#10;                &lt;rect x='284' y='233' width='96' height='12' rx='6' fill='#EDE8DF' /&gt;&#13;&#10;&#13;&#10;                {/* Rabu — hari ini, disorot */}&#13;&#10;                &lt;rect x='446' y='0' width='208' height='300' rx='16' fill='#FFFFFF' stroke='#F3B26C' strokeWidth='5' /&gt;&#13;&#10;                &lt;rect x='446' y='0' width='208' height='62' rx='16' fill='#51277C' /&gt;&#13;&#10;                &lt;rect x='446' y='40' width='208' height='22' fill='#51277C' /&gt;&#13;&#10;                &lt;text x='550' y='42' fontFamily='Trebuchet MS' fontSize='24' fontWeight='bold' fill='#FFFFFF' textAnchor='middle'&gt;&#13;&#10;                    Rabu&#13;&#10;                &lt;/text&gt;&#13;&#10;                &lt;rect x='468' y='92' width='164' height='16' rx='8' fill='#51277C' opacity='0.65' /&gt;&#13;&#10;                &lt;rect x='468' y='124' width='136' height='14' rx='7' fill='#EDE8DF' /&gt;&#13;&#10;                &lt;rect x='468' y='158' width='92' height='28' rx='14' fill='#F3B26C' /&gt;&#13;&#10;                &lt;text x='514' y='178' fontFamily='Verdana' fontSize='15' fill='#51277C' textAnchor='middle'&gt;&#13;&#10;                    Semangka&#13;&#10;                &lt;/text&gt;&#13;&#10;                &lt;rect x='468' y='214' width='164' height='1' fill='#EFEAE1' /&gt;&#13;&#10;                &lt;circle cx='484' cy='240' r='12' fill='#51277C' opacity='0.25' /&gt;&#13;&#10;                &lt;rect x='504' y='233' width='118' height='12' rx='6' fill='#DED7CB' /&gt;&#13;&#10;                &lt;circle cx='654' cy='16' r='13' fill='#F3B26C' /&gt;&#13;&#10;                &lt;text x='654' y='22' fontFamily='Verdana' fontSize='13' fontWeight='bold' fill='#51277C' textAnchor='middle'&gt;&#13;&#10;                    !&#13;&#10;                &lt;/text&gt;&#13;&#10;&#13;&#10;                {/* Kamis */}&#13;&#10;                &lt;rect x='666' y='8' width='208' height='284' rx='16' fill='#FFFFFF' stroke='#E6DFD2' strokeWidth='2' /&gt;&#13;&#10;                &lt;rect x='666' y='8' width='208' height='58' rx='16' fill='#EFEAE1' /&gt;&#13;&#10;                &lt;rect x='666' y='44' width='208' height='22' fill='#EFEAE1' /&gt;&#13;&#10;                &lt;text x='770' y='46' fontFamily='Trebuchet MS' fontSize='24' fontWeight='bold' fill='#51277C' textAnchor='middle'&gt;&#13;&#10;                    Kamis&#13;&#10;                &lt;/text&gt;&#13;&#10;                &lt;rect x='688' y='92' width='164' height='16' rx='8' fill='#DED7CB' /&gt;&#13;&#10;                &lt;rect x='688' y='124' width='120' height='14' rx='7' fill='#EDE8DF' /&gt;&#13;&#10;                &lt;rect x='688' y='158' width='64' height='28' rx='14' fill='#AFC440' /&gt;&#13;&#10;                &lt;text x='720' y='178' fontFamily='Verdana' fontSize='15' fill='#3F4718' textAnchor='middle'&gt;&#13;&#10;                    Apel&#13;&#10;                &lt;/text&gt;&#13;&#10;                &lt;rect x='688' y='214' width='164' height='1' fill='#EFEAE1' /&gt;&#13;&#10;                &lt;circle cx='704' cy='240' r='12' fill='#DED7CB' /&gt;&#13;&#10;                &lt;rect x='724' y='233' width='88' height='12' rx='6' fill='#EDE8DF' /&gt;&#13;&#10;&#13;&#10;                {/* Jumat */}&#13;&#10;                &lt;rect x='886' y='8' width='208' height='284' rx='16' fill='#FFFFFF' stroke='#E6DFD2' strokeWidth='2' /&gt;&#13;&#10;                &lt;rect x='886' y='8' width='208' height='58' rx='16' fill='#EFEAE1' /&gt;&#13;&#10;                &lt;rect x='886' y='44' width='208' height='22' fill='#EFEAE1' /&gt;&#13;&#10;                &lt;text x='990' y='46' fontFamily='Trebuchet MS' fontSize='24' fontWeight='bold' fill='#51277C' textAnchor='middle'&gt;&#13;&#10;                    Jumat&#13;&#10;                &lt;/text&gt;&#13;&#10;                &lt;rect x='908' y='92' width='164' height='16' rx='8' fill='#DED7CB' /&gt;&#13;&#10;                &lt;rect x='908' y='124' width='132' height='14' rx='7' fill='#EDE8DF' /&gt;&#13;&#10;                &lt;rect x='908' y='158' width='70' height='28' rx='14' fill='#AFC440' /&gt;&#13;&#10;                &lt;text x='943' y='178' fontFamily='Verdana' fontSize='15' fill='#3F4718' textAnchor='middle'&gt;&#13;&#10;                    Melon&#13;&#10;                &lt;/text&gt;&#13;&#10;                &lt;rect x='908' y='214' width='164' height='1' fill='#EFEAE1' /&gt;&#13;&#10;                &lt;circle cx='924' cy='240' r='12' fill='#DED7CB' /&gt;&#13;&#10;                &lt;rect x='944' y='233' width='106' height='12' rx='6' fill='#EDE8DF' /&gt;&#13;&#10;            &lt;/svg&gt;&#13;&#10;        &lt;/Box&gt;&#13;&#10;&#13;&#10;        {/* bawah · dua kartu 60:40 */}&#13;&#10;        &lt;Box style={{ marginTop: 18, height: 172, flexDirection: 'row', gap: 24 }}&gt;&#13;&#10;            &lt;Box&#13;&#10;                style={{&#13;&#10;                    width: '60%',&#13;&#10;                    background: '#FFFFFF',&#13;&#10;                    borderRadius: 16,&#13;&#10;                    boxShadow: '0 4px 20px rgba(0,0,0,0.08)',&#13;&#10;                    padding: 24,&#13;&#10;                    borderLeft: '8px solid #F3B26C',&#13;&#10;                }}&#13;&#10;            &gt;&#13;&#10;                &lt;Text&#13;&#10;                    style={{&#13;&#10;                        fontSize: 26,&#13;&#10;                        fontWeight: 'bold',&#13;&#10;                        color: '#51277C',&#13;&#10;                        fontFamily: 'Trebuchet MS',&#13;&#10;                    }}&#13;&#10;                &gt;&#13;&#10;                    Hari ini &amp;amp; minggu ini&#13;&#10;                &lt;/Text&gt;&#13;&#10;                &lt;Text&#13;&#10;                    style={{&#13;&#10;                        marginTop: 10,&#13;&#10;                        fontSize: 19,&#13;&#10;                        color: '#6B6478',&#13;&#10;                        fontFamily: 'Verdana',&#13;&#10;                        lineHeight: 1.5,&#13;&#10;                    }}&#13;&#10;                &gt;&#13;&#10;                    Makanan dan buahnya langsung kelihatan, berikut nama anak yang piket hari itu. Hari berjalan ditandai.&#13;&#10;                &lt;/Text&gt;&#13;&#10;            &lt;/Box&gt;&#13;&#10;&#13;&#10;            &lt;Box&#13;&#10;                style={{&#13;&#10;                    width: '40%',&#13;&#10;                    background: '#FFFFFF',&#13;&#10;                    borderRadius: 16,&#13;&#10;                    boxShadow: '0 4px 20px rgba(0,0,0,0.08)',&#13;&#10;                    padding: 24,&#13;&#10;                    borderLeft: '8px solid #AFC440',&#13;&#10;                }}&#13;&#10;            &gt;&#13;&#10;                &lt;Text&#13;&#10;                    style={{&#13;&#10;                        fontSize: 26,&#13;&#10;                        fontWeight: 'bold',&#13;&#10;                        color: '#51277C',&#13;&#10;                        fontFamily: 'Trebuchet MS',&#13;&#10;                    }}&#13;&#10;                &gt;&#13;&#10;                    Bulan ini&#13;&#10;                &lt;/Text&gt;&#13;&#10;                &lt;Text&#13;&#10;                    style={{&#13;&#10;                        marginTop: 10,&#13;&#10;                        fontSize: 19,&#13;&#10;                        color: '#6B6478',&#13;&#10;                        fontFamily: 'Verdana',&#13;&#10;                        lineHeight: 1.5,&#13;&#10;                    }}&#13;&#10;                &gt;&#13;&#10;                    Kalender penuh satu bulan — bisa melihat jadwal jauh hari sebelumnya.&#13;&#10;                &lt;/Text&gt;&#13;&#10;            &lt;/Box&gt;&#13;&#10;        &lt;/Box&gt;&#13;&#10;    &lt;/Box&gt;&#13;&#10;&#13;&#10;    {/* ── C · bilah kaki ── */}&#13;&#10;    &lt;Box&#13;&#10;        style={{&#13;&#10;            height: 40,&#13;&#10;            flexDirection: 'row',&#13;&#10;            alignItems: 'center',&#13;&#10;            justifyContent: 'space-between',&#13;&#10;        }}&#13;&#10;    &gt;&#13;&#10;        &lt;Text style={{ fontSize: 14, color: '#6B6478', fontFamily: 'Verdana' }}&gt;&#13;&#10;            Pizza Snack Play · Panduan Orang Tua&#13;&#10;        &lt;/Text&gt;&#13;&#10;        &lt;Text style={{ fontSize: 14, color: '#6B6478', fontFamily: 'Verdana' }}&gt;10 / 15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Lihat jadwal snack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/>
        </p:txBody>
      </p:sp>
      <p:sp>
        <p:nvSpPr>
          <p:cNvPr id="20" name=""/>
          <p:cNvSpPr/>
          <p:nvPr/>
        </p:nvSpPr>
        <p:spPr>
          <a:xfrm rot="0" flipH="0" flipV="0">
            <a:off x="609600" y="1238250"/>
            <a:ext cx="10972800" cy="3238500"/>
          </a:xfrm>
          <a:prstGeom prst="roundRect">
            <a:avLst>
              <a:gd name="adj" fmla="val 5882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/>
        </p:txBody>
      </p:sp>
      <p:pic>
        <p:nvPicPr>
          <p:cNvPr id="21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428750"/>
            <a:ext cx="10477500" cy="2857500"/>
          </a:xfrm>
          <a:prstGeom prst="rect">
            <a:avLst/>
          </a:prstGeom>
          <a:ln/>
        </p:spPr>
      </p:pic>
      <p:sp>
        <p:nvSpPr>
          <p:cNvPr id="22" name=""/>
          <p:cNvSpPr/>
          <p:nvPr/>
        </p:nvSpPr>
        <p:spPr>
          <a:xfrm rot="0" flipH="0" flipV="0">
            <a:off x="685800" y="4648200"/>
            <a:ext cx="6448425" cy="163830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"/>
          <p:cNvSpPr/>
          <p:nvPr/>
        </p:nvSpPr>
        <p:spPr>
          <a:xfrm rot="0" flipH="0" flipV="0">
            <a:off x="685800" y="4648200"/>
            <a:ext cx="6448425" cy="1638300"/>
          </a:xfrm>
          <a:custGeom>
            <a:pathLst>
              <a:path w="677" h="172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64"/>
                </a:lnTo>
                <a:cubicBezTo>
                  <a:pt x="8" y="168"/>
                  <a:pt x="11" y="171"/>
                  <a:pt x="14" y="172"/>
                </a:cubicBezTo>
                <a:cubicBezTo>
                  <a:pt x="6" y="171"/>
                  <a:pt x="0" y="164"/>
                  <a:pt x="0" y="156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F3B26C"/>
          </a:solidFill>
          <a:ln/>
        </p:spPr>
        <p:txBody>
          <a:bodyPr/>
          <a:p/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914400" y="4876800"/>
            <a:ext cx="59150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51277C"/>
                </a:solidFill>
                <a:latin typeface="Trebuchet MS"/>
                <a:ea typeface="Trebuchet MS"/>
              </a:rPr>
              <a:t>Hari ini &amp; minggu ini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914400" y="5276850"/>
            <a:ext cx="59150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425">
                <a:solidFill>
                  <a:srgbClr val="6B6478"/>
                </a:solidFill>
                <a:latin typeface="Verdana"/>
                <a:ea typeface="Verdana"/>
              </a:rPr>
              <a:t>Makanan dan buahnya langsung kelihatan, berikut nama anak yang piket hari itu. Hari berjalan ditandai.</a:t>
            </a:r>
            <a:endParaRPr/>
          </a:p>
        </p:txBody>
      </p:sp>
      <p:sp>
        <p:nvSpPr>
          <p:cNvPr id="26" name=""/>
          <p:cNvSpPr/>
          <p:nvPr/>
        </p:nvSpPr>
        <p:spPr>
          <a:xfrm rot="0" flipH="0" flipV="0">
            <a:off x="7362825" y="4648200"/>
            <a:ext cx="4295775" cy="163830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"/>
          <p:cNvSpPr/>
          <p:nvPr/>
        </p:nvSpPr>
        <p:spPr>
          <a:xfrm rot="0" flipH="0" flipV="0">
            <a:off x="7362825" y="4648200"/>
            <a:ext cx="4295775" cy="1638300"/>
          </a:xfrm>
          <a:custGeom>
            <a:pathLst>
              <a:path w="451" h="172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64"/>
                </a:lnTo>
                <a:cubicBezTo>
                  <a:pt x="8" y="168"/>
                  <a:pt x="11" y="171"/>
                  <a:pt x="14" y="172"/>
                </a:cubicBezTo>
                <a:cubicBezTo>
                  <a:pt x="6" y="171"/>
                  <a:pt x="0" y="164"/>
                  <a:pt x="0" y="156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7591425" y="4876800"/>
            <a:ext cx="3762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51277C"/>
                </a:solidFill>
                <a:latin typeface="Trebuchet MS"/>
                <a:ea typeface="Trebuchet MS"/>
              </a:rPr>
              <a:t>Bulan ini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7591425" y="5276850"/>
            <a:ext cx="376237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425">
                <a:solidFill>
                  <a:srgbClr val="6B6478"/>
                </a:solidFill>
                <a:latin typeface="Verdana"/>
                <a:ea typeface="Verdana"/>
              </a:rPr>
              <a:t>Kalender penuh satu bulan — bisa melihat jadwal jauh hari sebelumnya.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562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Orang Tua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10 / 15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34" name=""/>
          <p:cNvSpPr/>
          <p:nvPr/>
        </p:nvSpPr>
        <p:spPr>
          <a:xfrm rot="0" flipH="0" flipV="0">
            <a:off x="-571500" y="1143000"/>
            <a:ext cx="4000500" cy="4000500"/>
          </a:xfrm>
          <a:custGeom>
            <a:pathLst>
              <a:path w="420" h="420">
                <a:moveTo>
                  <a:pt x="215" y="0"/>
                </a:moveTo>
                <a:lnTo>
                  <a:pt x="221" y="0"/>
                </a:lnTo>
                <a:lnTo>
                  <a:pt x="226" y="1"/>
                </a:lnTo>
                <a:lnTo>
                  <a:pt x="231" y="1"/>
                </a:lnTo>
                <a:lnTo>
                  <a:pt x="237" y="2"/>
                </a:lnTo>
                <a:lnTo>
                  <a:pt x="242" y="2"/>
                </a:lnTo>
                <a:lnTo>
                  <a:pt x="247" y="3"/>
                </a:lnTo>
                <a:lnTo>
                  <a:pt x="252" y="4"/>
                </a:lnTo>
                <a:lnTo>
                  <a:pt x="257" y="5"/>
                </a:lnTo>
                <a:lnTo>
                  <a:pt x="262" y="7"/>
                </a:lnTo>
                <a:lnTo>
                  <a:pt x="267" y="8"/>
                </a:lnTo>
                <a:lnTo>
                  <a:pt x="272" y="9"/>
                </a:lnTo>
                <a:lnTo>
                  <a:pt x="277" y="11"/>
                </a:lnTo>
                <a:lnTo>
                  <a:pt x="282" y="13"/>
                </a:lnTo>
                <a:lnTo>
                  <a:pt x="287" y="15"/>
                </a:lnTo>
                <a:lnTo>
                  <a:pt x="292" y="17"/>
                </a:lnTo>
                <a:lnTo>
                  <a:pt x="296" y="19"/>
                </a:lnTo>
                <a:lnTo>
                  <a:pt x="301" y="21"/>
                </a:lnTo>
                <a:lnTo>
                  <a:pt x="306" y="23"/>
                </a:lnTo>
                <a:lnTo>
                  <a:pt x="310" y="25"/>
                </a:lnTo>
                <a:lnTo>
                  <a:pt x="314" y="28"/>
                </a:lnTo>
                <a:lnTo>
                  <a:pt x="319" y="30"/>
                </a:lnTo>
                <a:lnTo>
                  <a:pt x="323" y="33"/>
                </a:lnTo>
                <a:lnTo>
                  <a:pt x="327" y="36"/>
                </a:lnTo>
                <a:lnTo>
                  <a:pt x="332" y="39"/>
                </a:lnTo>
                <a:lnTo>
                  <a:pt x="336" y="42"/>
                </a:lnTo>
                <a:lnTo>
                  <a:pt x="340" y="45"/>
                </a:lnTo>
                <a:lnTo>
                  <a:pt x="344" y="48"/>
                </a:lnTo>
                <a:lnTo>
                  <a:pt x="347" y="51"/>
                </a:lnTo>
                <a:lnTo>
                  <a:pt x="351" y="55"/>
                </a:lnTo>
                <a:lnTo>
                  <a:pt x="355" y="58"/>
                </a:lnTo>
                <a:lnTo>
                  <a:pt x="358" y="62"/>
                </a:lnTo>
                <a:lnTo>
                  <a:pt x="362" y="65"/>
                </a:lnTo>
                <a:lnTo>
                  <a:pt x="365" y="69"/>
                </a:lnTo>
                <a:lnTo>
                  <a:pt x="369" y="73"/>
                </a:lnTo>
                <a:lnTo>
                  <a:pt x="372" y="76"/>
                </a:lnTo>
                <a:lnTo>
                  <a:pt x="375" y="80"/>
                </a:lnTo>
                <a:lnTo>
                  <a:pt x="378" y="84"/>
                </a:lnTo>
                <a:lnTo>
                  <a:pt x="381" y="88"/>
                </a:lnTo>
                <a:lnTo>
                  <a:pt x="384" y="93"/>
                </a:lnTo>
                <a:lnTo>
                  <a:pt x="387" y="97"/>
                </a:lnTo>
                <a:lnTo>
                  <a:pt x="390" y="101"/>
                </a:lnTo>
                <a:lnTo>
                  <a:pt x="392" y="106"/>
                </a:lnTo>
                <a:lnTo>
                  <a:pt x="395" y="110"/>
                </a:lnTo>
                <a:lnTo>
                  <a:pt x="397" y="114"/>
                </a:lnTo>
                <a:lnTo>
                  <a:pt x="399" y="119"/>
                </a:lnTo>
                <a:lnTo>
                  <a:pt x="401" y="124"/>
                </a:lnTo>
                <a:lnTo>
                  <a:pt x="403" y="128"/>
                </a:lnTo>
                <a:lnTo>
                  <a:pt x="405" y="133"/>
                </a:lnTo>
                <a:lnTo>
                  <a:pt x="407" y="138"/>
                </a:lnTo>
                <a:lnTo>
                  <a:pt x="409" y="143"/>
                </a:lnTo>
                <a:lnTo>
                  <a:pt x="411" y="148"/>
                </a:lnTo>
                <a:lnTo>
                  <a:pt x="412" y="153"/>
                </a:lnTo>
                <a:lnTo>
                  <a:pt x="413" y="158"/>
                </a:lnTo>
                <a:lnTo>
                  <a:pt x="415" y="163"/>
                </a:lnTo>
                <a:lnTo>
                  <a:pt x="416" y="168"/>
                </a:lnTo>
                <a:lnTo>
                  <a:pt x="417" y="173"/>
                </a:lnTo>
                <a:lnTo>
                  <a:pt x="418" y="178"/>
                </a:lnTo>
                <a:lnTo>
                  <a:pt x="418" y="183"/>
                </a:lnTo>
                <a:lnTo>
                  <a:pt x="419" y="189"/>
                </a:lnTo>
                <a:lnTo>
                  <a:pt x="419" y="194"/>
                </a:lnTo>
                <a:lnTo>
                  <a:pt x="420" y="199"/>
                </a:lnTo>
                <a:lnTo>
                  <a:pt x="420" y="205"/>
                </a:lnTo>
                <a:lnTo>
                  <a:pt x="420" y="210"/>
                </a:lnTo>
                <a:lnTo>
                  <a:pt x="420" y="215"/>
                </a:lnTo>
                <a:lnTo>
                  <a:pt x="420" y="221"/>
                </a:lnTo>
                <a:lnTo>
                  <a:pt x="419" y="226"/>
                </a:lnTo>
                <a:lnTo>
                  <a:pt x="419" y="231"/>
                </a:lnTo>
                <a:lnTo>
                  <a:pt x="418" y="237"/>
                </a:lnTo>
                <a:lnTo>
                  <a:pt x="418" y="242"/>
                </a:lnTo>
                <a:lnTo>
                  <a:pt x="417" y="247"/>
                </a:lnTo>
                <a:lnTo>
                  <a:pt x="416" y="252"/>
                </a:lnTo>
                <a:lnTo>
                  <a:pt x="415" y="257"/>
                </a:lnTo>
                <a:lnTo>
                  <a:pt x="413" y="262"/>
                </a:lnTo>
                <a:lnTo>
                  <a:pt x="412" y="267"/>
                </a:lnTo>
                <a:lnTo>
                  <a:pt x="411" y="272"/>
                </a:lnTo>
                <a:lnTo>
                  <a:pt x="409" y="277"/>
                </a:lnTo>
                <a:lnTo>
                  <a:pt x="407" y="282"/>
                </a:lnTo>
                <a:lnTo>
                  <a:pt x="405" y="287"/>
                </a:lnTo>
                <a:lnTo>
                  <a:pt x="403" y="292"/>
                </a:lnTo>
                <a:lnTo>
                  <a:pt x="401" y="296"/>
                </a:lnTo>
                <a:lnTo>
                  <a:pt x="399" y="301"/>
                </a:lnTo>
                <a:lnTo>
                  <a:pt x="397" y="306"/>
                </a:lnTo>
                <a:lnTo>
                  <a:pt x="395" y="310"/>
                </a:lnTo>
                <a:lnTo>
                  <a:pt x="392" y="314"/>
                </a:lnTo>
                <a:lnTo>
                  <a:pt x="390" y="319"/>
                </a:lnTo>
                <a:lnTo>
                  <a:pt x="387" y="323"/>
                </a:lnTo>
                <a:lnTo>
                  <a:pt x="384" y="327"/>
                </a:lnTo>
                <a:lnTo>
                  <a:pt x="381" y="332"/>
                </a:lnTo>
                <a:lnTo>
                  <a:pt x="378" y="336"/>
                </a:lnTo>
                <a:lnTo>
                  <a:pt x="375" y="340"/>
                </a:lnTo>
                <a:lnTo>
                  <a:pt x="372" y="344"/>
                </a:lnTo>
                <a:lnTo>
                  <a:pt x="369" y="347"/>
                </a:lnTo>
                <a:lnTo>
                  <a:pt x="365" y="351"/>
                </a:lnTo>
                <a:lnTo>
                  <a:pt x="362" y="355"/>
                </a:lnTo>
                <a:lnTo>
                  <a:pt x="358" y="358"/>
                </a:lnTo>
                <a:lnTo>
                  <a:pt x="355" y="362"/>
                </a:lnTo>
                <a:lnTo>
                  <a:pt x="351" y="365"/>
                </a:lnTo>
                <a:lnTo>
                  <a:pt x="347" y="369"/>
                </a:lnTo>
                <a:lnTo>
                  <a:pt x="344" y="372"/>
                </a:lnTo>
                <a:lnTo>
                  <a:pt x="340" y="375"/>
                </a:lnTo>
                <a:lnTo>
                  <a:pt x="336" y="378"/>
                </a:lnTo>
                <a:lnTo>
                  <a:pt x="332" y="381"/>
                </a:lnTo>
                <a:lnTo>
                  <a:pt x="327" y="384"/>
                </a:lnTo>
                <a:lnTo>
                  <a:pt x="323" y="387"/>
                </a:lnTo>
                <a:lnTo>
                  <a:pt x="319" y="390"/>
                </a:lnTo>
                <a:lnTo>
                  <a:pt x="314" y="392"/>
                </a:lnTo>
                <a:lnTo>
                  <a:pt x="310" y="395"/>
                </a:lnTo>
                <a:lnTo>
                  <a:pt x="306" y="397"/>
                </a:lnTo>
                <a:lnTo>
                  <a:pt x="301" y="399"/>
                </a:lnTo>
                <a:lnTo>
                  <a:pt x="296" y="401"/>
                </a:lnTo>
                <a:lnTo>
                  <a:pt x="292" y="403"/>
                </a:lnTo>
                <a:lnTo>
                  <a:pt x="287" y="405"/>
                </a:lnTo>
                <a:lnTo>
                  <a:pt x="282" y="407"/>
                </a:lnTo>
                <a:lnTo>
                  <a:pt x="277" y="409"/>
                </a:lnTo>
                <a:lnTo>
                  <a:pt x="272" y="411"/>
                </a:lnTo>
                <a:lnTo>
                  <a:pt x="267" y="412"/>
                </a:lnTo>
                <a:lnTo>
                  <a:pt x="262" y="413"/>
                </a:lnTo>
                <a:lnTo>
                  <a:pt x="257" y="415"/>
                </a:lnTo>
                <a:lnTo>
                  <a:pt x="252" y="416"/>
                </a:lnTo>
                <a:lnTo>
                  <a:pt x="247" y="417"/>
                </a:lnTo>
                <a:lnTo>
                  <a:pt x="242" y="418"/>
                </a:lnTo>
                <a:lnTo>
                  <a:pt x="237" y="418"/>
                </a:lnTo>
                <a:lnTo>
                  <a:pt x="231" y="419"/>
                </a:lnTo>
                <a:lnTo>
                  <a:pt x="226" y="419"/>
                </a:lnTo>
                <a:lnTo>
                  <a:pt x="221" y="420"/>
                </a:lnTo>
                <a:lnTo>
                  <a:pt x="215" y="420"/>
                </a:lnTo>
                <a:lnTo>
                  <a:pt x="210" y="420"/>
                </a:lnTo>
                <a:lnTo>
                  <a:pt x="205" y="420"/>
                </a:lnTo>
                <a:lnTo>
                  <a:pt x="199" y="420"/>
                </a:lnTo>
                <a:lnTo>
                  <a:pt x="194" y="419"/>
                </a:lnTo>
                <a:lnTo>
                  <a:pt x="189" y="419"/>
                </a:lnTo>
                <a:lnTo>
                  <a:pt x="183" y="418"/>
                </a:lnTo>
                <a:lnTo>
                  <a:pt x="178" y="418"/>
                </a:lnTo>
                <a:lnTo>
                  <a:pt x="173" y="417"/>
                </a:lnTo>
                <a:lnTo>
                  <a:pt x="168" y="416"/>
                </a:lnTo>
                <a:lnTo>
                  <a:pt x="163" y="415"/>
                </a:lnTo>
                <a:lnTo>
                  <a:pt x="158" y="413"/>
                </a:lnTo>
                <a:lnTo>
                  <a:pt x="153" y="412"/>
                </a:lnTo>
                <a:lnTo>
                  <a:pt x="148" y="411"/>
                </a:lnTo>
                <a:lnTo>
                  <a:pt x="143" y="409"/>
                </a:lnTo>
                <a:lnTo>
                  <a:pt x="138" y="407"/>
                </a:lnTo>
                <a:lnTo>
                  <a:pt x="133" y="405"/>
                </a:lnTo>
                <a:lnTo>
                  <a:pt x="128" y="403"/>
                </a:lnTo>
                <a:lnTo>
                  <a:pt x="124" y="401"/>
                </a:lnTo>
                <a:lnTo>
                  <a:pt x="119" y="399"/>
                </a:lnTo>
                <a:lnTo>
                  <a:pt x="114" y="397"/>
                </a:lnTo>
                <a:lnTo>
                  <a:pt x="110" y="395"/>
                </a:lnTo>
                <a:lnTo>
                  <a:pt x="106" y="392"/>
                </a:lnTo>
                <a:lnTo>
                  <a:pt x="101" y="390"/>
                </a:lnTo>
                <a:lnTo>
                  <a:pt x="97" y="387"/>
                </a:lnTo>
                <a:lnTo>
                  <a:pt x="93" y="384"/>
                </a:lnTo>
                <a:lnTo>
                  <a:pt x="88" y="381"/>
                </a:lnTo>
                <a:lnTo>
                  <a:pt x="84" y="378"/>
                </a:lnTo>
                <a:lnTo>
                  <a:pt x="80" y="375"/>
                </a:lnTo>
                <a:lnTo>
                  <a:pt x="76" y="372"/>
                </a:lnTo>
                <a:lnTo>
                  <a:pt x="73" y="369"/>
                </a:lnTo>
                <a:lnTo>
                  <a:pt x="69" y="365"/>
                </a:lnTo>
                <a:lnTo>
                  <a:pt x="65" y="362"/>
                </a:lnTo>
                <a:lnTo>
                  <a:pt x="62" y="358"/>
                </a:lnTo>
                <a:lnTo>
                  <a:pt x="60" y="357"/>
                </a:lnTo>
                <a:lnTo>
                  <a:pt x="60" y="63"/>
                </a:lnTo>
                <a:lnTo>
                  <a:pt x="62" y="62"/>
                </a:lnTo>
                <a:lnTo>
                  <a:pt x="65" y="58"/>
                </a:lnTo>
                <a:lnTo>
                  <a:pt x="69" y="55"/>
                </a:lnTo>
                <a:lnTo>
                  <a:pt x="73" y="51"/>
                </a:lnTo>
                <a:lnTo>
                  <a:pt x="76" y="48"/>
                </a:lnTo>
                <a:lnTo>
                  <a:pt x="80" y="45"/>
                </a:lnTo>
                <a:lnTo>
                  <a:pt x="84" y="42"/>
                </a:lnTo>
                <a:lnTo>
                  <a:pt x="88" y="39"/>
                </a:lnTo>
                <a:lnTo>
                  <a:pt x="93" y="36"/>
                </a:lnTo>
                <a:lnTo>
                  <a:pt x="97" y="33"/>
                </a:lnTo>
                <a:lnTo>
                  <a:pt x="101" y="30"/>
                </a:lnTo>
                <a:lnTo>
                  <a:pt x="106" y="28"/>
                </a:lnTo>
                <a:lnTo>
                  <a:pt x="110" y="25"/>
                </a:lnTo>
                <a:lnTo>
                  <a:pt x="114" y="23"/>
                </a:lnTo>
                <a:lnTo>
                  <a:pt x="119" y="21"/>
                </a:lnTo>
                <a:lnTo>
                  <a:pt x="124" y="19"/>
                </a:lnTo>
                <a:lnTo>
                  <a:pt x="128" y="17"/>
                </a:lnTo>
                <a:lnTo>
                  <a:pt x="133" y="15"/>
                </a:lnTo>
                <a:lnTo>
                  <a:pt x="138" y="13"/>
                </a:lnTo>
                <a:lnTo>
                  <a:pt x="143" y="11"/>
                </a:lnTo>
                <a:lnTo>
                  <a:pt x="148" y="9"/>
                </a:lnTo>
                <a:lnTo>
                  <a:pt x="153" y="8"/>
                </a:lnTo>
                <a:lnTo>
                  <a:pt x="158" y="7"/>
                </a:lnTo>
                <a:lnTo>
                  <a:pt x="163" y="5"/>
                </a:lnTo>
                <a:lnTo>
                  <a:pt x="168" y="4"/>
                </a:lnTo>
                <a:lnTo>
                  <a:pt x="173" y="3"/>
                </a:lnTo>
                <a:lnTo>
                  <a:pt x="178" y="2"/>
                </a:lnTo>
                <a:lnTo>
                  <a:pt x="183" y="2"/>
                </a:lnTo>
                <a:lnTo>
                  <a:pt x="189" y="1"/>
                </a:lnTo>
                <a:lnTo>
                  <a:pt x="194" y="1"/>
                </a:lnTo>
                <a:lnTo>
                  <a:pt x="199" y="0"/>
                </a:lnTo>
                <a:lnTo>
                  <a:pt x="205" y="0"/>
                </a:lnTo>
                <a:lnTo>
                  <a:pt x="210" y="0"/>
                </a:lnTo>
                <a:close/>
              </a:path>
            </a:pathLst>
          </a:custGeom>
          <a:solidFill>
            <a:srgbClr val="F3B26C">
              <a:alpha val="20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Ambil tanggal piket</a:t>
            </a:r>
            <a:endParaRPr/>
          </a:p>
        </p:txBody>
      </p:sp>
      <p:sp>
        <p:nvSpPr>
          <p:cNvPr id="36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609600" y="1409700"/>
            <a:ext cx="5553075" cy="173355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5400" b="1">
                <a:solidFill>
                  <a:srgbClr val="51277C"/>
                </a:solidFill>
                <a:latin typeface="Trebuchet MS"/>
                <a:ea typeface="Trebuchet MS"/>
              </a:rPr>
              <a:t>Siapa cepat,</a:t>
            </a:r>
            <a:endParaRPr/>
          </a:p>
          <a:p>
            <a:pPr>
              <a:lnSpc>
                <a:spcPct val="105000"/>
              </a:lnSpc>
            </a:pPr>
            <a:r>
              <a:rPr lang="en-US" sz="5400" b="1">
                <a:solidFill>
                  <a:srgbClr val="51277C"/>
                </a:solidFill>
                <a:latin typeface="Trebuchet MS"/>
                <a:ea typeface="Trebuchet MS"/>
              </a:rPr>
              <a:t>dia dapat.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609600" y="3371850"/>
            <a:ext cx="1047750" cy="66675"/>
          </a:xfrm>
          <a:prstGeom prst="roundRect">
            <a:avLst>
              <a:gd name="adj" fmla="val 57143"/>
            </a:avLst>
          </a:pr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609600" y="3648075"/>
            <a:ext cx="555307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425">
                <a:solidFill>
                  <a:srgbClr val="2A2333"/>
                </a:solidFill>
                <a:latin typeface="Verdana"/>
                <a:ea typeface="Verdana"/>
              </a:rPr>
              <a:t>Tanggal yang belum ada petugasnya bisa diambil sendiri. Satu ketuk langsung tercatat.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609600" y="4457700"/>
            <a:ext cx="5553075" cy="1019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425">
                <a:solidFill>
                  <a:srgbClr val="6B6478"/>
                </a:solidFill>
                <a:latin typeface="Verdana"/>
                <a:ea typeface="Verdana"/>
              </a:rPr>
              <a:t>Kalau keduluan, aplikasi menyebut siapa yang lebih dulu mengambilnya. Jadi tidak ada lagi dua orang merasa sama-sama sudah dapat.</a:t>
            </a:r>
            <a:endParaRPr/>
          </a:p>
        </p:txBody>
      </p:sp>
      <p:sp>
        <p:nvSpPr>
          <p:cNvPr id="41" name=""/>
          <p:cNvSpPr/>
          <p:nvPr/>
        </p:nvSpPr>
        <p:spPr>
          <a:xfrm rot="0" flipH="0" flipV="0">
            <a:off x="609600" y="5686425"/>
            <a:ext cx="3219450" cy="438150"/>
          </a:xfrm>
          <a:prstGeom prst="roundRect">
            <a:avLst>
              <a:gd name="adj" fmla="val 30435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pic>
        <p:nvPicPr>
          <p:cNvPr id="42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00100" y="5800725"/>
            <a:ext cx="209550" cy="209550"/>
          </a:xfrm>
          <a:prstGeom prst="rect">
            <a:avLst/>
          </a:prstGeom>
          <a:ln/>
        </p:spPr>
      </p:pic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1123950" y="5800725"/>
            <a:ext cx="2495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2A2333"/>
                </a:solidFill>
                <a:latin typeface="Verdana"/>
                <a:ea typeface="Verdana"/>
              </a:rPr>
              <a:t>Masih bisa dibatalkan sendiri</a:t>
            </a:r>
            <a:endParaRPr/>
          </a:p>
        </p:txBody>
      </p:sp>
      <p:pic>
        <p:nvPicPr>
          <p:cNvPr id="44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734175" y="1762125"/>
            <a:ext cx="4572000" cy="4000500"/>
          </a:xfrm>
          <a:prstGeom prst="rect">
            <a:avLst/>
          </a:prstGeom>
          <a:ln/>
        </p:spPr>
      </p:pic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562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Orang Tua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11 / 15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Cari menu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609600" y="1238250"/>
            <a:ext cx="3209925" cy="5048250"/>
          </a:xfrm>
          <a:prstGeom prst="roundRect">
            <a:avLst>
              <a:gd name="adj" fmla="val 5935"/>
            </a:avLst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1590675" y="1485900"/>
            <a:ext cx="1257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FFFFF">
                    <a:alpha val="75000"/>
                  </a:srgbClr>
                </a:solidFill>
                <a:latin typeface="Verdana"/>
                <a:ea typeface="Verdana"/>
              </a:rPr>
              <a:t>Fitur pendukung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66900" y="1752600"/>
            <a:ext cx="71437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FFFFFF"/>
                </a:solidFill>
                <a:latin typeface="Trebuchet MS"/>
                <a:ea typeface="Trebuchet MS"/>
              </a:rPr>
              <a:t>Cari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314450" y="2924175"/>
            <a:ext cx="1809750" cy="1809750"/>
          </a:xfrm>
          <a:prstGeom prst="rect">
            <a:avLst/>
          </a:prstGeom>
          <a:ln/>
        </p:spPr>
      </p:pic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857250" y="5448300"/>
            <a:ext cx="2714625" cy="590550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0000"/>
              </a:lnSpc>
            </a:pPr>
            <a:r>
              <a:rPr lang="en-US" sz="1275">
                <a:solidFill>
                  <a:srgbClr val="FFFFFF">
                    <a:alpha val="90000"/>
                  </a:srgbClr>
                </a:solidFill>
                <a:latin typeface="Verdana"/>
                <a:ea typeface="Verdana"/>
              </a:rPr>
              <a:t>Dipakai kalau ingin tahu riwayat menu.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4162425" y="1238250"/>
            <a:ext cx="7496175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57" name=""/>
          <p:cNvSpPr/>
          <p:nvPr/>
        </p:nvSpPr>
        <p:spPr>
          <a:xfrm rot="0" flipH="0" flipV="0">
            <a:off x="4162425" y="1238250"/>
            <a:ext cx="7496175" cy="1581150"/>
          </a:xfrm>
          <a:custGeom>
            <a:pathLst>
              <a:path w="787" h="16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8"/>
                </a:lnTo>
                <a:cubicBezTo>
                  <a:pt x="8" y="162"/>
                  <a:pt x="11" y="165"/>
                  <a:pt x="14" y="166"/>
                </a:cubicBezTo>
                <a:cubicBezTo>
                  <a:pt x="6" y="165"/>
                  <a:pt x="0" y="158"/>
                  <a:pt x="0" y="15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58" name=""/>
          <p:cNvSpPr/>
          <p:nvPr/>
        </p:nvSpPr>
        <p:spPr>
          <a:xfrm rot="0" flipH="0" flipV="0">
            <a:off x="4391025" y="177165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59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514850" y="1895475"/>
            <a:ext cx="266700" cy="266700"/>
          </a:xfrm>
          <a:prstGeom prst="rect">
            <a:avLst/>
          </a:prstGeom>
          <a:ln/>
        </p:spPr>
      </p:pic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5095875" y="1666875"/>
            <a:ext cx="623887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2A2333"/>
                </a:solidFill>
                <a:latin typeface="Trebuchet MS"/>
                <a:ea typeface="Trebuchet MS"/>
              </a:rPr>
              <a:t>Ketik nama makanan atau buah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5095875" y="2085975"/>
            <a:ext cx="6238875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Misalnya "jeruk" atau "roti". Aplikasi langsung menemukannya.</a:t>
            </a:r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4162425" y="2971800"/>
            <a:ext cx="7496175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4162425" y="2971800"/>
            <a:ext cx="7496175" cy="1581150"/>
          </a:xfrm>
          <a:custGeom>
            <a:pathLst>
              <a:path w="787" h="16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8"/>
                </a:lnTo>
                <a:cubicBezTo>
                  <a:pt x="8" y="162"/>
                  <a:pt x="11" y="165"/>
                  <a:pt x="14" y="166"/>
                </a:cubicBezTo>
                <a:cubicBezTo>
                  <a:pt x="6" y="165"/>
                  <a:pt x="0" y="158"/>
                  <a:pt x="0" y="15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4391025" y="350520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65" name="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4514850" y="3629025"/>
            <a:ext cx="266700" cy="266700"/>
          </a:xfrm>
          <a:prstGeom prst="rect">
            <a:avLst/>
          </a:prstGeom>
          <a:ln/>
        </p:spPr>
      </p:pic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5095875" y="3400425"/>
            <a:ext cx="623887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2A2333"/>
                </a:solidFill>
                <a:latin typeface="Trebuchet MS"/>
                <a:ea typeface="Trebuchet MS"/>
              </a:rPr>
              <a:t>Tahu kapan terakhir disajikan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5095875" y="3819525"/>
            <a:ext cx="6238875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Hasilnya berupa daftar tanggal, jadi rotasi menunya kelihatan.</a:t>
            </a:r>
            <a:endParaRPr/>
          </a:p>
        </p:txBody>
      </p:sp>
      <p:sp>
        <p:nvSpPr>
          <p:cNvPr id="68" name=""/>
          <p:cNvSpPr/>
          <p:nvPr/>
        </p:nvSpPr>
        <p:spPr>
          <a:xfrm rot="0" flipH="0" flipV="0">
            <a:off x="4162425" y="4705350"/>
            <a:ext cx="7496175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4162425" y="4705350"/>
            <a:ext cx="7496175" cy="1581150"/>
          </a:xfrm>
          <a:custGeom>
            <a:pathLst>
              <a:path w="787" h="16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8"/>
                </a:lnTo>
                <a:cubicBezTo>
                  <a:pt x="8" y="162"/>
                  <a:pt x="11" y="165"/>
                  <a:pt x="14" y="166"/>
                </a:cubicBezTo>
                <a:cubicBezTo>
                  <a:pt x="6" y="165"/>
                  <a:pt x="0" y="158"/>
                  <a:pt x="0" y="15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4371975" y="4914900"/>
            <a:ext cx="700087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2A2333"/>
                </a:solidFill>
                <a:latin typeface="Trebuchet MS"/>
                <a:ea typeface="Trebuchet MS"/>
              </a:rPr>
              <a:t>Berguna kalau anak punya pantangan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4371975" y="5353050"/>
            <a:ext cx="7000875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Bisa dicek lebih dulu sebelum hari itu tiba. Kalau perlu, hubungi korlas kelas agar menu diganti.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4371975" y="5905500"/>
            <a:ext cx="7000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51277C"/>
                </a:solidFill>
                <a:latin typeface="Verdana"/>
                <a:ea typeface="Verdana"/>
              </a:rPr>
              <a:t>Contoh: cari "udang", lalu lihat tanggalnya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562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Orang Tua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12 / 15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77" name=""/>
          <p:cNvSpPr/>
          <p:nvPr/>
        </p:nvSpPr>
        <p:spPr>
          <a:xfrm rot="0" flipH="0" flipV="0">
            <a:off x="8572500" y="4095750"/>
            <a:ext cx="4000500" cy="4000500"/>
          </a:xfrm>
          <a:custGeom>
            <a:pathLst>
              <a:path w="420" h="420">
                <a:moveTo>
                  <a:pt x="215" y="0"/>
                </a:moveTo>
                <a:lnTo>
                  <a:pt x="221" y="0"/>
                </a:lnTo>
                <a:lnTo>
                  <a:pt x="226" y="1"/>
                </a:lnTo>
                <a:lnTo>
                  <a:pt x="231" y="1"/>
                </a:lnTo>
                <a:lnTo>
                  <a:pt x="237" y="2"/>
                </a:lnTo>
                <a:lnTo>
                  <a:pt x="242" y="2"/>
                </a:lnTo>
                <a:lnTo>
                  <a:pt x="247" y="3"/>
                </a:lnTo>
                <a:lnTo>
                  <a:pt x="252" y="4"/>
                </a:lnTo>
                <a:lnTo>
                  <a:pt x="257" y="5"/>
                </a:lnTo>
                <a:lnTo>
                  <a:pt x="262" y="7"/>
                </a:lnTo>
                <a:lnTo>
                  <a:pt x="267" y="8"/>
                </a:lnTo>
                <a:lnTo>
                  <a:pt x="272" y="9"/>
                </a:lnTo>
                <a:lnTo>
                  <a:pt x="277" y="11"/>
                </a:lnTo>
                <a:lnTo>
                  <a:pt x="282" y="13"/>
                </a:lnTo>
                <a:lnTo>
                  <a:pt x="287" y="15"/>
                </a:lnTo>
                <a:lnTo>
                  <a:pt x="292" y="17"/>
                </a:lnTo>
                <a:lnTo>
                  <a:pt x="296" y="19"/>
                </a:lnTo>
                <a:lnTo>
                  <a:pt x="301" y="21"/>
                </a:lnTo>
                <a:lnTo>
                  <a:pt x="306" y="23"/>
                </a:lnTo>
                <a:lnTo>
                  <a:pt x="310" y="25"/>
                </a:lnTo>
                <a:lnTo>
                  <a:pt x="314" y="28"/>
                </a:lnTo>
                <a:lnTo>
                  <a:pt x="319" y="30"/>
                </a:lnTo>
                <a:lnTo>
                  <a:pt x="323" y="33"/>
                </a:lnTo>
                <a:lnTo>
                  <a:pt x="327" y="36"/>
                </a:lnTo>
                <a:lnTo>
                  <a:pt x="332" y="39"/>
                </a:lnTo>
                <a:lnTo>
                  <a:pt x="336" y="42"/>
                </a:lnTo>
                <a:lnTo>
                  <a:pt x="340" y="45"/>
                </a:lnTo>
                <a:lnTo>
                  <a:pt x="344" y="48"/>
                </a:lnTo>
                <a:lnTo>
                  <a:pt x="347" y="51"/>
                </a:lnTo>
                <a:lnTo>
                  <a:pt x="351" y="55"/>
                </a:lnTo>
                <a:lnTo>
                  <a:pt x="355" y="58"/>
                </a:lnTo>
                <a:lnTo>
                  <a:pt x="358" y="62"/>
                </a:lnTo>
                <a:lnTo>
                  <a:pt x="362" y="65"/>
                </a:lnTo>
                <a:lnTo>
                  <a:pt x="365" y="69"/>
                </a:lnTo>
                <a:lnTo>
                  <a:pt x="369" y="73"/>
                </a:lnTo>
                <a:lnTo>
                  <a:pt x="372" y="76"/>
                </a:lnTo>
                <a:lnTo>
                  <a:pt x="375" y="80"/>
                </a:lnTo>
                <a:lnTo>
                  <a:pt x="378" y="84"/>
                </a:lnTo>
                <a:lnTo>
                  <a:pt x="380" y="87"/>
                </a:lnTo>
                <a:lnTo>
                  <a:pt x="380" y="290"/>
                </a:lnTo>
                <a:lnTo>
                  <a:pt x="16" y="290"/>
                </a:lnTo>
                <a:lnTo>
                  <a:pt x="15" y="287"/>
                </a:lnTo>
                <a:lnTo>
                  <a:pt x="13" y="282"/>
                </a:lnTo>
                <a:lnTo>
                  <a:pt x="11" y="277"/>
                </a:lnTo>
                <a:lnTo>
                  <a:pt x="9" y="272"/>
                </a:lnTo>
                <a:lnTo>
                  <a:pt x="8" y="267"/>
                </a:lnTo>
                <a:lnTo>
                  <a:pt x="7" y="262"/>
                </a:lnTo>
                <a:lnTo>
                  <a:pt x="5" y="257"/>
                </a:lnTo>
                <a:lnTo>
                  <a:pt x="4" y="252"/>
                </a:lnTo>
                <a:lnTo>
                  <a:pt x="3" y="247"/>
                </a:lnTo>
                <a:lnTo>
                  <a:pt x="2" y="242"/>
                </a:lnTo>
                <a:lnTo>
                  <a:pt x="2" y="237"/>
                </a:lnTo>
                <a:lnTo>
                  <a:pt x="1" y="231"/>
                </a:lnTo>
                <a:lnTo>
                  <a:pt x="1" y="226"/>
                </a:lnTo>
                <a:lnTo>
                  <a:pt x="0" y="221"/>
                </a:lnTo>
                <a:lnTo>
                  <a:pt x="0" y="215"/>
                </a:lnTo>
                <a:lnTo>
                  <a:pt x="0" y="210"/>
                </a:lnTo>
                <a:lnTo>
                  <a:pt x="0" y="205"/>
                </a:lnTo>
                <a:lnTo>
                  <a:pt x="0" y="199"/>
                </a:lnTo>
                <a:lnTo>
                  <a:pt x="1" y="194"/>
                </a:lnTo>
                <a:lnTo>
                  <a:pt x="1" y="189"/>
                </a:lnTo>
                <a:lnTo>
                  <a:pt x="2" y="183"/>
                </a:lnTo>
                <a:lnTo>
                  <a:pt x="2" y="178"/>
                </a:lnTo>
                <a:lnTo>
                  <a:pt x="3" y="173"/>
                </a:lnTo>
                <a:lnTo>
                  <a:pt x="4" y="168"/>
                </a:lnTo>
                <a:lnTo>
                  <a:pt x="5" y="163"/>
                </a:lnTo>
                <a:lnTo>
                  <a:pt x="7" y="158"/>
                </a:lnTo>
                <a:lnTo>
                  <a:pt x="8" y="153"/>
                </a:lnTo>
                <a:lnTo>
                  <a:pt x="9" y="148"/>
                </a:lnTo>
                <a:lnTo>
                  <a:pt x="11" y="143"/>
                </a:lnTo>
                <a:lnTo>
                  <a:pt x="13" y="138"/>
                </a:lnTo>
                <a:lnTo>
                  <a:pt x="15" y="133"/>
                </a:lnTo>
                <a:lnTo>
                  <a:pt x="17" y="128"/>
                </a:lnTo>
                <a:lnTo>
                  <a:pt x="19" y="124"/>
                </a:lnTo>
                <a:lnTo>
                  <a:pt x="21" y="119"/>
                </a:lnTo>
                <a:lnTo>
                  <a:pt x="23" y="114"/>
                </a:lnTo>
                <a:lnTo>
                  <a:pt x="25" y="110"/>
                </a:lnTo>
                <a:lnTo>
                  <a:pt x="28" y="106"/>
                </a:lnTo>
                <a:lnTo>
                  <a:pt x="30" y="101"/>
                </a:lnTo>
                <a:lnTo>
                  <a:pt x="33" y="97"/>
                </a:lnTo>
                <a:lnTo>
                  <a:pt x="36" y="93"/>
                </a:lnTo>
                <a:lnTo>
                  <a:pt x="39" y="88"/>
                </a:lnTo>
                <a:lnTo>
                  <a:pt x="42" y="84"/>
                </a:lnTo>
                <a:lnTo>
                  <a:pt x="45" y="80"/>
                </a:lnTo>
                <a:lnTo>
                  <a:pt x="48" y="76"/>
                </a:lnTo>
                <a:lnTo>
                  <a:pt x="51" y="73"/>
                </a:lnTo>
                <a:lnTo>
                  <a:pt x="55" y="69"/>
                </a:lnTo>
                <a:lnTo>
                  <a:pt x="58" y="65"/>
                </a:lnTo>
                <a:lnTo>
                  <a:pt x="62" y="62"/>
                </a:lnTo>
                <a:lnTo>
                  <a:pt x="65" y="58"/>
                </a:lnTo>
                <a:lnTo>
                  <a:pt x="69" y="55"/>
                </a:lnTo>
                <a:lnTo>
                  <a:pt x="73" y="51"/>
                </a:lnTo>
                <a:lnTo>
                  <a:pt x="76" y="48"/>
                </a:lnTo>
                <a:lnTo>
                  <a:pt x="80" y="45"/>
                </a:lnTo>
                <a:lnTo>
                  <a:pt x="84" y="42"/>
                </a:lnTo>
                <a:lnTo>
                  <a:pt x="88" y="39"/>
                </a:lnTo>
                <a:lnTo>
                  <a:pt x="93" y="36"/>
                </a:lnTo>
                <a:lnTo>
                  <a:pt x="97" y="33"/>
                </a:lnTo>
                <a:lnTo>
                  <a:pt x="101" y="30"/>
                </a:lnTo>
                <a:lnTo>
                  <a:pt x="106" y="28"/>
                </a:lnTo>
                <a:lnTo>
                  <a:pt x="110" y="25"/>
                </a:lnTo>
                <a:lnTo>
                  <a:pt x="114" y="23"/>
                </a:lnTo>
                <a:lnTo>
                  <a:pt x="119" y="21"/>
                </a:lnTo>
                <a:lnTo>
                  <a:pt x="124" y="19"/>
                </a:lnTo>
                <a:lnTo>
                  <a:pt x="128" y="17"/>
                </a:lnTo>
                <a:lnTo>
                  <a:pt x="133" y="15"/>
                </a:lnTo>
                <a:lnTo>
                  <a:pt x="138" y="13"/>
                </a:lnTo>
                <a:lnTo>
                  <a:pt x="143" y="11"/>
                </a:lnTo>
                <a:lnTo>
                  <a:pt x="148" y="9"/>
                </a:lnTo>
                <a:lnTo>
                  <a:pt x="153" y="8"/>
                </a:lnTo>
                <a:lnTo>
                  <a:pt x="158" y="7"/>
                </a:lnTo>
                <a:lnTo>
                  <a:pt x="163" y="5"/>
                </a:lnTo>
                <a:lnTo>
                  <a:pt x="168" y="4"/>
                </a:lnTo>
                <a:lnTo>
                  <a:pt x="173" y="3"/>
                </a:lnTo>
                <a:lnTo>
                  <a:pt x="178" y="2"/>
                </a:lnTo>
                <a:lnTo>
                  <a:pt x="183" y="2"/>
                </a:lnTo>
                <a:lnTo>
                  <a:pt x="189" y="1"/>
                </a:lnTo>
                <a:lnTo>
                  <a:pt x="194" y="1"/>
                </a:lnTo>
                <a:lnTo>
                  <a:pt x="199" y="0"/>
                </a:lnTo>
                <a:lnTo>
                  <a:pt x="205" y="0"/>
                </a:lnTo>
                <a:lnTo>
                  <a:pt x="210" y="0"/>
                </a:lnTo>
                <a:close/>
              </a:path>
            </a:pathLst>
          </a:custGeom>
          <a:solidFill>
            <a:srgbClr val="AFC440">
              <a:alpha val="16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78" name=""/>
          <p:cNvPicPr>
            <a:picLocks noChangeAspect="1"/>
          </p:cNvPicPr>
          <p:nvPr/>
        </p:nvPicPr>
        <p:blipFill>
          <a:blip r:embed="rId1">
            <a:alphaModFix amt="22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086850" y="742950"/>
            <a:ext cx="2190750" cy="2190750"/>
          </a:xfrm>
          <a:prstGeom prst="rect">
            <a:avLst/>
          </a:prstGeom>
          <a:ln/>
        </p:spPr>
      </p:pic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685800" y="1771650"/>
            <a:ext cx="857250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>
                <a:solidFill>
                  <a:srgbClr val="F3B26C"/>
                </a:solidFill>
                <a:latin typeface="Trebuchet MS"/>
                <a:ea typeface="Trebuchet MS"/>
              </a:rPr>
              <a:t>04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1676400" y="1962150"/>
            <a:ext cx="28575" cy="495300"/>
          </a:xfrm>
          <a:prstGeom prst="rect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1838325" y="2105025"/>
            <a:ext cx="14001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FFFFF">
                    <a:alpha val="80000"/>
                  </a:srgbClr>
                </a:solidFill>
                <a:latin typeface="Verdana"/>
                <a:ea typeface="Verdana"/>
              </a:rPr>
              <a:t>Bagian terakhir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685800" y="2895600"/>
            <a:ext cx="6705600" cy="158115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FFFFFF"/>
                </a:solidFill>
                <a:latin typeface="Trebuchet MS"/>
                <a:ea typeface="Trebuchet MS"/>
              </a:rPr>
              <a:t>Yang perlu</a:t>
            </a:r>
            <a:endParaRPr/>
          </a:p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FFFFFF"/>
                </a:solidFill>
                <a:latin typeface="Trebuchet MS"/>
                <a:ea typeface="Trebuchet MS"/>
              </a:rPr>
              <a:t>diingat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685800" y="4705350"/>
            <a:ext cx="67056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650">
                <a:solidFill>
                  <a:srgbClr val="FFFFFF">
                    <a:alpha val="88000"/>
                  </a:srgbClr>
                </a:solidFill>
                <a:latin typeface="Verdana"/>
                <a:ea typeface="Verdana"/>
              </a:rPr>
              <a:t>Empat hal yang paling sering ditanyakan orang tua.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4" name="" descr="&lt;Slide&#13;&#10;    style={{&#13;&#10;        width: '1280px',&#13;&#10;        height: '720px',&#13;&#10;        background: '#FAF7F2',&#13;&#10;        paddingTop: 20,&#13;&#10;        paddingBottom: 20,&#13;&#10;        paddingLeft: 64,&#13;&#10;        paddingRight: 64,&#13;&#10;    }}&#13;&#10;&gt;&#13;&#10;    {/* ── A · blok judul ── */}&#13;&#10;    &lt;Box style={{ height: 110, justifyContent: 'center' }}&gt;&#13;&#10;        &lt;Text&#13;&#10;            style={{&#13;&#10;                fontSize: 34,&#13;&#10;                fontWeight: 'bold',&#13;&#10;                color: '#51277C',&#13;&#10;                fontFamily: 'Trebuchet MS',&#13;&#10;                lineHeight: 1.3,&#13;&#10;            }}&#13;&#10;        &gt;&#13;&#10;            Empat hal yang perlu diingat&#13;&#10;        &lt;/Text&gt;&#13;&#10;        &lt;Box style={{ marginTop: 10, width: 72, height: 6, borderRadius: 3, background: '#51277C' }} /&gt;&#13;&#10;    &lt;/Box&gt;&#13;&#10;&#13;&#10;    {/* ── B · area konten ── */}&#13;&#10;    &lt;Box style={{ height: 530 }}&gt;&#13;&#10;        &lt;Box style={{ height: 470, flexDirection: 'row', gap: 18 }}&gt;&#13;&#10;            {[&#13;&#10;                {&#13;&#10;                    vb: '0 0 512 512',&#13;&#10;                    d: 'M256 0a256 256 0 1 1 0 512A256 256 0 1 1 256 0zM232 120V256c0 8 4 15.5 10.7 20l96 64c11 7.4 25.9 4.4 33.3-6.7s4.4-25.9-6.7-33.3L280 243.2V120c0-13.3-10.7-24-24-24s-24 10.7-24 24z',&#13;&#10;                    t: 'Jadwal muncul setelah diumumkan',&#13;&#10;                    d: 'Jadwal baru tampil setelah korlas atau admin sekolah mengumumkannya. Kalau hari itu belum muncul, berarti belum diumumkan — bukan hilang.',&#13;&#10;                    g: 'Sabar menunggu',&#13;&#10;                },&#13;&#10;                {&#13;&#10;                    vb: '0 0 640 512',&#13;&#10;                    d: 'M144 0a80 80 0 1 1 0 160A80 80 0 1 1 144 0zM512 0a80 80 0 1 1 0 160A80 80 0 1 1 512 0zM0 298.7C0 239.8 47.8 192 106.7 192h42.7c15.9 0 31 3.5 44.6 9.7c-1.3 7.2-1.9 14.7-1.9 22.3c0 38.2 16.8 72.5 43.3 96c-.2 0-.4 0-.7 0H21.3C9.6 320 0 310.4 0 298.7zM405.3 320c-.2 0-.4 0-.7 0c26.6-23.5 43.3-57.8 43.3-96c0-7.6-.7-15-1.9-22.3c13.6-6.3 28.7-9.7 44.6-9.7h42.7C592.2 192 640 239.8 640 298.7c0 11.8-9.6 21.3-21.3 21.3H405.3zM224 224a96 96 0 1 1 192 0 96 96 0 1 1 -192 0zM128 485.3C128 411.7 187.7 352 261.3 352H378.7C452.3 352 512 411.7 512 485.3c0 14.7-11.9 26.7-26.7 26.7H154.7c-14.7 0-26.7-11.9-26.7-26.7z',&#13;&#10;                    t: 'Satu akun untuk beberapa anak',&#13;&#10;                    d: 'Punya dua anak di kelas berbeda tidak perlu akun tambahan. Pilih kelasnya di bagian atas layar, jadwalnya ikut berganti.',&#13;&#10;                    g: 'Tidak perlu daftar ulang',&#13;&#10;                },&#13;&#10;                {&#13;&#10;                    vb: '0 0 576 512',&#13;&#10;                    d: 'M575.8 255.5c0 18-15 32.1-32 32.1h-32l.7 160.2c0 2.7-.2 5.4-.5 8.1V472c0 22.1-17.9 40-40 40H456c-1.1 0-2.2 0-3.3-.1c-1.4 .1-2.8 .1-4.2 .1H416 392c-22.1 0-40-17.9-40-40V448 384c0-17.7-14.3-32-32-32H256c-17.7 0-32 14.3-32 32v64 24c0 22.1-17.9 40-40 40H160 128.1c-1.5 0-3-.1-4.5-.2c-1.2 .1-2.4 .2-3.6 .2H104c-22.1 0-40-17.9-40-40V360c0-.9 0-1.9 .1-2.8V287.6H32c-18 0-32-14-32-32.1c0-9 3-17 10-24L266.4 8c7-7 15-8 22-8s15 2 21 7L564.8 231.5c8 7 12 15 11 24z',&#13;&#10;                    t: 'Ambil tanggal di kelas anak sendiri',&#13;&#10;                    d: 'Setiap kelas punya barisnya sendiri. Ambil tanggal di kelas lain tidak bisa, dan yang sudah ditentukan korlas tidak ikut direbutkan.',&#13;&#10;                    g: 'Adil per kelas',&#13;&#10;                },&#13;&#10;                {&#13;&#10;                    vb: '0 0 512 512',&#13;&#10;                    d: 'M164.9 24.6c-7.7-18.6-28-28.5-47.4-23.2l-88 24C12.1 30.2 0 46 0 64C0 311.4 200.6 512 448 512c18 0 33.8-12.1 38.6-29.5l24-88c5.3-19.4-4.6-39.7-23.2-47.4l-96-40c-16.3-6.8-35.2-2.1-46.3 11.6L304.7 368C234.3 334.7 177.3 277.7 144 207.3L193.3 167c13.7-11.2 18.4-30 11.6-46.3l-40-96z',&#13;&#10;                    t: 'Perubahan lewat korlas kelas',&#13;&#10;                    d: 'Jadwal yang sudah diumumkan tidak bisa diubah sendiri. Sampaikan ke korlas kelas atau admin sekolah bila ada keperluan mendadak.',&#13;&#10;                    g: 'Jangan diubah sendiri',&#13;&#10;                },&#13;&#10;            ].map((c, idx) =&gt; (&#13;&#10;                &lt;Box&#13;&#10;                    key={idx}&#13;&#10;                    style={{&#13;&#10;                        flex: 1,&#13;&#10;                        height: '100%',&#13;&#10;                        background: '#FFFFFF',&#13;&#10;                        borderRadius: 16,&#13;&#10;                        boxShadow: '0 4px 20px rgba(0,0,0,0.08)',&#13;&#10;                        padding: 24,&#13;&#10;                        borderTop: '8px solid #AFC440',&#13;&#10;                    }}&#13;&#10;                &gt;&#13;&#10;                    &lt;Box&#13;&#10;                        style={{&#13;&#10;                            width: 60,&#13;&#10;                            height: 60,&#13;&#10;                            borderRadius: 30,&#13;&#10;                            background: 'rgba(81,39,124,0.10)',&#13;&#10;                            justifyContent: 'center',&#13;&#10;                            alignItems: 'center',&#13;&#10;                        }}&#13;&#10;                    &gt;&#13;&#10;                        &lt;svg width={30} height={30} viewBox={c.vb} xmlns=&quot;http://www.w3.org/2000/svg&quot;&gt;&lt;path fill=&quot;#51277C&quot; d={c.d} /&gt;&lt;/svg&gt;&#13;&#10;                    &lt;/Box&gt;&#13;&#10;&#13;&#10;                    &lt;Text&#13;&#10;                        style={{&#13;&#10;                            marginTop: 16,&#13;&#10;                            fontSize: 23,&#13;&#10;                            fontWeight: 'bold',&#13;&#10;                            color: '#51277C',&#13;&#10;                            fontFamily: 'Trebuchet MS',&#13;&#10;                            lineHeight: 1.32,&#13;&#10;                        }}&#13;&#10;                    &gt;&#13;&#10;                        {c.t}&#13;&#10;                    &lt;/Text&gt;&#13;&#10;&#13;&#10;                    &lt;Box&#13;&#10;                        style={{&#13;&#10;                            marginTop: 12,&#13;&#10;                            width: 44,&#13;&#10;                            height: 3,&#13;&#10;                            borderRadius: 2,&#13;&#10;                            background: '#AFC440',&#13;&#10;                        }}&#13;&#10;                    /&gt;&#13;&#10;&#13;&#10;                    &lt;Text&#13;&#10;                        style={{&#13;&#10;                            marginTop: 12,&#13;&#10;                            fontSize: 17,&#13;&#10;                            color: '#6B6478',&#13;&#10;                            fontFamily: 'Verdana',&#13;&#10;                            lineHeight: 1.5,&#13;&#10;                        }}&#13;&#10;                    &gt;&#13;&#10;                        {c.d}&#13;&#10;                    &lt;/Text&gt;&#13;&#10;&#13;&#10;                    &lt;Box style={{ marginTop: 'auto' }}&gt;&#13;&#10;                        &lt;Text&#13;&#10;                            style={{&#13;&#10;                                fontSize: 16,&#13;&#10;                                color: '#51277C',&#13;&#10;                                fontFamily: 'Verdana',&#13;&#10;                                fontWeight: 'bold',&#13;&#10;                            }}&#13;&#10;                        &gt;&#13;&#10;                            {c.g}&#13;&#10;                        &lt;/Text&gt;&#13;&#10;                    &lt;/Box&gt;&#13;&#10;                &lt;/Box&gt;&#13;&#10;            ))}&#13;&#10;        &lt;/Box&gt;&#13;&#10;&#13;&#10;        {/* simpulan */}&#13;&#10;        &lt;Box&#13;&#10;            style={{&#13;&#10;                marginTop: 14,&#13;&#10;                height: 46,&#13;&#10;                background: '#51277C',&#13;&#10;                borderRadius: 14,&#13;&#10;                justifyContent: 'center',&#13;&#10;                alignItems: 'center',&#13;&#10;            }}&#13;&#10;        &gt;&#13;&#10;            &lt;Text&#13;&#10;                style={{&#13;&#10;                    fontSize: 19,&#13;&#10;                    color: '#FFFFFF',&#13;&#10;                    fontFamily: 'Verdana',&#13;&#10;                    fontWeight: 'bold',&#13;&#10;                }}&#13;&#10;            &gt;&#13;&#10;                Intinya: satu akun, satu aplikasi, dan semua perubahan disampaikan lewat korlas kelas.&#13;&#10;            &lt;/Text&gt;&#13;&#10;        &lt;/Box&gt;&#13;&#10;    &lt;/Box&gt;&#13;&#10;&#13;&#10;    {/* ── C · bilah kaki ── */}&#13;&#10;    &lt;Box&#13;&#10;        style={{&#13;&#10;            height: 40,&#13;&#10;            flexDirection: 'row',&#13;&#10;            alignItems: 'center',&#13;&#10;            justifyContent: 'space-between',&#13;&#10;        }}&#13;&#10;    &gt;&#13;&#10;        &lt;Text style={{ fontSize: 14, color: '#6B6478', fontFamily: 'Verdana' }}&gt;&#13;&#10;            Pizza Snack Play · Panduan Orang Tua&#13;&#10;        &lt;/Text&gt;&#13;&#10;        &lt;Text style={{ fontSize: 14, color: '#6B6478', fontFamily: 'Verdana' }}&gt;14 / 15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/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Empat hal yang perlu diingat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/>
        </p:txBody>
      </p:sp>
      <p:sp>
        <p:nvSpPr>
          <p:cNvPr id="88" name=""/>
          <p:cNvSpPr/>
          <p:nvPr/>
        </p:nvSpPr>
        <p:spPr>
          <a:xfrm rot="0" flipH="0" flipV="0">
            <a:off x="609600" y="1314450"/>
            <a:ext cx="2619375" cy="44767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9" name=""/>
          <p:cNvSpPr/>
          <p:nvPr/>
        </p:nvSpPr>
        <p:spPr>
          <a:xfrm rot="0" flipH="0" flipV="0">
            <a:off x="609600" y="1314450"/>
            <a:ext cx="2619375" cy="4476750"/>
          </a:xfrm>
          <a:custGeom>
            <a:pathLst>
              <a:path w="275" h="470">
                <a:moveTo>
                  <a:pt x="260" y="0"/>
                </a:moveTo>
                <a:cubicBezTo>
                  <a:pt x="267" y="0"/>
                  <a:pt x="274" y="6"/>
                  <a:pt x="275" y="14"/>
                </a:cubicBezTo>
                <a:cubicBezTo>
                  <a:pt x="274" y="10"/>
                  <a:pt x="271" y="8"/>
                  <a:pt x="267" y="8"/>
                </a:cubicBezTo>
                <a:lnTo>
                  <a:pt x="8" y="8"/>
                </a:lnTo>
                <a:cubicBezTo>
                  <a:pt x="4" y="8"/>
                  <a:pt x="1" y="11"/>
                  <a:pt x="0" y="14"/>
                </a:cubicBezTo>
                <a:cubicBezTo>
                  <a:pt x="1" y="6"/>
                  <a:pt x="8" y="0"/>
                  <a:pt x="16" y="0"/>
                </a:cubicBezTo>
                <a:lnTo>
                  <a:pt x="259" y="0"/>
                </a:ln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90" name=""/>
          <p:cNvSpPr/>
          <p:nvPr/>
        </p:nvSpPr>
        <p:spPr>
          <a:xfrm rot="0" flipH="0" flipV="0">
            <a:off x="838200" y="15430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/>
        </p:txBody>
      </p:sp>
      <p:pic>
        <p:nvPicPr>
          <p:cNvPr id="91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81075" y="1685925"/>
            <a:ext cx="285750" cy="285750"/>
          </a:xfrm>
          <a:prstGeom prst="rect">
            <a:avLst/>
          </a:prstGeom>
          <a:ln/>
        </p:spPr>
      </p:pic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838200" y="2266950"/>
            <a:ext cx="2162175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2000"/>
              </a:lnSpc>
            </a:pPr>
            <a:r>
              <a:rPr lang="en-US" sz="1725" b="1">
                <a:solidFill>
                  <a:srgbClr val="51277C"/>
                </a:solidFill>
                <a:latin typeface="Trebuchet MS"/>
                <a:ea typeface="Trebuchet MS"/>
              </a:rPr>
              <a:t>Jadwal muncul setelah diumumkan</a:t>
            </a:r>
            <a:endParaRPr/>
          </a:p>
        </p:txBody>
      </p:sp>
      <p:sp>
        <p:nvSpPr>
          <p:cNvPr id="93" name=""/>
          <p:cNvSpPr/>
          <p:nvPr/>
        </p:nvSpPr>
        <p:spPr>
          <a:xfrm rot="0" flipH="0" flipV="0">
            <a:off x="838200" y="3076575"/>
            <a:ext cx="419100" cy="28575"/>
          </a:xfrm>
          <a:prstGeom prst="roundRect">
            <a:avLst>
              <a:gd name="adj" fmla="val 66667"/>
            </a:avLst>
          </a:prstGeom>
          <a:solidFill>
            <a:srgbClr val="AFC440"/>
          </a:solidFill>
          <a:ln/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838200" y="3219450"/>
            <a:ext cx="2162175" cy="20478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Jadwal baru tampil setelah korlas atau admin sekolah mengumumkannya. Kalau hari itu belum muncul, berarti belum diumumkan — bukan hilang.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838200" y="5295900"/>
            <a:ext cx="2162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Sabar menunggu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3400425" y="1314450"/>
            <a:ext cx="2609850" cy="4476750"/>
          </a:xfrm>
          <a:prstGeom prst="roundRect">
            <a:avLst>
              <a:gd name="adj" fmla="val 58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7" name=""/>
          <p:cNvSpPr/>
          <p:nvPr/>
        </p:nvSpPr>
        <p:spPr>
          <a:xfrm rot="0" flipH="0" flipV="0">
            <a:off x="3400425" y="1314450"/>
            <a:ext cx="2609850" cy="4476750"/>
          </a:xfrm>
          <a:custGeom>
            <a:pathLst>
              <a:path w="274" h="470">
                <a:moveTo>
                  <a:pt x="259" y="0"/>
                </a:moveTo>
                <a:cubicBezTo>
                  <a:pt x="266" y="0"/>
                  <a:pt x="273" y="6"/>
                  <a:pt x="274" y="14"/>
                </a:cubicBezTo>
                <a:cubicBezTo>
                  <a:pt x="273" y="10"/>
                  <a:pt x="270" y="8"/>
                  <a:pt x="266" y="8"/>
                </a:cubicBezTo>
                <a:lnTo>
                  <a:pt x="8" y="8"/>
                </a:lnTo>
                <a:cubicBezTo>
                  <a:pt x="4" y="8"/>
                  <a:pt x="1" y="11"/>
                  <a:pt x="0" y="14"/>
                </a:cubicBezTo>
                <a:cubicBezTo>
                  <a:pt x="1" y="6"/>
                  <a:pt x="8" y="0"/>
                  <a:pt x="16" y="0"/>
                </a:cubicBezTo>
                <a:lnTo>
                  <a:pt x="258" y="0"/>
                </a:ln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98" name=""/>
          <p:cNvSpPr/>
          <p:nvPr/>
        </p:nvSpPr>
        <p:spPr>
          <a:xfrm rot="0" flipH="0" flipV="0">
            <a:off x="3629025" y="15430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/>
        </p:txBody>
      </p:sp>
      <p:pic>
        <p:nvPicPr>
          <p:cNvPr id="99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71900" y="1685925"/>
            <a:ext cx="285750" cy="285750"/>
          </a:xfrm>
          <a:prstGeom prst="rect">
            <a:avLst/>
          </a:prstGeom>
          <a:ln/>
        </p:spPr>
      </p:pic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3629025" y="2266950"/>
            <a:ext cx="2152650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2000"/>
              </a:lnSpc>
            </a:pPr>
            <a:r>
              <a:rPr lang="en-US" sz="1725" b="1">
                <a:solidFill>
                  <a:srgbClr val="51277C"/>
                </a:solidFill>
                <a:latin typeface="Trebuchet MS"/>
                <a:ea typeface="Trebuchet MS"/>
              </a:rPr>
              <a:t>Satu akun untuk beberapa anak</a:t>
            </a:r>
            <a:endParaRPr/>
          </a:p>
        </p:txBody>
      </p:sp>
      <p:sp>
        <p:nvSpPr>
          <p:cNvPr id="101" name=""/>
          <p:cNvSpPr/>
          <p:nvPr/>
        </p:nvSpPr>
        <p:spPr>
          <a:xfrm rot="0" flipH="0" flipV="0">
            <a:off x="3629025" y="3076575"/>
            <a:ext cx="419100" cy="28575"/>
          </a:xfrm>
          <a:prstGeom prst="roundRect">
            <a:avLst>
              <a:gd name="adj" fmla="val 66667"/>
            </a:avLst>
          </a:prstGeom>
          <a:solidFill>
            <a:srgbClr val="AFC440"/>
          </a:solidFill>
          <a:ln/>
        </p:spPr>
        <p:txBody>
          <a:bodyPr/>
          <a:p/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3629025" y="3219450"/>
            <a:ext cx="2152650" cy="1457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Punya dua anak di kelas berbeda tidak perlu akun tambahan. Pilih kelasnya di bagian atas layar, jadwalnya ikut berganti.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3629025" y="5295900"/>
            <a:ext cx="2152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Tidak perlu daftar ulang</a:t>
            </a:r>
            <a:endParaRPr/>
          </a:p>
        </p:txBody>
      </p:sp>
      <p:sp>
        <p:nvSpPr>
          <p:cNvPr id="104" name=""/>
          <p:cNvSpPr/>
          <p:nvPr/>
        </p:nvSpPr>
        <p:spPr>
          <a:xfrm rot="0" flipH="0" flipV="0">
            <a:off x="6181725" y="1314450"/>
            <a:ext cx="2619375" cy="44767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5" name=""/>
          <p:cNvSpPr/>
          <p:nvPr/>
        </p:nvSpPr>
        <p:spPr>
          <a:xfrm rot="0" flipH="0" flipV="0">
            <a:off x="6181725" y="1314450"/>
            <a:ext cx="2619375" cy="4476750"/>
          </a:xfrm>
          <a:custGeom>
            <a:pathLst>
              <a:path w="275" h="470">
                <a:moveTo>
                  <a:pt x="260" y="0"/>
                </a:moveTo>
                <a:cubicBezTo>
                  <a:pt x="267" y="0"/>
                  <a:pt x="274" y="6"/>
                  <a:pt x="275" y="14"/>
                </a:cubicBezTo>
                <a:cubicBezTo>
                  <a:pt x="274" y="10"/>
                  <a:pt x="271" y="8"/>
                  <a:pt x="267" y="8"/>
                </a:cubicBezTo>
                <a:lnTo>
                  <a:pt x="8" y="8"/>
                </a:lnTo>
                <a:cubicBezTo>
                  <a:pt x="4" y="8"/>
                  <a:pt x="1" y="11"/>
                  <a:pt x="0" y="14"/>
                </a:cubicBezTo>
                <a:cubicBezTo>
                  <a:pt x="1" y="6"/>
                  <a:pt x="8" y="0"/>
                  <a:pt x="16" y="0"/>
                </a:cubicBezTo>
                <a:lnTo>
                  <a:pt x="259" y="0"/>
                </a:ln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106" name=""/>
          <p:cNvSpPr/>
          <p:nvPr/>
        </p:nvSpPr>
        <p:spPr>
          <a:xfrm rot="0" flipH="0" flipV="0">
            <a:off x="6410325" y="15430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/>
        </p:txBody>
      </p:sp>
      <p:pic>
        <p:nvPicPr>
          <p:cNvPr id="107" name="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553200" y="1685925"/>
            <a:ext cx="285750" cy="285750"/>
          </a:xfrm>
          <a:prstGeom prst="rect">
            <a:avLst/>
          </a:prstGeom>
          <a:ln/>
        </p:spPr>
      </p:pic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6410325" y="2266950"/>
            <a:ext cx="2162175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2000"/>
              </a:lnSpc>
            </a:pPr>
            <a:r>
              <a:rPr lang="en-US" sz="1725" b="1">
                <a:solidFill>
                  <a:srgbClr val="51277C"/>
                </a:solidFill>
                <a:latin typeface="Trebuchet MS"/>
                <a:ea typeface="Trebuchet MS"/>
              </a:rPr>
              <a:t>Ambil tanggal di kelas anak sendiri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6410325" y="3076575"/>
            <a:ext cx="419100" cy="28575"/>
          </a:xfrm>
          <a:prstGeom prst="roundRect">
            <a:avLst>
              <a:gd name="adj" fmla="val 66667"/>
            </a:avLst>
          </a:prstGeom>
          <a:solidFill>
            <a:srgbClr val="AFC440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6410325" y="3219450"/>
            <a:ext cx="2162175" cy="1752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Setiap kelas punya barisnya sendiri. Ambil tanggal di kelas lain tidak bisa, dan yang sudah ditentukan korlas tidak ikut direbutkan.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6410325" y="5295900"/>
            <a:ext cx="2162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Adil per kelas</a:t>
            </a:r>
            <a:endParaRPr/>
          </a:p>
        </p:txBody>
      </p:sp>
      <p:sp>
        <p:nvSpPr>
          <p:cNvPr id="112" name=""/>
          <p:cNvSpPr/>
          <p:nvPr/>
        </p:nvSpPr>
        <p:spPr>
          <a:xfrm rot="0" flipH="0" flipV="0">
            <a:off x="8972550" y="1314450"/>
            <a:ext cx="2609850" cy="4476750"/>
          </a:xfrm>
          <a:prstGeom prst="roundRect">
            <a:avLst>
              <a:gd name="adj" fmla="val 58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3" name=""/>
          <p:cNvSpPr/>
          <p:nvPr/>
        </p:nvSpPr>
        <p:spPr>
          <a:xfrm rot="0" flipH="0" flipV="0">
            <a:off x="8972550" y="1314450"/>
            <a:ext cx="2609850" cy="4476750"/>
          </a:xfrm>
          <a:custGeom>
            <a:pathLst>
              <a:path w="274" h="470">
                <a:moveTo>
                  <a:pt x="259" y="0"/>
                </a:moveTo>
                <a:cubicBezTo>
                  <a:pt x="266" y="0"/>
                  <a:pt x="273" y="6"/>
                  <a:pt x="274" y="14"/>
                </a:cubicBezTo>
                <a:cubicBezTo>
                  <a:pt x="273" y="10"/>
                  <a:pt x="270" y="8"/>
                  <a:pt x="266" y="8"/>
                </a:cubicBezTo>
                <a:lnTo>
                  <a:pt x="8" y="8"/>
                </a:lnTo>
                <a:cubicBezTo>
                  <a:pt x="4" y="8"/>
                  <a:pt x="1" y="11"/>
                  <a:pt x="0" y="14"/>
                </a:cubicBezTo>
                <a:cubicBezTo>
                  <a:pt x="1" y="6"/>
                  <a:pt x="8" y="0"/>
                  <a:pt x="16" y="0"/>
                </a:cubicBezTo>
                <a:lnTo>
                  <a:pt x="258" y="0"/>
                </a:ln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114" name=""/>
          <p:cNvSpPr/>
          <p:nvPr/>
        </p:nvSpPr>
        <p:spPr>
          <a:xfrm rot="0" flipH="0" flipV="0">
            <a:off x="9201150" y="15430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/>
        </p:txBody>
      </p:sp>
      <p:pic>
        <p:nvPicPr>
          <p:cNvPr id="115" name="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344025" y="1685925"/>
            <a:ext cx="285750" cy="285750"/>
          </a:xfrm>
          <a:prstGeom prst="rect">
            <a:avLst/>
          </a:prstGeom>
          <a:ln/>
        </p:spPr>
      </p:pic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9201150" y="2266950"/>
            <a:ext cx="2152650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2000"/>
              </a:lnSpc>
            </a:pPr>
            <a:r>
              <a:rPr lang="en-US" sz="1725" b="1">
                <a:solidFill>
                  <a:srgbClr val="51277C"/>
                </a:solidFill>
                <a:latin typeface="Trebuchet MS"/>
                <a:ea typeface="Trebuchet MS"/>
              </a:rPr>
              <a:t>Perubahan lewat korlas kelas</a:t>
            </a:r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9201150" y="3076575"/>
            <a:ext cx="419100" cy="28575"/>
          </a:xfrm>
          <a:prstGeom prst="roundRect">
            <a:avLst>
              <a:gd name="adj" fmla="val 66667"/>
            </a:avLst>
          </a:prstGeom>
          <a:solidFill>
            <a:srgbClr val="AFC440"/>
          </a:solidFill>
          <a:ln/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9201150" y="3219450"/>
            <a:ext cx="2152650" cy="20478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Jadwal yang sudah diumumkan tidak bisa diubah sendiri. Sampaikan ke korlas kelas atau admin sekolah bila ada keperluan mendadak.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9201150" y="5295900"/>
            <a:ext cx="2152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Jangan diubah sendiri</a:t>
            </a:r>
            <a:endParaRPr/>
          </a:p>
        </p:txBody>
      </p:sp>
      <p:sp>
        <p:nvSpPr>
          <p:cNvPr id="120" name=""/>
          <p:cNvSpPr/>
          <p:nvPr/>
        </p:nvSpPr>
        <p:spPr>
          <a:xfrm rot="0" flipH="0" flipV="0">
            <a:off x="609600" y="5848350"/>
            <a:ext cx="10972800" cy="438150"/>
          </a:xfrm>
          <a:prstGeom prst="roundRect">
            <a:avLst>
              <a:gd name="adj" fmla="val 30435"/>
            </a:avLst>
          </a:prstGeom>
          <a:solidFill>
            <a:srgbClr val="51277C"/>
          </a:solidFill>
          <a:ln/>
        </p:spPr>
        <p:txBody>
          <a:bodyPr/>
          <a:p/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1600200" y="5962650"/>
            <a:ext cx="90011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Verdana"/>
                <a:ea typeface="Verdana"/>
              </a:rPr>
              <a:t>Intinya: satu akun, satu aplikasi, dan semua perubahan disampaikan lewat korlas kelas.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562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Orang Tua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14 / 15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2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3619500" y="857250"/>
            <a:ext cx="4953000" cy="49530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51277C">
                  <a:alpha val="10000"/>
                </a:srgbClr>
              </a:gs>
              <a:gs pos="100000">
                <a:srgbClr val="7A45A8">
                  <a:alpha val="10000"/>
                </a:srgbClr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127" name=""/>
          <p:cNvSpPr/>
          <p:nvPr/>
        </p:nvSpPr>
        <p:spPr>
          <a:xfrm rot="0" flipH="0" flipV="0">
            <a:off x="-762000" y="4572000"/>
            <a:ext cx="3048000" cy="3048000"/>
          </a:xfrm>
          <a:custGeom>
            <a:pathLst>
              <a:path w="320" h="320">
                <a:moveTo>
                  <a:pt x="164" y="0"/>
                </a:moveTo>
                <a:cubicBezTo>
                  <a:pt x="221" y="2"/>
                  <a:pt x="272" y="33"/>
                  <a:pt x="300" y="82"/>
                </a:cubicBezTo>
                <a:cubicBezTo>
                  <a:pt x="327" y="131"/>
                  <a:pt x="327" y="191"/>
                  <a:pt x="299" y="240"/>
                </a:cubicBezTo>
                <a:lnTo>
                  <a:pt x="80" y="240"/>
                </a:lnTo>
                <a:lnTo>
                  <a:pt x="80" y="21"/>
                </a:lnTo>
                <a:cubicBezTo>
                  <a:pt x="104" y="7"/>
                  <a:pt x="132" y="0"/>
                  <a:pt x="160" y="0"/>
                </a:cubicBezTo>
                <a:close/>
              </a:path>
            </a:pathLst>
          </a:custGeom>
          <a:gradFill>
            <a:gsLst>
              <a:gs pos="0">
                <a:srgbClr val="AFC440">
                  <a:alpha val="18000"/>
                </a:srgbClr>
              </a:gs>
              <a:gs pos="100000">
                <a:srgbClr val="F3B26C">
                  <a:alpha val="18000"/>
                </a:srgbClr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pic>
        <p:nvPicPr>
          <p:cNvPr id="128" name=""/>
          <p:cNvPicPr>
            <a:picLocks noChangeAspect="1"/>
          </p:cNvPicPr>
          <p:nvPr/>
        </p:nvPicPr>
        <p:blipFill>
          <a:blip r:embed="rId1"/>
          <a:srcRect l="0" t="52" r="0" b="52"/>
          <a:stretch>
            <a:fillRect/>
          </a:stretch>
        </p:blipFill>
        <p:spPr>
          <a:xfrm rot="0" flipH="0" flipV="0">
            <a:off x="5143500" y="981075"/>
            <a:ext cx="1905000" cy="1847850"/>
          </a:xfrm>
          <a:prstGeom prst="rect">
            <a:avLst/>
          </a:prstGeom>
          <a:ln/>
        </p:spPr>
      </p:pic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4419600" y="3076575"/>
            <a:ext cx="3352800" cy="7905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51277C"/>
                </a:solidFill>
                <a:latin typeface="Trebuchet MS"/>
                <a:ea typeface="Trebuchet MS"/>
              </a:rPr>
              <a:t>Terima kasih</a:t>
            </a:r>
            <a:endParaRPr/>
          </a:p>
        </p:txBody>
      </p:sp>
      <p:sp>
        <p:nvSpPr>
          <p:cNvPr id="130" name=""/>
          <p:cNvSpPr/>
          <p:nvPr/>
        </p:nvSpPr>
        <p:spPr>
          <a:xfrm rot="0" flipH="0" flipV="0">
            <a:off x="5638800" y="4038600"/>
            <a:ext cx="914400" cy="66675"/>
          </a:xfrm>
          <a:prstGeom prst="roundRect">
            <a:avLst>
              <a:gd name="adj" fmla="val 57143"/>
            </a:avLst>
          </a:pr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4133850" y="4314825"/>
            <a:ext cx="3933825" cy="38100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650">
                <a:solidFill>
                  <a:srgbClr val="2A2333"/>
                </a:solidFill>
                <a:latin typeface="Verdana"/>
                <a:ea typeface="Verdana"/>
              </a:rPr>
              <a:t>Mari pasang aplikasinya hari ini juga.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2905125" y="4829175"/>
            <a:ext cx="6381750" cy="33337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425">
                <a:solidFill>
                  <a:srgbClr val="6B6478"/>
                </a:solidFill>
                <a:latin typeface="Verdana"/>
                <a:ea typeface="Verdana"/>
              </a:rPr>
              <a:t>Ada pertanyaan? Sampaikan kepada korlas kelas atau admin sekolah.</a:t>
            </a:r>
            <a:endParaRPr/>
          </a:p>
        </p:txBody>
      </p:sp>
      <p:sp>
        <p:nvSpPr>
          <p:cNvPr id="133" name=""/>
          <p:cNvSpPr/>
          <p:nvPr/>
        </p:nvSpPr>
        <p:spPr>
          <a:xfrm rot="0" flipH="0" flipV="0">
            <a:off x="4962525" y="5410200"/>
            <a:ext cx="2276475" cy="466725"/>
          </a:xfrm>
          <a:prstGeom prst="roundRect">
            <a:avLst>
              <a:gd name="adj" fmla="val 2038776"/>
            </a:avLst>
          </a:pr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34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229225" y="5543550"/>
            <a:ext cx="209550" cy="209550"/>
          </a:xfrm>
          <a:prstGeom prst="rect">
            <a:avLst/>
          </a:prstGeom>
          <a:ln/>
        </p:spPr>
      </p:pic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5553075" y="5534025"/>
            <a:ext cx="14001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51277C"/>
                </a:solidFill>
                <a:latin typeface="Trebuchet MS"/>
                <a:ea typeface="Trebuchet MS"/>
              </a:rPr>
              <a:t>Pizza Snack Play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2026-09-28T20:23:36Z</dcterms:created>
  <dcterms:modified xsi:type="dcterms:W3CDTF">2026-09-28T20:23:36Z</dcterms:modified>
</cp:coreProperties>
</file>